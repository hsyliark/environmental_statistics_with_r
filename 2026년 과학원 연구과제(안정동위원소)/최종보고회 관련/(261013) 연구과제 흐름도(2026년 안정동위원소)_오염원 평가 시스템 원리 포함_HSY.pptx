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1" r:id="rId2"/>
    <p:sldId id="262" r:id="rId3"/>
    <p:sldId id="259" r:id="rId4"/>
    <p:sldId id="263" r:id="rId5"/>
    <p:sldId id="264" r:id="rId6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9" autoAdjust="0"/>
    <p:restoredTop sz="96641" autoAdjust="0"/>
  </p:normalViewPr>
  <p:slideViewPr>
    <p:cSldViewPr snapToGrid="0">
      <p:cViewPr varScale="1">
        <p:scale>
          <a:sx n="119" d="100"/>
          <a:sy n="119" d="100"/>
        </p:scale>
        <p:origin x="564" y="20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301511-0405-4F3C-9CC7-59D2DC217B90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D5D940-19D0-49D9-BB22-39878D7205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130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emf"/><Relationship Id="rId4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1160-8C05-4B15-8E89-7C1E92CC246B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5EF4-DCB1-423D-BC86-01AA450A9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5106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1160-8C05-4B15-8E89-7C1E92CC246B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5EF4-DCB1-423D-BC86-01AA450A9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2729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1160-8C05-4B15-8E89-7C1E92CC246B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5EF4-DCB1-423D-BC86-01AA450A9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544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1160-8C05-4B15-8E89-7C1E92CC246B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5EF4-DCB1-423D-BC86-01AA450A9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2654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1160-8C05-4B15-8E89-7C1E92CC246B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5EF4-DCB1-423D-BC86-01AA450A9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7535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1160-8C05-4B15-8E89-7C1E92CC246B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5EF4-DCB1-423D-BC86-01AA450A9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4469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1160-8C05-4B15-8E89-7C1E92CC246B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5EF4-DCB1-423D-BC86-01AA450A9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9949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1160-8C05-4B15-8E89-7C1E92CC246B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5EF4-DCB1-423D-BC86-01AA450A9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2330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1160-8C05-4B15-8E89-7C1E92CC246B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5EF4-DCB1-423D-BC86-01AA450A9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9505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1160-8C05-4B15-8E89-7C1E92CC246B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5EF4-DCB1-423D-BC86-01AA450A9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272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1160-8C05-4B15-8E89-7C1E92CC246B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5EF4-DCB1-423D-BC86-01AA450A9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388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30583" y="6237696"/>
            <a:ext cx="2743200" cy="365125"/>
          </a:xfrm>
          <a:prstGeom prst="rect">
            <a:avLst/>
          </a:prstGeom>
        </p:spPr>
        <p:txBody>
          <a:bodyPr/>
          <a:lstStyle/>
          <a:p>
            <a:fld id="{CF861DB1-7CD0-4EAD-ACA9-006A4A6740D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 hasCustomPrompt="1"/>
          </p:nvPr>
        </p:nvSpPr>
        <p:spPr>
          <a:xfrm>
            <a:off x="519113" y="1400175"/>
            <a:ext cx="11161712" cy="4687888"/>
          </a:xfrm>
          <a:prstGeom prst="rect">
            <a:avLst/>
          </a:prstGeom>
        </p:spPr>
        <p:txBody>
          <a:bodyPr/>
          <a:lstStyle>
            <a:lvl1pPr marL="228600" indent="-228600">
              <a:buClrTx/>
              <a:buFont typeface="Wingdings" panose="05000000000000000000" pitchFamily="2" charset="2"/>
              <a:buChar char="l"/>
              <a:defRPr>
                <a:latin typeface="고양덕양 B" pitchFamily="2" charset="-127"/>
                <a:ea typeface="고양덕양 B" pitchFamily="2" charset="-127"/>
              </a:defRPr>
            </a:lvl1pPr>
            <a:lvl2pPr marL="685800" indent="-228600">
              <a:buFont typeface="Gill Sans MT" panose="020B0502020104020203" pitchFamily="34" charset="0"/>
              <a:buChar char="–"/>
              <a:defRPr>
                <a:latin typeface="고양덕양 B" pitchFamily="2" charset="-127"/>
                <a:ea typeface="고양덕양 B" pitchFamily="2" charset="-127"/>
              </a:defRPr>
            </a:lvl2pPr>
            <a:lvl3pPr>
              <a:defRPr>
                <a:latin typeface="고양덕양 B" pitchFamily="2" charset="-127"/>
                <a:ea typeface="고양덕양 B" pitchFamily="2" charset="-127"/>
              </a:defRPr>
            </a:lvl3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7583B1C-0A43-4C46-B983-505CCAE492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duotone>
              <a:prstClr val="black"/>
              <a:srgbClr val="9BBB59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t="1569" b="49216"/>
          <a:stretch/>
        </p:blipFill>
        <p:spPr>
          <a:xfrm>
            <a:off x="1" y="0"/>
            <a:ext cx="12191999" cy="600331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D338B28A-97DF-C745-8816-C1FDE713462C}"/>
              </a:ext>
            </a:extLst>
          </p:cNvPr>
          <p:cNvSpPr/>
          <p:nvPr userDrawn="1"/>
        </p:nvSpPr>
        <p:spPr>
          <a:xfrm>
            <a:off x="0" y="600331"/>
            <a:ext cx="12192000" cy="4571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" name="제목 1"/>
          <p:cNvSpPr>
            <a:spLocks noGrp="1"/>
          </p:cNvSpPr>
          <p:nvPr>
            <p:ph type="title"/>
          </p:nvPr>
        </p:nvSpPr>
        <p:spPr>
          <a:xfrm>
            <a:off x="1100832" y="76524"/>
            <a:ext cx="9994557" cy="676867"/>
          </a:xfrm>
          <a:prstGeom prst="rect">
            <a:avLst/>
          </a:prstGeom>
        </p:spPr>
        <p:txBody>
          <a:bodyPr/>
          <a:lstStyle>
            <a:lvl1pPr>
              <a:defRPr sz="3000" baseline="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8425ABE7-A16A-824D-B06C-CEFB4D1FA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20087675">
            <a:off x="269928" y="26353"/>
            <a:ext cx="693503" cy="78116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24" name="그룹 23"/>
          <p:cNvGrpSpPr>
            <a:grpSpLocks noChangeAspect="1"/>
          </p:cNvGrpSpPr>
          <p:nvPr userDrawn="1"/>
        </p:nvGrpSpPr>
        <p:grpSpPr>
          <a:xfrm>
            <a:off x="9745900" y="24691"/>
            <a:ext cx="2460615" cy="521919"/>
            <a:chOff x="2261630" y="1618848"/>
            <a:chExt cx="2964595" cy="628818"/>
          </a:xfrm>
        </p:grpSpPr>
        <p:pic>
          <p:nvPicPr>
            <p:cNvPr id="25" name="Picture 45">
              <a:extLst>
                <a:ext uri="{FF2B5EF4-FFF2-40B4-BE49-F238E27FC236}">
                  <a16:creationId xmlns:a16="http://schemas.microsoft.com/office/drawing/2014/main" id="{37AF8506-181C-B54B-8F3B-DF4C2B31D69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261630" y="1707006"/>
              <a:ext cx="2821871" cy="540660"/>
            </a:xfrm>
            <a:prstGeom prst="rect">
              <a:avLst/>
            </a:prstGeom>
          </p:spPr>
        </p:pic>
        <p:sp>
          <p:nvSpPr>
            <p:cNvPr id="26" name="TextBox 25"/>
            <p:cNvSpPr txBox="1"/>
            <p:nvPr/>
          </p:nvSpPr>
          <p:spPr>
            <a:xfrm>
              <a:off x="4355977" y="1618848"/>
              <a:ext cx="870248" cy="3337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i="1" baseline="0" dirty="0">
                  <a:solidFill>
                    <a:srgbClr val="4472C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+Pride </a:t>
              </a:r>
              <a:endParaRPr lang="ko-KR" altLang="en-US" sz="1200" b="1" i="1" baseline="0" dirty="0">
                <a:solidFill>
                  <a:srgbClr val="4472C4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90758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171160-8C05-4B15-8E89-7C1E92CC246B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4E5EF4-DCB1-423D-BC86-01AA450A9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0081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5" Type="http://schemas.openxmlformats.org/officeDocument/2006/relationships/image" Target="../media/image7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7B06D27-EE42-AFDF-ED4A-D7AF291FE5B1}"/>
              </a:ext>
            </a:extLst>
          </p:cNvPr>
          <p:cNvSpPr txBox="1"/>
          <p:nvPr/>
        </p:nvSpPr>
        <p:spPr>
          <a:xfrm>
            <a:off x="-70314" y="26884"/>
            <a:ext cx="110530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안정동위원소 결합 오염평가 체계 고도화를 위한 국가 수질측정망 적용 연구</a:t>
            </a:r>
          </a:p>
        </p:txBody>
      </p:sp>
      <p:sp>
        <p:nvSpPr>
          <p:cNvPr id="7" name="모서리가 둥근 직사각형 4">
            <a:extLst>
              <a:ext uri="{FF2B5EF4-FFF2-40B4-BE49-F238E27FC236}">
                <a16:creationId xmlns:a16="http://schemas.microsoft.com/office/drawing/2014/main" id="{25AA0834-9862-7E81-DEB9-8131FFE1A7D7}"/>
              </a:ext>
            </a:extLst>
          </p:cNvPr>
          <p:cNvSpPr/>
          <p:nvPr/>
        </p:nvSpPr>
        <p:spPr>
          <a:xfrm>
            <a:off x="168442" y="826723"/>
            <a:ext cx="5245530" cy="163014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모서리가 둥근 직사각형 5">
            <a:extLst>
              <a:ext uri="{FF2B5EF4-FFF2-40B4-BE49-F238E27FC236}">
                <a16:creationId xmlns:a16="http://schemas.microsoft.com/office/drawing/2014/main" id="{F864FCD2-9023-7F68-C269-CE868DCBF9A9}"/>
              </a:ext>
            </a:extLst>
          </p:cNvPr>
          <p:cNvSpPr/>
          <p:nvPr/>
        </p:nvSpPr>
        <p:spPr>
          <a:xfrm>
            <a:off x="502092" y="665052"/>
            <a:ext cx="1688847" cy="339324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연구의 필요성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FAEBDA-8B1E-AE0B-83F9-EA6363290E25}"/>
              </a:ext>
            </a:extLst>
          </p:cNvPr>
          <p:cNvSpPr txBox="1"/>
          <p:nvPr/>
        </p:nvSpPr>
        <p:spPr>
          <a:xfrm>
            <a:off x="389175" y="1030050"/>
            <a:ext cx="50247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기후</a:t>
            </a:r>
            <a:r>
              <a:rPr lang="en-US" altLang="ko-KR" sz="1600" b="1" dirty="0"/>
              <a:t>/</a:t>
            </a:r>
            <a:r>
              <a:rPr lang="ko-KR" altLang="en-US" sz="1600" b="1" dirty="0"/>
              <a:t>토지이용 변화에 따른 비점오염원 특성 복잡화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6F6360-BDD5-E6BF-56EB-B19EE08049DD}"/>
              </a:ext>
            </a:extLst>
          </p:cNvPr>
          <p:cNvSpPr txBox="1"/>
          <p:nvPr/>
        </p:nvSpPr>
        <p:spPr>
          <a:xfrm>
            <a:off x="1314006" y="1368604"/>
            <a:ext cx="38539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/>
              <a:t>기존 농도 중심 평가</a:t>
            </a:r>
            <a:r>
              <a:rPr lang="en-US" altLang="ko-KR" sz="1400" b="1" dirty="0"/>
              <a:t>: </a:t>
            </a:r>
          </a:p>
          <a:p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☞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정밀한 </a:t>
            </a:r>
            <a:r>
              <a:rPr lang="ko-KR" altLang="en-US" sz="1400" b="1" dirty="0"/>
              <a:t>오염원 기원 및 기여도 규명에 한계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DC9680-DEE1-00B5-3759-FF46599A9960}"/>
              </a:ext>
            </a:extLst>
          </p:cNvPr>
          <p:cNvSpPr txBox="1"/>
          <p:nvPr/>
        </p:nvSpPr>
        <p:spPr>
          <a:xfrm>
            <a:off x="1314006" y="1897088"/>
            <a:ext cx="32528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/>
              <a:t>질소</a:t>
            </a:r>
            <a:r>
              <a:rPr lang="en-US" altLang="ko-KR" sz="1400" b="1" dirty="0"/>
              <a:t>(</a:t>
            </a:r>
            <a:r>
              <a:rPr lang="ko-KR" altLang="en-US" sz="1400" b="1" dirty="0"/>
              <a:t>담수 부영양화 </a:t>
            </a:r>
            <a:r>
              <a:rPr lang="en-US" altLang="ko-KR" sz="1400" b="1" dirty="0"/>
              <a:t>&amp; </a:t>
            </a:r>
            <a:r>
              <a:rPr lang="ko-KR" altLang="en-US" sz="1400" b="1" dirty="0"/>
              <a:t>조류 발생</a:t>
            </a:r>
            <a:r>
              <a:rPr lang="en-US" altLang="ko-KR" sz="1400" b="1" dirty="0"/>
              <a:t>): </a:t>
            </a:r>
          </a:p>
          <a:p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☞ </a:t>
            </a:r>
            <a:r>
              <a:rPr lang="ko-KR" altLang="en-US" sz="1400" b="1" dirty="0"/>
              <a:t>관련 오염원 정량적 평가 체계 미흡</a:t>
            </a: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0C0A3E71-0CC1-B740-A131-D315E5D0AA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408" y="1451538"/>
            <a:ext cx="792364" cy="398278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28DC3D1E-D6E5-B1A4-8375-6E3B9068CF9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117" y="1968666"/>
            <a:ext cx="790419" cy="369355"/>
          </a:xfrm>
          <a:prstGeom prst="rect">
            <a:avLst/>
          </a:prstGeom>
        </p:spPr>
      </p:pic>
      <p:sp>
        <p:nvSpPr>
          <p:cNvPr id="35" name="모서리가 둥근 직사각형 4">
            <a:extLst>
              <a:ext uri="{FF2B5EF4-FFF2-40B4-BE49-F238E27FC236}">
                <a16:creationId xmlns:a16="http://schemas.microsoft.com/office/drawing/2014/main" id="{F1E17719-543D-3C6F-41B0-AB78F3EB2A3E}"/>
              </a:ext>
            </a:extLst>
          </p:cNvPr>
          <p:cNvSpPr/>
          <p:nvPr/>
        </p:nvSpPr>
        <p:spPr>
          <a:xfrm>
            <a:off x="6830236" y="826722"/>
            <a:ext cx="5203995" cy="1630149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모서리가 둥근 직사각형 5">
            <a:extLst>
              <a:ext uri="{FF2B5EF4-FFF2-40B4-BE49-F238E27FC236}">
                <a16:creationId xmlns:a16="http://schemas.microsoft.com/office/drawing/2014/main" id="{23BF809B-DC08-16F8-74F5-282CBED89979}"/>
              </a:ext>
            </a:extLst>
          </p:cNvPr>
          <p:cNvSpPr/>
          <p:nvPr/>
        </p:nvSpPr>
        <p:spPr>
          <a:xfrm>
            <a:off x="7645240" y="665052"/>
            <a:ext cx="3012162" cy="339324"/>
          </a:xfrm>
          <a:prstGeom prst="round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1. </a:t>
            </a:r>
            <a:r>
              <a:rPr lang="ko-KR" altLang="en-US" b="1" dirty="0"/>
              <a:t>오염원 라이브러리 구축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61F753A-06EC-7093-6C43-B0ABCC3B076B}"/>
              </a:ext>
            </a:extLst>
          </p:cNvPr>
          <p:cNvSpPr txBox="1"/>
          <p:nvPr/>
        </p:nvSpPr>
        <p:spPr>
          <a:xfrm>
            <a:off x="9151321" y="1305647"/>
            <a:ext cx="27858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오염원별</a:t>
            </a:r>
            <a:r>
              <a:rPr lang="en-US" altLang="ko-KR" sz="1200" b="1" dirty="0"/>
              <a:t>(</a:t>
            </a:r>
            <a:r>
              <a:rPr lang="ko-KR" altLang="en-US" sz="1200" b="1" dirty="0"/>
              <a:t>토양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화학비료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하수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분뇨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강우</a:t>
            </a:r>
            <a:r>
              <a:rPr lang="en-US" altLang="ko-KR" sz="1200" b="1" dirty="0"/>
              <a:t>)</a:t>
            </a:r>
            <a:r>
              <a:rPr lang="ko-KR" altLang="en-US" sz="1200" b="1" dirty="0"/>
              <a:t> </a:t>
            </a:r>
            <a:r>
              <a:rPr lang="ko-KR" altLang="en-US" sz="1400" b="1" dirty="0"/>
              <a:t>질산염 </a:t>
            </a:r>
            <a:r>
              <a:rPr lang="ko-KR" altLang="en-US" sz="1400" b="1"/>
              <a:t>안정동위원소비 </a:t>
            </a:r>
            <a:endParaRPr lang="en-US" altLang="ko-KR" sz="1400" b="1"/>
          </a:p>
          <a:p>
            <a:r>
              <a:rPr lang="ko-KR" altLang="en-US" sz="1400" b="1"/>
              <a:t>대푯값 </a:t>
            </a:r>
            <a:r>
              <a:rPr lang="ko-KR" altLang="en-US" sz="1400" b="1" dirty="0"/>
              <a:t>결정</a:t>
            </a:r>
          </a:p>
        </p:txBody>
      </p:sp>
      <p:sp>
        <p:nvSpPr>
          <p:cNvPr id="48" name="모서리가 둥근 직사각형 4">
            <a:extLst>
              <a:ext uri="{FF2B5EF4-FFF2-40B4-BE49-F238E27FC236}">
                <a16:creationId xmlns:a16="http://schemas.microsoft.com/office/drawing/2014/main" id="{2CB2CAE5-99DE-01C1-F67D-D13292A2CADE}"/>
              </a:ext>
            </a:extLst>
          </p:cNvPr>
          <p:cNvSpPr/>
          <p:nvPr/>
        </p:nvSpPr>
        <p:spPr>
          <a:xfrm>
            <a:off x="168443" y="2789506"/>
            <a:ext cx="3776804" cy="3828577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모서리가 둥근 직사각형 5">
            <a:extLst>
              <a:ext uri="{FF2B5EF4-FFF2-40B4-BE49-F238E27FC236}">
                <a16:creationId xmlns:a16="http://schemas.microsoft.com/office/drawing/2014/main" id="{1EB431DC-147A-5847-B854-7FDEAA75BF45}"/>
              </a:ext>
            </a:extLst>
          </p:cNvPr>
          <p:cNvSpPr/>
          <p:nvPr/>
        </p:nvSpPr>
        <p:spPr>
          <a:xfrm>
            <a:off x="502092" y="2681001"/>
            <a:ext cx="3012162" cy="339324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2. </a:t>
            </a:r>
            <a:r>
              <a:rPr lang="ko-KR" altLang="en-US" b="1" dirty="0"/>
              <a:t>시료 </a:t>
            </a:r>
            <a:r>
              <a:rPr lang="ko-KR" altLang="en-US" b="1" dirty="0" err="1"/>
              <a:t>채수</a:t>
            </a:r>
            <a:r>
              <a:rPr lang="ko-KR" altLang="en-US" b="1" dirty="0"/>
              <a:t> 및 분석</a:t>
            </a:r>
          </a:p>
        </p:txBody>
      </p:sp>
      <p:sp>
        <p:nvSpPr>
          <p:cNvPr id="52" name="화살표: 오른쪽 51">
            <a:extLst>
              <a:ext uri="{FF2B5EF4-FFF2-40B4-BE49-F238E27FC236}">
                <a16:creationId xmlns:a16="http://schemas.microsoft.com/office/drawing/2014/main" id="{7F4C5A18-7EDE-F538-B2AD-95CA39A29260}"/>
              </a:ext>
            </a:extLst>
          </p:cNvPr>
          <p:cNvSpPr/>
          <p:nvPr/>
        </p:nvSpPr>
        <p:spPr>
          <a:xfrm rot="9542490">
            <a:off x="3506582" y="2239549"/>
            <a:ext cx="3544842" cy="259567"/>
          </a:xfrm>
          <a:prstGeom prst="right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5A85CE2-2AE7-B4AB-6BA2-035F64519A1A}"/>
              </a:ext>
            </a:extLst>
          </p:cNvPr>
          <p:cNvSpPr txBox="1"/>
          <p:nvPr/>
        </p:nvSpPr>
        <p:spPr>
          <a:xfrm>
            <a:off x="273465" y="5323391"/>
            <a:ext cx="36789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- </a:t>
            </a:r>
            <a:r>
              <a:rPr lang="ko-KR" altLang="en-US" sz="1400" b="1" dirty="0"/>
              <a:t>오염원 주변 지류 및 본류의 혼합지점에서 시료 </a:t>
            </a:r>
            <a:r>
              <a:rPr lang="ko-KR" altLang="en-US" sz="1400" b="1" dirty="0" err="1"/>
              <a:t>채수</a:t>
            </a:r>
            <a:r>
              <a:rPr lang="ko-KR" altLang="en-US" sz="1400" b="1" dirty="0"/>
              <a:t> 및 안정동위원소비 분석</a:t>
            </a:r>
            <a:endParaRPr lang="en-US" altLang="ko-KR" sz="1400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5693247-B7C5-F725-A64F-9ADCB75E9C95}"/>
              </a:ext>
            </a:extLst>
          </p:cNvPr>
          <p:cNvSpPr txBox="1"/>
          <p:nvPr/>
        </p:nvSpPr>
        <p:spPr>
          <a:xfrm>
            <a:off x="597014" y="5846611"/>
            <a:ext cx="29196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- </a:t>
            </a:r>
            <a:r>
              <a:rPr lang="ko-KR" altLang="en-US" sz="1400" b="1" dirty="0"/>
              <a:t>국가 수질측정망 지점의 수질 및 안정동위원소비 </a:t>
            </a:r>
            <a:r>
              <a:rPr lang="ko-KR" altLang="en-US" sz="1400" b="1" dirty="0" err="1"/>
              <a:t>고빈도</a:t>
            </a:r>
            <a:r>
              <a:rPr lang="ko-KR" altLang="en-US" sz="1400" b="1" dirty="0"/>
              <a:t> 모니터링</a:t>
            </a:r>
            <a:r>
              <a:rPr lang="en-US" altLang="ko-KR" sz="1200" b="1" dirty="0"/>
              <a:t>(1</a:t>
            </a:r>
            <a:r>
              <a:rPr lang="ko-KR" altLang="en-US" sz="1200" b="1" dirty="0"/>
              <a:t>회</a:t>
            </a:r>
            <a:r>
              <a:rPr lang="en-US" altLang="ko-KR" sz="1200" b="1" dirty="0"/>
              <a:t>/</a:t>
            </a:r>
            <a:r>
              <a:rPr lang="ko-KR" altLang="en-US" sz="1200" b="1" dirty="0"/>
              <a:t>주</a:t>
            </a:r>
            <a:r>
              <a:rPr lang="en-US" altLang="ko-KR" sz="1200" b="1" dirty="0"/>
              <a:t>)</a:t>
            </a:r>
          </a:p>
        </p:txBody>
      </p:sp>
      <p:sp>
        <p:nvSpPr>
          <p:cNvPr id="68" name="모서리가 둥근 직사각형 4">
            <a:extLst>
              <a:ext uri="{FF2B5EF4-FFF2-40B4-BE49-F238E27FC236}">
                <a16:creationId xmlns:a16="http://schemas.microsoft.com/office/drawing/2014/main" id="{0020A303-81E3-D843-F7E5-1AD50A65C7D9}"/>
              </a:ext>
            </a:extLst>
          </p:cNvPr>
          <p:cNvSpPr/>
          <p:nvPr/>
        </p:nvSpPr>
        <p:spPr>
          <a:xfrm>
            <a:off x="4051474" y="2862723"/>
            <a:ext cx="4102813" cy="3772466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모서리가 둥근 직사각형 5">
            <a:extLst>
              <a:ext uri="{FF2B5EF4-FFF2-40B4-BE49-F238E27FC236}">
                <a16:creationId xmlns:a16="http://schemas.microsoft.com/office/drawing/2014/main" id="{C4491E74-0B7C-E52F-A5B6-6D164479FDCE}"/>
              </a:ext>
            </a:extLst>
          </p:cNvPr>
          <p:cNvSpPr/>
          <p:nvPr/>
        </p:nvSpPr>
        <p:spPr>
          <a:xfrm>
            <a:off x="4472857" y="2731703"/>
            <a:ext cx="3260045" cy="339324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3. </a:t>
            </a:r>
            <a:r>
              <a:rPr lang="ko-KR" altLang="en-US" b="1" dirty="0"/>
              <a:t>신속한 원인진단</a:t>
            </a:r>
            <a:r>
              <a:rPr lang="en-US" altLang="ko-KR" sz="1600" b="1" dirty="0"/>
              <a:t>(</a:t>
            </a:r>
            <a:r>
              <a:rPr lang="ko-KR" altLang="en-US" sz="1600" b="1" dirty="0"/>
              <a:t>정성적</a:t>
            </a:r>
            <a:r>
              <a:rPr lang="en-US" altLang="ko-KR" sz="1600" b="1" dirty="0"/>
              <a:t>)</a:t>
            </a:r>
            <a:endParaRPr lang="ko-KR" altLang="en-US" sz="1600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386E9E0-13BD-5726-0A41-088EDEE425CB}"/>
              </a:ext>
            </a:extLst>
          </p:cNvPr>
          <p:cNvSpPr txBox="1"/>
          <p:nvPr/>
        </p:nvSpPr>
        <p:spPr>
          <a:xfrm>
            <a:off x="4256428" y="5578765"/>
            <a:ext cx="37812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- </a:t>
            </a:r>
            <a:r>
              <a:rPr lang="ko-KR" altLang="en-US" sz="1400" b="1" dirty="0"/>
              <a:t>지점별 실측 안정동위원소비를 오염원 라이브러리 </a:t>
            </a:r>
            <a:r>
              <a:rPr lang="ko-KR" altLang="en-US" sz="1400" b="1"/>
              <a:t>이중 </a:t>
            </a:r>
            <a:r>
              <a:rPr lang="en-US" altLang="ko-KR" sz="1400" b="1"/>
              <a:t>plot</a:t>
            </a:r>
            <a:r>
              <a:rPr lang="ko-KR" altLang="en-US" sz="1400" b="1"/>
              <a:t>에 적용하여 신속 원인진단</a:t>
            </a:r>
            <a:endParaRPr lang="en-US" altLang="ko-KR" sz="1200" b="1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C88501D-9A39-3325-0D85-EE24A34C98CD}"/>
              </a:ext>
            </a:extLst>
          </p:cNvPr>
          <p:cNvSpPr txBox="1"/>
          <p:nvPr/>
        </p:nvSpPr>
        <p:spPr>
          <a:xfrm>
            <a:off x="4256428" y="6031277"/>
            <a:ext cx="38695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- Kendall </a:t>
            </a:r>
            <a:r>
              <a:rPr lang="en-US" altLang="ko-KR" sz="1400" b="1"/>
              <a:t>plot </a:t>
            </a:r>
            <a:r>
              <a:rPr lang="ko-KR" altLang="en-US" sz="1400" b="1"/>
              <a:t>적용 </a:t>
            </a:r>
            <a:r>
              <a:rPr lang="ko-KR" altLang="en-US" sz="1400" b="1" dirty="0"/>
              <a:t>시 오염원 </a:t>
            </a:r>
            <a:r>
              <a:rPr lang="ko-KR" altLang="en-US" sz="1400" b="1"/>
              <a:t>중첩문제 해결 필요</a:t>
            </a:r>
            <a:endParaRPr lang="en-US" altLang="ko-KR" sz="1200" b="1" dirty="0"/>
          </a:p>
        </p:txBody>
      </p:sp>
      <p:sp>
        <p:nvSpPr>
          <p:cNvPr id="76" name="모서리가 둥근 직사각형 4">
            <a:extLst>
              <a:ext uri="{FF2B5EF4-FFF2-40B4-BE49-F238E27FC236}">
                <a16:creationId xmlns:a16="http://schemas.microsoft.com/office/drawing/2014/main" id="{3E6AF02E-029E-2835-F346-2D50C44F6C7D}"/>
              </a:ext>
            </a:extLst>
          </p:cNvPr>
          <p:cNvSpPr/>
          <p:nvPr/>
        </p:nvSpPr>
        <p:spPr>
          <a:xfrm>
            <a:off x="8262274" y="2789505"/>
            <a:ext cx="3776804" cy="3828578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모서리가 둥근 직사각형 5">
            <a:extLst>
              <a:ext uri="{FF2B5EF4-FFF2-40B4-BE49-F238E27FC236}">
                <a16:creationId xmlns:a16="http://schemas.microsoft.com/office/drawing/2014/main" id="{F030EA8D-F9F2-A75B-1779-7D9EF39CBFDD}"/>
              </a:ext>
            </a:extLst>
          </p:cNvPr>
          <p:cNvSpPr/>
          <p:nvPr/>
        </p:nvSpPr>
        <p:spPr>
          <a:xfrm>
            <a:off x="8480541" y="2731703"/>
            <a:ext cx="3260045" cy="339324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4. </a:t>
            </a:r>
            <a:r>
              <a:rPr lang="ko-KR" altLang="en-US" b="1" dirty="0"/>
              <a:t>오염원 기여율 산정</a:t>
            </a:r>
            <a:r>
              <a:rPr lang="en-US" altLang="ko-KR" sz="1600" b="1" dirty="0"/>
              <a:t>(</a:t>
            </a:r>
            <a:r>
              <a:rPr lang="ko-KR" altLang="en-US" sz="1600" b="1" dirty="0"/>
              <a:t>정량적</a:t>
            </a:r>
            <a:r>
              <a:rPr lang="en-US" altLang="ko-KR" sz="1600" b="1" dirty="0"/>
              <a:t>)</a:t>
            </a:r>
            <a:endParaRPr lang="ko-KR" altLang="en-US" sz="1600" b="1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4D4E969-52AC-926A-D990-33D7517C059D}"/>
              </a:ext>
            </a:extLst>
          </p:cNvPr>
          <p:cNvSpPr txBox="1"/>
          <p:nvPr/>
        </p:nvSpPr>
        <p:spPr>
          <a:xfrm>
            <a:off x="8479266" y="5629931"/>
            <a:ext cx="36588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지점별 실측 안정동위원소비와 오염원별</a:t>
            </a:r>
            <a:r>
              <a:rPr lang="en-US" altLang="ko-KR" sz="1400" b="1" dirty="0"/>
              <a:t> </a:t>
            </a:r>
            <a:r>
              <a:rPr lang="en-US" altLang="ko-KR" sz="1200" b="1" dirty="0"/>
              <a:t>(</a:t>
            </a:r>
            <a:r>
              <a:rPr lang="ko-KR" altLang="en-US" sz="1200" b="1" dirty="0"/>
              <a:t>토양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화학비료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하수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분뇨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강우</a:t>
            </a:r>
            <a:r>
              <a:rPr lang="en-US" altLang="ko-KR" sz="1200" b="1" dirty="0"/>
              <a:t>) </a:t>
            </a:r>
            <a:r>
              <a:rPr lang="ko-KR" altLang="en-US" sz="1400" b="1" dirty="0"/>
              <a:t>대푯값 적용 후 기여율 산정</a:t>
            </a:r>
            <a:endParaRPr lang="en-US" altLang="ko-KR" sz="1200" b="1" dirty="0"/>
          </a:p>
        </p:txBody>
      </p:sp>
      <p:sp>
        <p:nvSpPr>
          <p:cNvPr id="85" name="화살표: 오른쪽 84">
            <a:extLst>
              <a:ext uri="{FF2B5EF4-FFF2-40B4-BE49-F238E27FC236}">
                <a16:creationId xmlns:a16="http://schemas.microsoft.com/office/drawing/2014/main" id="{27F10F5F-61C6-8908-44B4-C13D90EDDAFE}"/>
              </a:ext>
            </a:extLst>
          </p:cNvPr>
          <p:cNvSpPr/>
          <p:nvPr/>
        </p:nvSpPr>
        <p:spPr>
          <a:xfrm>
            <a:off x="10367758" y="4288121"/>
            <a:ext cx="340967" cy="294299"/>
          </a:xfrm>
          <a:prstGeom prst="right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7" name="그림 86">
            <a:extLst>
              <a:ext uri="{FF2B5EF4-FFF2-40B4-BE49-F238E27FC236}">
                <a16:creationId xmlns:a16="http://schemas.microsoft.com/office/drawing/2014/main" id="{2A914159-4CF3-DC9A-6415-EA460340EF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4668" y="3784719"/>
            <a:ext cx="1273200" cy="1273200"/>
          </a:xfrm>
          <a:prstGeom prst="rect">
            <a:avLst/>
          </a:prstGeom>
        </p:spPr>
      </p:pic>
      <p:sp>
        <p:nvSpPr>
          <p:cNvPr id="93" name="화살표: 오른쪽 92">
            <a:extLst>
              <a:ext uri="{FF2B5EF4-FFF2-40B4-BE49-F238E27FC236}">
                <a16:creationId xmlns:a16="http://schemas.microsoft.com/office/drawing/2014/main" id="{71628C38-E3D4-7AD6-833B-14185F69F662}"/>
              </a:ext>
            </a:extLst>
          </p:cNvPr>
          <p:cNvSpPr/>
          <p:nvPr/>
        </p:nvSpPr>
        <p:spPr>
          <a:xfrm rot="2792202">
            <a:off x="7446092" y="2647066"/>
            <a:ext cx="1111788" cy="269172"/>
          </a:xfrm>
          <a:prstGeom prst="right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화살표: 오른쪽 94">
            <a:extLst>
              <a:ext uri="{FF2B5EF4-FFF2-40B4-BE49-F238E27FC236}">
                <a16:creationId xmlns:a16="http://schemas.microsoft.com/office/drawing/2014/main" id="{0301381D-82F0-AA17-2BA2-E2029D0A4281}"/>
              </a:ext>
            </a:extLst>
          </p:cNvPr>
          <p:cNvSpPr/>
          <p:nvPr/>
        </p:nvSpPr>
        <p:spPr>
          <a:xfrm rot="7651541">
            <a:off x="6366117" y="2171871"/>
            <a:ext cx="841263" cy="259567"/>
          </a:xfrm>
          <a:prstGeom prst="right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화살표: 오른쪽 1">
            <a:extLst>
              <a:ext uri="{FF2B5EF4-FFF2-40B4-BE49-F238E27FC236}">
                <a16:creationId xmlns:a16="http://schemas.microsoft.com/office/drawing/2014/main" id="{9B1C75AA-FDCA-2B4A-0A1B-734C663B5D71}"/>
              </a:ext>
            </a:extLst>
          </p:cNvPr>
          <p:cNvSpPr/>
          <p:nvPr/>
        </p:nvSpPr>
        <p:spPr>
          <a:xfrm>
            <a:off x="3720974" y="4451984"/>
            <a:ext cx="619296" cy="332634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777C1E24-9FE9-6800-2F4C-D92D478B3504}"/>
              </a:ext>
            </a:extLst>
          </p:cNvPr>
          <p:cNvSpPr/>
          <p:nvPr/>
        </p:nvSpPr>
        <p:spPr>
          <a:xfrm>
            <a:off x="7694776" y="4435270"/>
            <a:ext cx="619296" cy="332634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8" name="Picture 1"/>
          <p:cNvPicPr>
            <a:picLocks noChangeAspect="1"/>
          </p:cNvPicPr>
          <p:nvPr/>
        </p:nvPicPr>
        <p:blipFill>
          <a:blip r:embed="rId5"/>
          <a:srcRect t="2866" b="1909"/>
          <a:stretch>
            <a:fillRect/>
          </a:stretch>
        </p:blipFill>
        <p:spPr>
          <a:xfrm>
            <a:off x="4309233" y="3160925"/>
            <a:ext cx="3533645" cy="2417049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40" name="Picture 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652" y="3083340"/>
            <a:ext cx="3118738" cy="217481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직사각형 2"/>
          <p:cNvSpPr/>
          <p:nvPr/>
        </p:nvSpPr>
        <p:spPr>
          <a:xfrm>
            <a:off x="8388877" y="3403661"/>
            <a:ext cx="1912797" cy="9631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8575657" y="4609139"/>
            <a:ext cx="15388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/>
              <a:t>EMMTE</a:t>
            </a:r>
            <a:r>
              <a:rPr lang="en-US" altLang="ko-KR" sz="1400" b="1"/>
              <a:t>(Excel)</a:t>
            </a:r>
            <a:endParaRPr lang="ko-KR" altLang="en-US" sz="1600" b="1"/>
          </a:p>
        </p:txBody>
      </p:sp>
      <p:sp>
        <p:nvSpPr>
          <p:cNvPr id="44" name="TextBox 43"/>
          <p:cNvSpPr txBox="1"/>
          <p:nvPr/>
        </p:nvSpPr>
        <p:spPr>
          <a:xfrm>
            <a:off x="8382367" y="4983570"/>
            <a:ext cx="199605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/>
              <a:t>MixSIAR </a:t>
            </a:r>
            <a:r>
              <a:rPr lang="ko-KR" altLang="en-US" sz="1100" b="1"/>
              <a:t>모델을 참고한</a:t>
            </a:r>
            <a:endParaRPr lang="en-US" altLang="ko-KR" sz="1100" b="1"/>
          </a:p>
          <a:p>
            <a:r>
              <a:rPr lang="en-US" altLang="ko-KR" sz="1100" b="1"/>
              <a:t>End-member</a:t>
            </a:r>
            <a:r>
              <a:rPr lang="ko-KR" altLang="en-US" sz="1100" b="1"/>
              <a:t> 혼합모델 도구</a:t>
            </a:r>
          </a:p>
        </p:txBody>
      </p:sp>
      <p:sp>
        <p:nvSpPr>
          <p:cNvPr id="45" name="직사각형 44"/>
          <p:cNvSpPr/>
          <p:nvPr/>
        </p:nvSpPr>
        <p:spPr>
          <a:xfrm>
            <a:off x="8395882" y="4564538"/>
            <a:ext cx="1912797" cy="9631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/>
          <p:cNvSpPr txBox="1"/>
          <p:nvPr/>
        </p:nvSpPr>
        <p:spPr>
          <a:xfrm>
            <a:off x="8718195" y="3424781"/>
            <a:ext cx="12522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/>
              <a:t>MixSIAR</a:t>
            </a:r>
            <a:r>
              <a:rPr lang="en-US" altLang="ko-KR" sz="1400" b="1"/>
              <a:t>(R)</a:t>
            </a:r>
            <a:endParaRPr lang="ko-KR" altLang="en-US" sz="1600" b="1"/>
          </a:p>
        </p:txBody>
      </p:sp>
      <p:sp>
        <p:nvSpPr>
          <p:cNvPr id="49" name="TextBox 48"/>
          <p:cNvSpPr txBox="1"/>
          <p:nvPr/>
        </p:nvSpPr>
        <p:spPr>
          <a:xfrm>
            <a:off x="8332686" y="3765015"/>
            <a:ext cx="201912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/>
              <a:t>베이지안 추론 기반 통계적 불확실성 바탕 오염원 기여율 산정 혼합모델 도구</a:t>
            </a:r>
            <a:endParaRPr lang="en-US" altLang="ko-KR" sz="1100" b="1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7337" y="1051868"/>
            <a:ext cx="1814216" cy="1261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348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사각형: 둥근 모서리 19">
            <a:extLst>
              <a:ext uri="{FF2B5EF4-FFF2-40B4-BE49-F238E27FC236}">
                <a16:creationId xmlns:a16="http://schemas.microsoft.com/office/drawing/2014/main" id="{D6FE3DDC-BB0C-77F3-9611-8252997D2072}"/>
              </a:ext>
            </a:extLst>
          </p:cNvPr>
          <p:cNvSpPr/>
          <p:nvPr/>
        </p:nvSpPr>
        <p:spPr>
          <a:xfrm>
            <a:off x="2913344" y="2626714"/>
            <a:ext cx="2661693" cy="7779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50A9BA3B-6EBD-53FC-ABDE-06817651DF62}"/>
              </a:ext>
            </a:extLst>
          </p:cNvPr>
          <p:cNvSpPr/>
          <p:nvPr/>
        </p:nvSpPr>
        <p:spPr>
          <a:xfrm>
            <a:off x="2914202" y="4049671"/>
            <a:ext cx="2660835" cy="253113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5BB12185-2F07-5DFE-071E-0FA3F5447BB1}"/>
              </a:ext>
            </a:extLst>
          </p:cNvPr>
          <p:cNvSpPr/>
          <p:nvPr/>
        </p:nvSpPr>
        <p:spPr>
          <a:xfrm>
            <a:off x="155491" y="3379094"/>
            <a:ext cx="2696099" cy="232705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D6FE3DDC-BB0C-77F3-9611-8252997D2072}"/>
              </a:ext>
            </a:extLst>
          </p:cNvPr>
          <p:cNvSpPr/>
          <p:nvPr/>
        </p:nvSpPr>
        <p:spPr>
          <a:xfrm>
            <a:off x="2927294" y="1491227"/>
            <a:ext cx="2668247" cy="7779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45627E-3ECE-72D7-59FF-EF5A1D5F29E6}"/>
              </a:ext>
            </a:extLst>
          </p:cNvPr>
          <p:cNvSpPr txBox="1"/>
          <p:nvPr/>
        </p:nvSpPr>
        <p:spPr>
          <a:xfrm>
            <a:off x="0" y="119215"/>
            <a:ext cx="12153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/>
              <a:t>&lt;</a:t>
            </a:r>
            <a:r>
              <a:rPr lang="ko-KR" altLang="en-US" sz="2000" b="1" dirty="0"/>
              <a:t>붙임</a:t>
            </a:r>
            <a:r>
              <a:rPr lang="en-US" altLang="ko-KR" sz="2000" b="1" dirty="0"/>
              <a:t>1&gt;</a:t>
            </a:r>
            <a:endParaRPr lang="ko-KR" altLang="en-US" sz="2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7F8725-D258-94B6-B37A-50BF2507BD9E}"/>
              </a:ext>
            </a:extLst>
          </p:cNvPr>
          <p:cNvSpPr txBox="1"/>
          <p:nvPr/>
        </p:nvSpPr>
        <p:spPr>
          <a:xfrm>
            <a:off x="1005744" y="26788"/>
            <a:ext cx="110530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오염원 라이브러리 구축</a:t>
            </a:r>
            <a:r>
              <a:rPr lang="en-US" altLang="ko-KR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참고자료</a:t>
            </a:r>
            <a:r>
              <a:rPr lang="en-US" altLang="ko-KR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lang="ko-KR" altLang="en-US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기술 검토용 세부 프로세스</a:t>
            </a:r>
            <a:r>
              <a:rPr lang="en-US" altLang="ko-KR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endParaRPr lang="ko-KR" altLang="en-US" b="1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00206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E34E2B27-E429-49FF-1250-3B11280F3E79}"/>
              </a:ext>
            </a:extLst>
          </p:cNvPr>
          <p:cNvSpPr/>
          <p:nvPr/>
        </p:nvSpPr>
        <p:spPr>
          <a:xfrm>
            <a:off x="95808" y="850782"/>
            <a:ext cx="2778487" cy="232705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ABC294-CDB9-17AC-61DA-7123C8195542}"/>
              </a:ext>
            </a:extLst>
          </p:cNvPr>
          <p:cNvSpPr txBox="1"/>
          <p:nvPr/>
        </p:nvSpPr>
        <p:spPr>
          <a:xfrm>
            <a:off x="95808" y="991477"/>
            <a:ext cx="2820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1. </a:t>
            </a:r>
            <a:r>
              <a:rPr lang="ko-KR" altLang="en-US" b="1" dirty="0"/>
              <a:t>선행연구 데이터 취합 및 데이터베이스 구축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91D61D-4DDF-1FA6-327C-AD64F3D233E4}"/>
              </a:ext>
            </a:extLst>
          </p:cNvPr>
          <p:cNvSpPr txBox="1"/>
          <p:nvPr/>
        </p:nvSpPr>
        <p:spPr>
          <a:xfrm>
            <a:off x="135881" y="1711998"/>
            <a:ext cx="17528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기존 연구과제 및 논문 리뷰</a:t>
            </a:r>
            <a:r>
              <a:rPr lang="en-US" altLang="ko-KR" sz="1600" b="1" dirty="0"/>
              <a:t>(2019~2025)</a:t>
            </a:r>
            <a:endParaRPr lang="ko-KR" altLang="en-US" sz="1600" b="1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646705EA-24F7-3C66-A345-7A054262E1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3084" y="1687451"/>
            <a:ext cx="730465" cy="506199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B4C314C-AF4B-6E98-6A13-C821FF952C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6026" y="2350940"/>
            <a:ext cx="1056026" cy="724899"/>
          </a:xfrm>
          <a:prstGeom prst="rect">
            <a:avLst/>
          </a:prstGeom>
        </p:spPr>
      </p:pic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10A5B068-8B4F-EA2A-6D77-1AF706A53461}"/>
              </a:ext>
            </a:extLst>
          </p:cNvPr>
          <p:cNvSpPr/>
          <p:nvPr/>
        </p:nvSpPr>
        <p:spPr>
          <a:xfrm>
            <a:off x="2677907" y="1833930"/>
            <a:ext cx="421223" cy="311421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E52099-2F2F-511E-10B0-BD1E417AD230}"/>
              </a:ext>
            </a:extLst>
          </p:cNvPr>
          <p:cNvSpPr txBox="1"/>
          <p:nvPr/>
        </p:nvSpPr>
        <p:spPr>
          <a:xfrm>
            <a:off x="2855494" y="1516623"/>
            <a:ext cx="2820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2. </a:t>
            </a:r>
            <a:r>
              <a:rPr lang="ko-KR" altLang="en-US" b="1" dirty="0"/>
              <a:t>오염원 시료 정보 취합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0227597-E9F4-04B1-80CB-9A5C3F9AD72C}"/>
              </a:ext>
            </a:extLst>
          </p:cNvPr>
          <p:cNvSpPr txBox="1"/>
          <p:nvPr/>
        </p:nvSpPr>
        <p:spPr>
          <a:xfrm>
            <a:off x="3660393" y="1832886"/>
            <a:ext cx="17528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(</a:t>
            </a:r>
            <a:r>
              <a:rPr lang="ko-KR" altLang="en-US" sz="1600" b="1" dirty="0"/>
              <a:t>총 </a:t>
            </a:r>
            <a:r>
              <a:rPr lang="en-US" altLang="ko-KR" sz="1600" b="1" dirty="0"/>
              <a:t>380</a:t>
            </a:r>
            <a:r>
              <a:rPr lang="ko-KR" altLang="en-US" sz="1600" b="1" dirty="0"/>
              <a:t>개</a:t>
            </a:r>
            <a:r>
              <a:rPr lang="en-US" altLang="ko-KR" sz="1600" b="1" dirty="0"/>
              <a:t>)</a:t>
            </a:r>
            <a:endParaRPr lang="ko-KR" altLang="en-US" sz="1600" b="1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BCBA30D9-B714-2BAD-9D7C-B41CA82F06EB}"/>
              </a:ext>
            </a:extLst>
          </p:cNvPr>
          <p:cNvSpPr/>
          <p:nvPr/>
        </p:nvSpPr>
        <p:spPr>
          <a:xfrm>
            <a:off x="5869350" y="1095546"/>
            <a:ext cx="1469969" cy="7779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477E7A-DEFF-FA37-7CBD-BDB0EC5D8EA7}"/>
              </a:ext>
            </a:extLst>
          </p:cNvPr>
          <p:cNvSpPr txBox="1"/>
          <p:nvPr/>
        </p:nvSpPr>
        <p:spPr>
          <a:xfrm>
            <a:off x="6460988" y="1208935"/>
            <a:ext cx="8097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err="1"/>
              <a:t>토양계</a:t>
            </a:r>
            <a:endParaRPr lang="en-US" altLang="ko-KR" sz="1600" b="1" dirty="0"/>
          </a:p>
          <a:p>
            <a:r>
              <a:rPr lang="en-US" altLang="ko-KR" sz="1600" b="1" dirty="0"/>
              <a:t>(27</a:t>
            </a:r>
            <a:r>
              <a:rPr lang="ko-KR" altLang="en-US" sz="1600" b="1" dirty="0"/>
              <a:t>개</a:t>
            </a:r>
            <a:r>
              <a:rPr lang="en-US" altLang="ko-KR" sz="1600" b="1" dirty="0"/>
              <a:t>)</a:t>
            </a:r>
            <a:endParaRPr lang="ko-KR" altLang="en-US" sz="1600" b="1" dirty="0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16D5306E-3608-4E15-50EB-45A8E1FE824D}"/>
              </a:ext>
            </a:extLst>
          </p:cNvPr>
          <p:cNvSpPr/>
          <p:nvPr/>
        </p:nvSpPr>
        <p:spPr>
          <a:xfrm>
            <a:off x="5886314" y="2088284"/>
            <a:ext cx="1501134" cy="7779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8EC68AAB-0FD3-56FB-3A2E-D6DD2A99AF29}"/>
              </a:ext>
            </a:extLst>
          </p:cNvPr>
          <p:cNvSpPr/>
          <p:nvPr/>
        </p:nvSpPr>
        <p:spPr>
          <a:xfrm>
            <a:off x="5869350" y="3147356"/>
            <a:ext cx="1492002" cy="7779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6FFEC22B-2ABB-DD61-B6C6-8C5CBD285FE3}"/>
              </a:ext>
            </a:extLst>
          </p:cNvPr>
          <p:cNvSpPr/>
          <p:nvPr/>
        </p:nvSpPr>
        <p:spPr>
          <a:xfrm>
            <a:off x="5869350" y="4219862"/>
            <a:ext cx="1496864" cy="7779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243F83DD-F209-0AF4-5AD0-8815FC3A3A87}"/>
              </a:ext>
            </a:extLst>
          </p:cNvPr>
          <p:cNvSpPr/>
          <p:nvPr/>
        </p:nvSpPr>
        <p:spPr>
          <a:xfrm>
            <a:off x="5869350" y="5484007"/>
            <a:ext cx="1496864" cy="7779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4024ABC-46C5-E827-0121-C8A0A919145D}"/>
              </a:ext>
            </a:extLst>
          </p:cNvPr>
          <p:cNvSpPr txBox="1"/>
          <p:nvPr/>
        </p:nvSpPr>
        <p:spPr>
          <a:xfrm>
            <a:off x="6486864" y="2167261"/>
            <a:ext cx="8097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강우계</a:t>
            </a:r>
            <a:endParaRPr lang="en-US" altLang="ko-KR" sz="1600" b="1" dirty="0"/>
          </a:p>
          <a:p>
            <a:r>
              <a:rPr lang="en-US" altLang="ko-KR" sz="1600" b="1" dirty="0"/>
              <a:t>(13</a:t>
            </a:r>
            <a:r>
              <a:rPr lang="ko-KR" altLang="en-US" sz="1600" b="1" dirty="0"/>
              <a:t>개</a:t>
            </a:r>
            <a:r>
              <a:rPr lang="en-US" altLang="ko-KR" sz="1600" b="1" dirty="0"/>
              <a:t>)</a:t>
            </a:r>
            <a:endParaRPr lang="ko-KR" altLang="en-US" sz="1600" b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59CF3A6-C21C-AB4D-DABB-11060E573D57}"/>
              </a:ext>
            </a:extLst>
          </p:cNvPr>
          <p:cNvSpPr txBox="1"/>
          <p:nvPr/>
        </p:nvSpPr>
        <p:spPr>
          <a:xfrm>
            <a:off x="6486864" y="3249766"/>
            <a:ext cx="8097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err="1"/>
              <a:t>생활계</a:t>
            </a:r>
            <a:endParaRPr lang="en-US" altLang="ko-KR" sz="1600" b="1" dirty="0"/>
          </a:p>
          <a:p>
            <a:r>
              <a:rPr lang="en-US" altLang="ko-KR" sz="1600" b="1" dirty="0"/>
              <a:t>(77</a:t>
            </a:r>
            <a:r>
              <a:rPr lang="ko-KR" altLang="en-US" sz="1600" b="1" dirty="0"/>
              <a:t>개</a:t>
            </a:r>
            <a:r>
              <a:rPr lang="en-US" altLang="ko-KR" sz="1600" b="1" dirty="0"/>
              <a:t>)</a:t>
            </a:r>
            <a:endParaRPr lang="ko-KR" altLang="en-US" sz="1600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51B0922-BF8A-09C0-DAF5-22C4EB3AD2B9}"/>
              </a:ext>
            </a:extLst>
          </p:cNvPr>
          <p:cNvSpPr txBox="1"/>
          <p:nvPr/>
        </p:nvSpPr>
        <p:spPr>
          <a:xfrm>
            <a:off x="6528694" y="4321419"/>
            <a:ext cx="8097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err="1"/>
              <a:t>축산계</a:t>
            </a:r>
            <a:endParaRPr lang="en-US" altLang="ko-KR" sz="1600" b="1" dirty="0"/>
          </a:p>
          <a:p>
            <a:r>
              <a:rPr lang="en-US" altLang="ko-KR" sz="1600" b="1" dirty="0"/>
              <a:t>(47</a:t>
            </a:r>
            <a:r>
              <a:rPr lang="ko-KR" altLang="en-US" sz="1600" b="1" dirty="0"/>
              <a:t>개</a:t>
            </a:r>
            <a:r>
              <a:rPr lang="en-US" altLang="ko-KR" sz="1600" b="1" dirty="0"/>
              <a:t>)</a:t>
            </a:r>
            <a:endParaRPr lang="ko-KR" altLang="en-US" sz="1600" b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EFD8E72-044D-D13F-1FB6-F0DBEE304A73}"/>
              </a:ext>
            </a:extLst>
          </p:cNvPr>
          <p:cNvSpPr txBox="1"/>
          <p:nvPr/>
        </p:nvSpPr>
        <p:spPr>
          <a:xfrm>
            <a:off x="6497886" y="5546575"/>
            <a:ext cx="8731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err="1"/>
              <a:t>농업계</a:t>
            </a:r>
            <a:endParaRPr lang="en-US" altLang="ko-KR" sz="1600" b="1" dirty="0"/>
          </a:p>
          <a:p>
            <a:r>
              <a:rPr lang="en-US" altLang="ko-KR" sz="1600" b="1" dirty="0"/>
              <a:t>(216</a:t>
            </a:r>
            <a:r>
              <a:rPr lang="ko-KR" altLang="en-US" sz="1600" b="1" dirty="0"/>
              <a:t>개</a:t>
            </a:r>
            <a:r>
              <a:rPr lang="en-US" altLang="ko-KR" sz="1600" b="1" dirty="0"/>
              <a:t>)</a:t>
            </a:r>
            <a:endParaRPr lang="ko-KR" altLang="en-US" sz="1600" b="1" dirty="0"/>
          </a:p>
        </p:txBody>
      </p:sp>
      <p:pic>
        <p:nvPicPr>
          <p:cNvPr id="46" name="그림 45">
            <a:extLst>
              <a:ext uri="{FF2B5EF4-FFF2-40B4-BE49-F238E27FC236}">
                <a16:creationId xmlns:a16="http://schemas.microsoft.com/office/drawing/2014/main" id="{0BBD2F8A-3DBA-2A36-1281-0DAF923C2E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8284" y="1221856"/>
            <a:ext cx="571580" cy="543001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93F3D592-CA1D-52FD-B2AD-DCBB6C6367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7114" y="2184373"/>
            <a:ext cx="571580" cy="552527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A34360BC-2A9D-40F5-0681-0423833AE9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5197" y="3260597"/>
            <a:ext cx="590632" cy="552527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B74C930A-DB3C-E080-00F1-26B0A9F84BF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1778" y="4336158"/>
            <a:ext cx="581106" cy="533474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16AAFBFD-586F-C92F-07D0-1CC1979BD2F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1778" y="5599787"/>
            <a:ext cx="581106" cy="543001"/>
          </a:xfrm>
          <a:prstGeom prst="rect">
            <a:avLst/>
          </a:prstGeom>
        </p:spPr>
      </p:pic>
      <p:sp>
        <p:nvSpPr>
          <p:cNvPr id="55" name="화살표: 오른쪽 54">
            <a:extLst>
              <a:ext uri="{FF2B5EF4-FFF2-40B4-BE49-F238E27FC236}">
                <a16:creationId xmlns:a16="http://schemas.microsoft.com/office/drawing/2014/main" id="{4347ACF2-5191-BA89-6C5D-14B41B1D297A}"/>
              </a:ext>
            </a:extLst>
          </p:cNvPr>
          <p:cNvSpPr/>
          <p:nvPr/>
        </p:nvSpPr>
        <p:spPr>
          <a:xfrm rot="20270651">
            <a:off x="5464691" y="1726968"/>
            <a:ext cx="467149" cy="196297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7" name="화살표: 오른쪽 56">
            <a:extLst>
              <a:ext uri="{FF2B5EF4-FFF2-40B4-BE49-F238E27FC236}">
                <a16:creationId xmlns:a16="http://schemas.microsoft.com/office/drawing/2014/main" id="{8B75E920-2FAF-BBAB-BAC9-2B9C43806F27}"/>
              </a:ext>
            </a:extLst>
          </p:cNvPr>
          <p:cNvSpPr/>
          <p:nvPr/>
        </p:nvSpPr>
        <p:spPr>
          <a:xfrm rot="2239301">
            <a:off x="5396831" y="2119138"/>
            <a:ext cx="574419" cy="194324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화살표: 오른쪽 58">
            <a:extLst>
              <a:ext uri="{FF2B5EF4-FFF2-40B4-BE49-F238E27FC236}">
                <a16:creationId xmlns:a16="http://schemas.microsoft.com/office/drawing/2014/main" id="{B160BF70-F207-11B1-5380-76C6452BBBEB}"/>
              </a:ext>
            </a:extLst>
          </p:cNvPr>
          <p:cNvSpPr/>
          <p:nvPr/>
        </p:nvSpPr>
        <p:spPr>
          <a:xfrm rot="3354909">
            <a:off x="4927695" y="2522797"/>
            <a:ext cx="1369884" cy="205268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화살표: 오른쪽 60">
            <a:extLst>
              <a:ext uri="{FF2B5EF4-FFF2-40B4-BE49-F238E27FC236}">
                <a16:creationId xmlns:a16="http://schemas.microsoft.com/office/drawing/2014/main" id="{084A9E99-62A1-C376-4A21-193BEF5CC1AB}"/>
              </a:ext>
            </a:extLst>
          </p:cNvPr>
          <p:cNvSpPr/>
          <p:nvPr/>
        </p:nvSpPr>
        <p:spPr>
          <a:xfrm rot="3949598">
            <a:off x="4248414" y="3054203"/>
            <a:ext cx="2546086" cy="205045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화살표: 오른쪽 62">
            <a:extLst>
              <a:ext uri="{FF2B5EF4-FFF2-40B4-BE49-F238E27FC236}">
                <a16:creationId xmlns:a16="http://schemas.microsoft.com/office/drawing/2014/main" id="{9494BF3D-8BF7-B46D-0D30-4291423D4FAB}"/>
              </a:ext>
            </a:extLst>
          </p:cNvPr>
          <p:cNvSpPr/>
          <p:nvPr/>
        </p:nvSpPr>
        <p:spPr>
          <a:xfrm rot="4274601">
            <a:off x="3616001" y="3681845"/>
            <a:ext cx="3670109" cy="226522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7328D3DB-11ED-BB7D-BF8E-472B22E452B5}"/>
              </a:ext>
            </a:extLst>
          </p:cNvPr>
          <p:cNvSpPr/>
          <p:nvPr/>
        </p:nvSpPr>
        <p:spPr>
          <a:xfrm>
            <a:off x="7418253" y="1100335"/>
            <a:ext cx="1602926" cy="7779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C64698A1-02B4-DDF5-66D1-D120554F3B63}"/>
              </a:ext>
            </a:extLst>
          </p:cNvPr>
          <p:cNvSpPr/>
          <p:nvPr/>
        </p:nvSpPr>
        <p:spPr>
          <a:xfrm>
            <a:off x="7442779" y="2095098"/>
            <a:ext cx="1578400" cy="7779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EA574581-2ED3-A283-719E-EDE310D17109}"/>
              </a:ext>
            </a:extLst>
          </p:cNvPr>
          <p:cNvSpPr/>
          <p:nvPr/>
        </p:nvSpPr>
        <p:spPr>
          <a:xfrm>
            <a:off x="7442779" y="3056033"/>
            <a:ext cx="1578400" cy="94824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D2E3559F-540C-6AA0-0898-91DD16D205FB}"/>
              </a:ext>
            </a:extLst>
          </p:cNvPr>
          <p:cNvSpPr/>
          <p:nvPr/>
        </p:nvSpPr>
        <p:spPr>
          <a:xfrm>
            <a:off x="7442779" y="4133370"/>
            <a:ext cx="1578400" cy="101566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5C9069BD-75CB-51C7-4A8D-71EECE0F46A7}"/>
              </a:ext>
            </a:extLst>
          </p:cNvPr>
          <p:cNvSpPr/>
          <p:nvPr/>
        </p:nvSpPr>
        <p:spPr>
          <a:xfrm>
            <a:off x="7440600" y="5257279"/>
            <a:ext cx="1580579" cy="119747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9752A41-B485-FD70-374A-D61096FB92B3}"/>
              </a:ext>
            </a:extLst>
          </p:cNvPr>
          <p:cNvSpPr txBox="1"/>
          <p:nvPr/>
        </p:nvSpPr>
        <p:spPr>
          <a:xfrm>
            <a:off x="7492358" y="1095546"/>
            <a:ext cx="14191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토양</a:t>
            </a:r>
            <a:r>
              <a:rPr lang="en-US" altLang="ko-KR" sz="1200" b="1" dirty="0"/>
              <a:t>, </a:t>
            </a:r>
            <a:r>
              <a:rPr lang="ko-KR" altLang="en-US" sz="1200" b="1" dirty="0" err="1"/>
              <a:t>산림유출수</a:t>
            </a:r>
            <a:r>
              <a:rPr lang="en-US" altLang="ko-KR" sz="1200" b="1" dirty="0"/>
              <a:t>, </a:t>
            </a:r>
            <a:r>
              <a:rPr lang="ko-KR" altLang="en-US" sz="1200" b="1" dirty="0" err="1"/>
              <a:t>산림토</a:t>
            </a:r>
            <a:r>
              <a:rPr lang="en-US" altLang="ko-KR" sz="1200" b="1" dirty="0"/>
              <a:t>(</a:t>
            </a:r>
            <a:r>
              <a:rPr lang="ko-KR" altLang="en-US" sz="1200" b="1" dirty="0"/>
              <a:t>대나무</a:t>
            </a:r>
            <a:r>
              <a:rPr lang="en-US" altLang="ko-KR" sz="1200" b="1" dirty="0"/>
              <a:t>), </a:t>
            </a:r>
            <a:r>
              <a:rPr lang="ko-KR" altLang="en-US" sz="1200" b="1" dirty="0"/>
              <a:t>하천 및 호소 상류 </a:t>
            </a:r>
            <a:r>
              <a:rPr lang="ko-KR" altLang="en-US" sz="1200" b="1" dirty="0" err="1"/>
              <a:t>유출수</a:t>
            </a:r>
            <a:r>
              <a:rPr lang="ko-KR" altLang="en-US" sz="1200" b="1" dirty="0"/>
              <a:t> 등 취합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D233087-0907-BB18-F4FB-6776C038066C}"/>
              </a:ext>
            </a:extLst>
          </p:cNvPr>
          <p:cNvSpPr txBox="1"/>
          <p:nvPr/>
        </p:nvSpPr>
        <p:spPr>
          <a:xfrm>
            <a:off x="7547580" y="2161736"/>
            <a:ext cx="13015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강우</a:t>
            </a:r>
            <a:r>
              <a:rPr lang="en-US" altLang="ko-KR" sz="1200" b="1" dirty="0"/>
              <a:t>(</a:t>
            </a:r>
            <a:r>
              <a:rPr lang="ko-KR" altLang="en-US" sz="1200" b="1" dirty="0"/>
              <a:t>옥상 </a:t>
            </a:r>
            <a:r>
              <a:rPr lang="ko-KR" altLang="en-US" sz="1200" b="1" dirty="0" err="1"/>
              <a:t>채수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순수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빗물</a:t>
            </a:r>
            <a:r>
              <a:rPr lang="en-US" altLang="ko-KR" sz="1200" b="1" dirty="0"/>
              <a:t>)</a:t>
            </a:r>
            <a:r>
              <a:rPr lang="ko-KR" altLang="en-US" sz="1200" b="1" dirty="0"/>
              <a:t> 등 취합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CCBF17E-0A38-04BC-6BA5-EBCED904520E}"/>
              </a:ext>
            </a:extLst>
          </p:cNvPr>
          <p:cNvSpPr txBox="1"/>
          <p:nvPr/>
        </p:nvSpPr>
        <p:spPr>
          <a:xfrm>
            <a:off x="7524139" y="3028490"/>
            <a:ext cx="15720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하수처리장 </a:t>
            </a:r>
            <a:r>
              <a:rPr lang="ko-KR" altLang="en-US" sz="1200" b="1" dirty="0" err="1"/>
              <a:t>유입수</a:t>
            </a:r>
            <a:r>
              <a:rPr lang="ko-KR" altLang="en-US" sz="1200" b="1" dirty="0"/>
              <a:t> 및 </a:t>
            </a:r>
            <a:r>
              <a:rPr lang="ko-KR" altLang="en-US" sz="1200" b="1" dirty="0" err="1"/>
              <a:t>방류수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오염원 주변 지류 및 본류 </a:t>
            </a:r>
            <a:r>
              <a:rPr lang="ko-KR" altLang="en-US" sz="1200" b="1" dirty="0" err="1"/>
              <a:t>유입수</a:t>
            </a:r>
            <a:r>
              <a:rPr lang="ko-KR" altLang="en-US" sz="1200" b="1" dirty="0"/>
              <a:t> 및 </a:t>
            </a:r>
            <a:r>
              <a:rPr lang="ko-KR" altLang="en-US" sz="1200" b="1" dirty="0" err="1"/>
              <a:t>방류수</a:t>
            </a:r>
            <a:r>
              <a:rPr lang="ko-KR" altLang="en-US" sz="1200" b="1" dirty="0"/>
              <a:t> 등 취합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A20B2AF-98D8-5D19-AE15-238B16544784}"/>
              </a:ext>
            </a:extLst>
          </p:cNvPr>
          <p:cNvSpPr txBox="1"/>
          <p:nvPr/>
        </p:nvSpPr>
        <p:spPr>
          <a:xfrm>
            <a:off x="7524139" y="4133371"/>
            <a:ext cx="146002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퇴비</a:t>
            </a:r>
            <a:r>
              <a:rPr lang="en-US" altLang="ko-KR" sz="1200" b="1" dirty="0"/>
              <a:t>(</a:t>
            </a:r>
            <a:r>
              <a:rPr lang="ko-KR" altLang="en-US" sz="1200" b="1" dirty="0" err="1"/>
              <a:t>부숙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적치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시판</a:t>
            </a:r>
            <a:r>
              <a:rPr lang="en-US" altLang="ko-KR" sz="1200" b="1" dirty="0"/>
              <a:t>, </a:t>
            </a:r>
            <a:r>
              <a:rPr lang="ko-KR" altLang="en-US" sz="1200" b="1" dirty="0" err="1"/>
              <a:t>우분</a:t>
            </a:r>
            <a:r>
              <a:rPr lang="en-US" altLang="ko-KR" sz="1200" b="1" dirty="0"/>
              <a:t>, </a:t>
            </a:r>
            <a:r>
              <a:rPr lang="ko-KR" altLang="en-US" sz="1200" b="1" dirty="0" err="1"/>
              <a:t>돈분</a:t>
            </a:r>
            <a:r>
              <a:rPr lang="ko-KR" altLang="en-US" sz="1200" b="1" dirty="0"/>
              <a:t> 등</a:t>
            </a:r>
            <a:r>
              <a:rPr lang="en-US" altLang="ko-KR" sz="1200" b="1" dirty="0"/>
              <a:t>), </a:t>
            </a:r>
            <a:r>
              <a:rPr lang="ko-KR" altLang="en-US" sz="1200" b="1" dirty="0"/>
              <a:t>가축분뇨</a:t>
            </a:r>
            <a:r>
              <a:rPr lang="en-US" altLang="ko-KR" sz="1200" b="1"/>
              <a:t>, </a:t>
            </a:r>
          </a:p>
          <a:p>
            <a:r>
              <a:rPr lang="ko-KR" altLang="en-US" sz="1200" b="1"/>
              <a:t>퇴비 </a:t>
            </a:r>
            <a:r>
              <a:rPr lang="ko-KR" altLang="en-US" sz="1200" b="1" dirty="0" err="1"/>
              <a:t>유출수</a:t>
            </a:r>
            <a:r>
              <a:rPr lang="en-US" altLang="ko-KR" sz="1200" b="1" dirty="0"/>
              <a:t>, </a:t>
            </a:r>
            <a:r>
              <a:rPr lang="ko-KR" altLang="en-US" sz="1200" b="1" dirty="0" err="1"/>
              <a:t>가축처리수</a:t>
            </a:r>
            <a:r>
              <a:rPr lang="ko-KR" altLang="en-US" sz="1200" b="1" dirty="0"/>
              <a:t> 등 취합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7FDF7B-D64B-DD48-C810-78E6B0161097}"/>
              </a:ext>
            </a:extLst>
          </p:cNvPr>
          <p:cNvSpPr txBox="1"/>
          <p:nvPr/>
        </p:nvSpPr>
        <p:spPr>
          <a:xfrm>
            <a:off x="7510276" y="5254429"/>
            <a:ext cx="15109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err="1"/>
              <a:t>유출수</a:t>
            </a:r>
            <a:r>
              <a:rPr lang="en-US" altLang="ko-KR" sz="1200" b="1" dirty="0"/>
              <a:t>(</a:t>
            </a:r>
            <a:r>
              <a:rPr lang="ko-KR" altLang="en-US" sz="1200" b="1" dirty="0"/>
              <a:t>밭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퇴비</a:t>
            </a:r>
            <a:r>
              <a:rPr lang="en-US" altLang="ko-KR" sz="1200" b="1"/>
              <a:t>, </a:t>
            </a:r>
          </a:p>
          <a:p>
            <a:r>
              <a:rPr lang="ko-KR" altLang="en-US" sz="1200" b="1"/>
              <a:t>과수원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논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배수로 등</a:t>
            </a:r>
            <a:r>
              <a:rPr lang="en-US" altLang="ko-KR" sz="1200" b="1" dirty="0"/>
              <a:t>), </a:t>
            </a:r>
            <a:r>
              <a:rPr lang="ko-KR" altLang="en-US" sz="1200" b="1" dirty="0"/>
              <a:t>토양</a:t>
            </a:r>
            <a:r>
              <a:rPr lang="en-US" altLang="ko-KR" sz="1200" b="1" dirty="0"/>
              <a:t>(</a:t>
            </a:r>
            <a:r>
              <a:rPr lang="ko-KR" altLang="en-US" sz="1200" b="1" dirty="0"/>
              <a:t>밭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논 등</a:t>
            </a:r>
            <a:r>
              <a:rPr lang="en-US" altLang="ko-KR" sz="1200" b="1" dirty="0"/>
              <a:t>), </a:t>
            </a:r>
            <a:r>
              <a:rPr lang="ko-KR" altLang="en-US" sz="1200" b="1" dirty="0"/>
              <a:t>비닐하우스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비료</a:t>
            </a:r>
            <a:r>
              <a:rPr lang="en-US" altLang="ko-KR" sz="1200" b="1" dirty="0"/>
              <a:t>(</a:t>
            </a:r>
            <a:r>
              <a:rPr lang="ko-KR" altLang="en-US" sz="1200" b="1" dirty="0"/>
              <a:t>화학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복합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시판 등</a:t>
            </a:r>
            <a:r>
              <a:rPr lang="en-US" altLang="ko-KR" sz="1200" b="1" dirty="0"/>
              <a:t>) </a:t>
            </a:r>
            <a:r>
              <a:rPr lang="ko-KR" altLang="en-US" sz="1200" b="1" dirty="0"/>
              <a:t>등 취합</a:t>
            </a:r>
          </a:p>
        </p:txBody>
      </p:sp>
      <p:sp>
        <p:nvSpPr>
          <p:cNvPr id="84" name="화살표: 오른쪽 83">
            <a:extLst>
              <a:ext uri="{FF2B5EF4-FFF2-40B4-BE49-F238E27FC236}">
                <a16:creationId xmlns:a16="http://schemas.microsoft.com/office/drawing/2014/main" id="{5AD7AB68-9B71-E63C-4484-BF20F2A2506E}"/>
              </a:ext>
            </a:extLst>
          </p:cNvPr>
          <p:cNvSpPr/>
          <p:nvPr/>
        </p:nvSpPr>
        <p:spPr>
          <a:xfrm>
            <a:off x="7216958" y="1392356"/>
            <a:ext cx="344365" cy="229694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4" name="화살표: 오른쪽 93">
            <a:extLst>
              <a:ext uri="{FF2B5EF4-FFF2-40B4-BE49-F238E27FC236}">
                <a16:creationId xmlns:a16="http://schemas.microsoft.com/office/drawing/2014/main" id="{A934D374-8811-5D91-AC89-5497152E45D5}"/>
              </a:ext>
            </a:extLst>
          </p:cNvPr>
          <p:cNvSpPr/>
          <p:nvPr/>
        </p:nvSpPr>
        <p:spPr>
          <a:xfrm rot="6677494">
            <a:off x="1995081" y="2753809"/>
            <a:ext cx="1950058" cy="289211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9CBDD45-A345-F7BF-A76B-2C2F92AF1C89}"/>
              </a:ext>
            </a:extLst>
          </p:cNvPr>
          <p:cNvSpPr txBox="1"/>
          <p:nvPr/>
        </p:nvSpPr>
        <p:spPr>
          <a:xfrm>
            <a:off x="171366" y="3458787"/>
            <a:ext cx="25006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3. </a:t>
            </a:r>
            <a:r>
              <a:rPr lang="ko-KR" altLang="en-US" b="1" dirty="0"/>
              <a:t>오염원별 대표 시료 선별 및 검증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04BF8F91-4B57-F7BA-D5FF-2009F9AED806}"/>
              </a:ext>
            </a:extLst>
          </p:cNvPr>
          <p:cNvSpPr txBox="1"/>
          <p:nvPr/>
        </p:nvSpPr>
        <p:spPr>
          <a:xfrm>
            <a:off x="195572" y="4173066"/>
            <a:ext cx="171813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통계적 기법</a:t>
            </a:r>
            <a:r>
              <a:rPr lang="en-US" altLang="ko-KR" sz="1600" b="1" dirty="0"/>
              <a:t>, Kendall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plot</a:t>
            </a:r>
            <a:r>
              <a:rPr lang="ko-KR" altLang="en-US" sz="1600" b="1" dirty="0"/>
              <a:t> 등 검증된 오염원 영역 정보 활용</a:t>
            </a:r>
          </a:p>
        </p:txBody>
      </p:sp>
      <p:pic>
        <p:nvPicPr>
          <p:cNvPr id="102" name="그림 101">
            <a:extLst>
              <a:ext uri="{FF2B5EF4-FFF2-40B4-BE49-F238E27FC236}">
                <a16:creationId xmlns:a16="http://schemas.microsoft.com/office/drawing/2014/main" id="{36A14463-D81B-4E1E-4F07-D0A47319FD4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124" y="4017065"/>
            <a:ext cx="970379" cy="654857"/>
          </a:xfrm>
          <a:prstGeom prst="rect">
            <a:avLst/>
          </a:prstGeom>
        </p:spPr>
      </p:pic>
      <p:pic>
        <p:nvPicPr>
          <p:cNvPr id="104" name="그림 103">
            <a:extLst>
              <a:ext uri="{FF2B5EF4-FFF2-40B4-BE49-F238E27FC236}">
                <a16:creationId xmlns:a16="http://schemas.microsoft.com/office/drawing/2014/main" id="{3E98121B-A6CD-887B-3951-C849F02F6D5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9443" y="4747607"/>
            <a:ext cx="790685" cy="676369"/>
          </a:xfrm>
          <a:prstGeom prst="rect">
            <a:avLst/>
          </a:prstGeom>
        </p:spPr>
      </p:pic>
      <p:sp>
        <p:nvSpPr>
          <p:cNvPr id="108" name="화살표: 오른쪽 107">
            <a:extLst>
              <a:ext uri="{FF2B5EF4-FFF2-40B4-BE49-F238E27FC236}">
                <a16:creationId xmlns:a16="http://schemas.microsoft.com/office/drawing/2014/main" id="{B8DE79AF-E212-C357-77D3-0C6866245AB5}"/>
              </a:ext>
            </a:extLst>
          </p:cNvPr>
          <p:cNvSpPr/>
          <p:nvPr/>
        </p:nvSpPr>
        <p:spPr>
          <a:xfrm rot="2384157">
            <a:off x="2477785" y="4829228"/>
            <a:ext cx="525835" cy="311421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089AAC6D-FF19-53B1-403C-D40DDD9CDC60}"/>
              </a:ext>
            </a:extLst>
          </p:cNvPr>
          <p:cNvSpPr txBox="1"/>
          <p:nvPr/>
        </p:nvSpPr>
        <p:spPr>
          <a:xfrm>
            <a:off x="3043716" y="4127256"/>
            <a:ext cx="25629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4. </a:t>
            </a:r>
            <a:r>
              <a:rPr lang="ko-KR" altLang="en-US" b="1" dirty="0"/>
              <a:t>오염원별 질산염 </a:t>
            </a:r>
            <a:endParaRPr lang="en-US" altLang="ko-KR" b="1" dirty="0"/>
          </a:p>
          <a:p>
            <a:r>
              <a:rPr lang="ko-KR" altLang="en-US" b="1"/>
              <a:t>안정동위원소비 </a:t>
            </a:r>
            <a:endParaRPr lang="en-US" altLang="ko-KR" b="1"/>
          </a:p>
          <a:p>
            <a:r>
              <a:rPr lang="ko-KR" altLang="en-US" b="1"/>
              <a:t>대푯값 </a:t>
            </a:r>
            <a:r>
              <a:rPr lang="ko-KR" altLang="en-US" b="1" dirty="0"/>
              <a:t>결정</a:t>
            </a:r>
          </a:p>
        </p:txBody>
      </p:sp>
      <p:sp>
        <p:nvSpPr>
          <p:cNvPr id="122" name="화살표: 오른쪽 121">
            <a:extLst>
              <a:ext uri="{FF2B5EF4-FFF2-40B4-BE49-F238E27FC236}">
                <a16:creationId xmlns:a16="http://schemas.microsoft.com/office/drawing/2014/main" id="{9A366C93-69A7-01ED-9122-1E8D33725FAB}"/>
              </a:ext>
            </a:extLst>
          </p:cNvPr>
          <p:cNvSpPr/>
          <p:nvPr/>
        </p:nvSpPr>
        <p:spPr>
          <a:xfrm>
            <a:off x="7216958" y="2333971"/>
            <a:ext cx="344365" cy="229694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4" name="화살표: 오른쪽 123">
            <a:extLst>
              <a:ext uri="{FF2B5EF4-FFF2-40B4-BE49-F238E27FC236}">
                <a16:creationId xmlns:a16="http://schemas.microsoft.com/office/drawing/2014/main" id="{18A16148-BBDE-1898-3EFF-B2F8D82D2552}"/>
              </a:ext>
            </a:extLst>
          </p:cNvPr>
          <p:cNvSpPr/>
          <p:nvPr/>
        </p:nvSpPr>
        <p:spPr>
          <a:xfrm>
            <a:off x="7217338" y="3395689"/>
            <a:ext cx="344365" cy="229694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6" name="화살표: 오른쪽 125">
            <a:extLst>
              <a:ext uri="{FF2B5EF4-FFF2-40B4-BE49-F238E27FC236}">
                <a16:creationId xmlns:a16="http://schemas.microsoft.com/office/drawing/2014/main" id="{3D743A34-7267-A8CA-7794-735C5FBCBCBE}"/>
              </a:ext>
            </a:extLst>
          </p:cNvPr>
          <p:cNvSpPr/>
          <p:nvPr/>
        </p:nvSpPr>
        <p:spPr>
          <a:xfrm>
            <a:off x="7230038" y="4515933"/>
            <a:ext cx="344365" cy="229694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8" name="화살표: 오른쪽 127">
            <a:extLst>
              <a:ext uri="{FF2B5EF4-FFF2-40B4-BE49-F238E27FC236}">
                <a16:creationId xmlns:a16="http://schemas.microsoft.com/office/drawing/2014/main" id="{1E72F3E9-0901-6EFA-662F-37E8756BAC2F}"/>
              </a:ext>
            </a:extLst>
          </p:cNvPr>
          <p:cNvSpPr/>
          <p:nvPr/>
        </p:nvSpPr>
        <p:spPr>
          <a:xfrm>
            <a:off x="7233823" y="5674998"/>
            <a:ext cx="344365" cy="229694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8" name="사각형: 둥근 모서리 64">
            <a:extLst>
              <a:ext uri="{FF2B5EF4-FFF2-40B4-BE49-F238E27FC236}">
                <a16:creationId xmlns:a16="http://schemas.microsoft.com/office/drawing/2014/main" id="{7328D3DB-11ED-BB7D-BF8E-472B22E452B5}"/>
              </a:ext>
            </a:extLst>
          </p:cNvPr>
          <p:cNvSpPr/>
          <p:nvPr/>
        </p:nvSpPr>
        <p:spPr>
          <a:xfrm>
            <a:off x="9074742" y="1305900"/>
            <a:ext cx="1558936" cy="36752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사각형: 둥근 모서리 66">
            <a:extLst>
              <a:ext uri="{FF2B5EF4-FFF2-40B4-BE49-F238E27FC236}">
                <a16:creationId xmlns:a16="http://schemas.microsoft.com/office/drawing/2014/main" id="{C64698A1-02B4-DDF5-66D1-D120554F3B63}"/>
              </a:ext>
            </a:extLst>
          </p:cNvPr>
          <p:cNvSpPr/>
          <p:nvPr/>
        </p:nvSpPr>
        <p:spPr>
          <a:xfrm>
            <a:off x="9082933" y="2287177"/>
            <a:ext cx="1550745" cy="34000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사각형: 둥근 모서리 68">
            <a:extLst>
              <a:ext uri="{FF2B5EF4-FFF2-40B4-BE49-F238E27FC236}">
                <a16:creationId xmlns:a16="http://schemas.microsoft.com/office/drawing/2014/main" id="{EA574581-2ED3-A283-719E-EDE310D17109}"/>
              </a:ext>
            </a:extLst>
          </p:cNvPr>
          <p:cNvSpPr/>
          <p:nvPr/>
        </p:nvSpPr>
        <p:spPr>
          <a:xfrm>
            <a:off x="9074743" y="3304863"/>
            <a:ext cx="1558935" cy="37489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사각형: 둥근 모서리 70">
            <a:extLst>
              <a:ext uri="{FF2B5EF4-FFF2-40B4-BE49-F238E27FC236}">
                <a16:creationId xmlns:a16="http://schemas.microsoft.com/office/drawing/2014/main" id="{D2E3559F-540C-6AA0-0898-91DD16D205FB}"/>
              </a:ext>
            </a:extLst>
          </p:cNvPr>
          <p:cNvSpPr/>
          <p:nvPr/>
        </p:nvSpPr>
        <p:spPr>
          <a:xfrm>
            <a:off x="9074742" y="4427007"/>
            <a:ext cx="1558936" cy="34900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사각형: 둥근 모서리 72">
            <a:extLst>
              <a:ext uri="{FF2B5EF4-FFF2-40B4-BE49-F238E27FC236}">
                <a16:creationId xmlns:a16="http://schemas.microsoft.com/office/drawing/2014/main" id="{5C9069BD-75CB-51C7-4A8D-71EECE0F46A7}"/>
              </a:ext>
            </a:extLst>
          </p:cNvPr>
          <p:cNvSpPr/>
          <p:nvPr/>
        </p:nvSpPr>
        <p:spPr>
          <a:xfrm>
            <a:off x="9074743" y="5569125"/>
            <a:ext cx="1558935" cy="58358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/>
          <p:cNvSpPr/>
          <p:nvPr/>
        </p:nvSpPr>
        <p:spPr>
          <a:xfrm>
            <a:off x="9066523" y="688645"/>
            <a:ext cx="1567155" cy="27366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/>
              <a:t>최종 오염원 범주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D233087-0907-BB18-F4FB-6776C038066C}"/>
              </a:ext>
            </a:extLst>
          </p:cNvPr>
          <p:cNvSpPr txBox="1"/>
          <p:nvPr/>
        </p:nvSpPr>
        <p:spPr>
          <a:xfrm>
            <a:off x="9116357" y="2319871"/>
            <a:ext cx="1570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/>
              <a:t>강우</a:t>
            </a:r>
            <a:endParaRPr lang="ko-KR" altLang="en-US" sz="1200" b="1" dirty="0"/>
          </a:p>
        </p:txBody>
      </p:sp>
      <p:sp>
        <p:nvSpPr>
          <p:cNvPr id="3" name="오른쪽 화살표 2"/>
          <p:cNvSpPr/>
          <p:nvPr/>
        </p:nvSpPr>
        <p:spPr>
          <a:xfrm>
            <a:off x="8855351" y="1414572"/>
            <a:ext cx="239607" cy="151953"/>
          </a:xfrm>
          <a:prstGeom prst="right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오른쪽 화살표 80"/>
          <p:cNvSpPr/>
          <p:nvPr/>
        </p:nvSpPr>
        <p:spPr>
          <a:xfrm>
            <a:off x="8931346" y="2368492"/>
            <a:ext cx="239607" cy="151953"/>
          </a:xfrm>
          <a:prstGeom prst="right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오른쪽 화살표 82"/>
          <p:cNvSpPr/>
          <p:nvPr/>
        </p:nvSpPr>
        <p:spPr>
          <a:xfrm>
            <a:off x="8931346" y="3420334"/>
            <a:ext cx="239607" cy="151953"/>
          </a:xfrm>
          <a:prstGeom prst="right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오른쪽 화살표 84"/>
          <p:cNvSpPr/>
          <p:nvPr/>
        </p:nvSpPr>
        <p:spPr>
          <a:xfrm>
            <a:off x="8931346" y="4517447"/>
            <a:ext cx="239607" cy="151953"/>
          </a:xfrm>
          <a:prstGeom prst="right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오른쪽 화살표 85"/>
          <p:cNvSpPr/>
          <p:nvPr/>
        </p:nvSpPr>
        <p:spPr>
          <a:xfrm>
            <a:off x="8942951" y="5828715"/>
            <a:ext cx="239607" cy="151953"/>
          </a:xfrm>
          <a:prstGeom prst="right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0227597-E9F4-04B1-80CB-9A5C3F9AD72C}"/>
              </a:ext>
            </a:extLst>
          </p:cNvPr>
          <p:cNvSpPr txBox="1"/>
          <p:nvPr/>
        </p:nvSpPr>
        <p:spPr>
          <a:xfrm>
            <a:off x="2991958" y="2704000"/>
            <a:ext cx="26320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/>
              <a:t>논문리뷰 </a:t>
            </a:r>
            <a:r>
              <a:rPr lang="en-US" altLang="ko-KR" sz="1600" b="1"/>
              <a:t>73</a:t>
            </a:r>
            <a:r>
              <a:rPr lang="ko-KR" altLang="en-US" sz="1600" b="1"/>
              <a:t>개</a:t>
            </a:r>
            <a:r>
              <a:rPr lang="en-US" altLang="ko-KR" sz="1400" b="1"/>
              <a:t>(</a:t>
            </a:r>
            <a:r>
              <a:rPr lang="ko-KR" altLang="en-US" sz="1400" b="1"/>
              <a:t>화학비료</a:t>
            </a:r>
            <a:r>
              <a:rPr lang="en-US" altLang="ko-KR" sz="1400" b="1"/>
              <a:t>)</a:t>
            </a:r>
          </a:p>
          <a:p>
            <a:r>
              <a:rPr lang="ko-KR" altLang="en-US" sz="1600" b="1"/>
              <a:t>센터 수행 연구과제 </a:t>
            </a:r>
            <a:r>
              <a:rPr lang="en-US" altLang="ko-KR" sz="1600" b="1"/>
              <a:t>307</a:t>
            </a:r>
            <a:r>
              <a:rPr lang="ko-KR" altLang="en-US" sz="1600" b="1"/>
              <a:t>개</a:t>
            </a:r>
            <a:endParaRPr lang="ko-KR" altLang="en-US" sz="1600" b="1" dirty="0"/>
          </a:p>
        </p:txBody>
      </p:sp>
      <p:sp>
        <p:nvSpPr>
          <p:cNvPr id="4" name="아래쪽 화살표 3"/>
          <p:cNvSpPr/>
          <p:nvPr/>
        </p:nvSpPr>
        <p:spPr>
          <a:xfrm>
            <a:off x="3890910" y="2189333"/>
            <a:ext cx="589429" cy="492751"/>
          </a:xfrm>
          <a:prstGeom prst="down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4D233087-0907-BB18-F4FB-6776C038066C}"/>
              </a:ext>
            </a:extLst>
          </p:cNvPr>
          <p:cNvSpPr txBox="1"/>
          <p:nvPr/>
        </p:nvSpPr>
        <p:spPr>
          <a:xfrm>
            <a:off x="9062754" y="1358730"/>
            <a:ext cx="1570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/>
              <a:t>토양</a:t>
            </a:r>
            <a:r>
              <a:rPr lang="en-US" altLang="ko-KR" sz="1200" b="1"/>
              <a:t>-</a:t>
            </a:r>
            <a:r>
              <a:rPr lang="ko-KR" altLang="en-US" sz="1200" b="1"/>
              <a:t>질소 기원</a:t>
            </a:r>
            <a:endParaRPr lang="ko-KR" altLang="en-US" sz="1000" b="1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4D233087-0907-BB18-F4FB-6776C038066C}"/>
              </a:ext>
            </a:extLst>
          </p:cNvPr>
          <p:cNvSpPr txBox="1"/>
          <p:nvPr/>
        </p:nvSpPr>
        <p:spPr>
          <a:xfrm>
            <a:off x="9102539" y="3365150"/>
            <a:ext cx="16831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/>
              <a:t>생활하수</a:t>
            </a:r>
            <a:r>
              <a:rPr lang="en-US" altLang="ko-KR" sz="1000" b="1"/>
              <a:t>(</a:t>
            </a:r>
            <a:r>
              <a:rPr lang="ko-KR" altLang="en-US" sz="1000" b="1"/>
              <a:t>분뇨</a:t>
            </a:r>
            <a:r>
              <a:rPr lang="en-US" altLang="ko-KR" sz="1000" b="1"/>
              <a:t>?)</a:t>
            </a:r>
            <a:endParaRPr lang="ko-KR" altLang="en-US" sz="1000" b="1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4D233087-0907-BB18-F4FB-6776C038066C}"/>
              </a:ext>
            </a:extLst>
          </p:cNvPr>
          <p:cNvSpPr txBox="1"/>
          <p:nvPr/>
        </p:nvSpPr>
        <p:spPr>
          <a:xfrm>
            <a:off x="9111759" y="4464395"/>
            <a:ext cx="1570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/>
              <a:t>축산분뇨</a:t>
            </a:r>
            <a:endParaRPr lang="ko-KR" altLang="en-US" sz="1000" b="1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D233087-0907-BB18-F4FB-6776C038066C}"/>
              </a:ext>
            </a:extLst>
          </p:cNvPr>
          <p:cNvSpPr txBox="1"/>
          <p:nvPr/>
        </p:nvSpPr>
        <p:spPr>
          <a:xfrm>
            <a:off x="9120170" y="5602047"/>
            <a:ext cx="1570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/>
              <a:t>화학비료</a:t>
            </a:r>
            <a:endParaRPr lang="ko-KR" altLang="en-US" sz="1000" b="1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4D233087-0907-BB18-F4FB-6776C038066C}"/>
              </a:ext>
            </a:extLst>
          </p:cNvPr>
          <p:cNvSpPr txBox="1"/>
          <p:nvPr/>
        </p:nvSpPr>
        <p:spPr>
          <a:xfrm>
            <a:off x="9120297" y="5875715"/>
            <a:ext cx="16713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/>
              <a:t>유기질비료</a:t>
            </a:r>
            <a:r>
              <a:rPr lang="en-US" altLang="ko-KR" sz="1000" b="1"/>
              <a:t>(</a:t>
            </a:r>
            <a:r>
              <a:rPr lang="ko-KR" altLang="en-US" sz="1000" b="1"/>
              <a:t>퇴비</a:t>
            </a:r>
            <a:r>
              <a:rPr lang="en-US" altLang="ko-KR" sz="1000" b="1"/>
              <a:t>)</a:t>
            </a:r>
            <a:endParaRPr lang="ko-KR" altLang="en-US" sz="1000" b="1" dirty="0"/>
          </a:p>
        </p:txBody>
      </p:sp>
      <p:sp>
        <p:nvSpPr>
          <p:cNvPr id="107" name="직사각형 106"/>
          <p:cNvSpPr/>
          <p:nvPr/>
        </p:nvSpPr>
        <p:spPr>
          <a:xfrm>
            <a:off x="5861310" y="688645"/>
            <a:ext cx="1479459" cy="26176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/>
              <a:t>구분</a:t>
            </a:r>
          </a:p>
        </p:txBody>
      </p:sp>
      <p:sp>
        <p:nvSpPr>
          <p:cNvPr id="109" name="직사각형 108"/>
          <p:cNvSpPr/>
          <p:nvPr/>
        </p:nvSpPr>
        <p:spPr>
          <a:xfrm>
            <a:off x="7423839" y="688645"/>
            <a:ext cx="1591753" cy="26929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/>
              <a:t>오염원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9432" y="5060287"/>
            <a:ext cx="2294870" cy="595394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2348" y="5721148"/>
            <a:ext cx="1398000" cy="582972"/>
          </a:xfrm>
          <a:prstGeom prst="rect">
            <a:avLst/>
          </a:prstGeom>
        </p:spPr>
      </p:pic>
      <p:sp>
        <p:nvSpPr>
          <p:cNvPr id="87" name="직사각형 86"/>
          <p:cNvSpPr/>
          <p:nvPr/>
        </p:nvSpPr>
        <p:spPr>
          <a:xfrm>
            <a:off x="10692689" y="691890"/>
            <a:ext cx="1435144" cy="27366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/>
              <a:t>Kendall plot</a:t>
            </a:r>
            <a:endParaRPr lang="ko-KR" altLang="en-US" sz="1400" b="1"/>
          </a:p>
        </p:txBody>
      </p:sp>
      <p:sp>
        <p:nvSpPr>
          <p:cNvPr id="89" name="사각형: 둥근 모서리 64">
            <a:extLst>
              <a:ext uri="{FF2B5EF4-FFF2-40B4-BE49-F238E27FC236}">
                <a16:creationId xmlns:a16="http://schemas.microsoft.com/office/drawing/2014/main" id="{7328D3DB-11ED-BB7D-BF8E-472B22E452B5}"/>
              </a:ext>
            </a:extLst>
          </p:cNvPr>
          <p:cNvSpPr/>
          <p:nvPr/>
        </p:nvSpPr>
        <p:spPr>
          <a:xfrm>
            <a:off x="10691094" y="1313864"/>
            <a:ext cx="1436739" cy="36752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사각형: 둥근 모서리 66">
            <a:extLst>
              <a:ext uri="{FF2B5EF4-FFF2-40B4-BE49-F238E27FC236}">
                <a16:creationId xmlns:a16="http://schemas.microsoft.com/office/drawing/2014/main" id="{C64698A1-02B4-DDF5-66D1-D120554F3B63}"/>
              </a:ext>
            </a:extLst>
          </p:cNvPr>
          <p:cNvSpPr/>
          <p:nvPr/>
        </p:nvSpPr>
        <p:spPr>
          <a:xfrm>
            <a:off x="10691094" y="2287177"/>
            <a:ext cx="1436739" cy="34000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1" name="사각형: 둥근 모서리 68">
            <a:extLst>
              <a:ext uri="{FF2B5EF4-FFF2-40B4-BE49-F238E27FC236}">
                <a16:creationId xmlns:a16="http://schemas.microsoft.com/office/drawing/2014/main" id="{EA574581-2ED3-A283-719E-EDE310D17109}"/>
              </a:ext>
            </a:extLst>
          </p:cNvPr>
          <p:cNvSpPr/>
          <p:nvPr/>
        </p:nvSpPr>
        <p:spPr>
          <a:xfrm>
            <a:off x="10691094" y="3304863"/>
            <a:ext cx="1436739" cy="37489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2" name="사각형: 둥근 모서리 70">
            <a:extLst>
              <a:ext uri="{FF2B5EF4-FFF2-40B4-BE49-F238E27FC236}">
                <a16:creationId xmlns:a16="http://schemas.microsoft.com/office/drawing/2014/main" id="{D2E3559F-540C-6AA0-0898-91DD16D205FB}"/>
              </a:ext>
            </a:extLst>
          </p:cNvPr>
          <p:cNvSpPr/>
          <p:nvPr/>
        </p:nvSpPr>
        <p:spPr>
          <a:xfrm>
            <a:off x="10691094" y="4427007"/>
            <a:ext cx="1436739" cy="34900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3" name="사각형: 둥근 모서리 72">
            <a:extLst>
              <a:ext uri="{FF2B5EF4-FFF2-40B4-BE49-F238E27FC236}">
                <a16:creationId xmlns:a16="http://schemas.microsoft.com/office/drawing/2014/main" id="{5C9069BD-75CB-51C7-4A8D-71EECE0F46A7}"/>
              </a:ext>
            </a:extLst>
          </p:cNvPr>
          <p:cNvSpPr/>
          <p:nvPr/>
        </p:nvSpPr>
        <p:spPr>
          <a:xfrm>
            <a:off x="10687242" y="5598259"/>
            <a:ext cx="1440591" cy="55445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4D233087-0907-BB18-F4FB-6776C038066C}"/>
              </a:ext>
            </a:extLst>
          </p:cNvPr>
          <p:cNvSpPr txBox="1"/>
          <p:nvPr/>
        </p:nvSpPr>
        <p:spPr>
          <a:xfrm>
            <a:off x="10670695" y="4464394"/>
            <a:ext cx="15709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/>
              <a:t>X</a:t>
            </a:r>
            <a:endParaRPr lang="ko-KR" altLang="en-US" sz="1000" b="1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4D233087-0907-BB18-F4FB-6776C038066C}"/>
              </a:ext>
            </a:extLst>
          </p:cNvPr>
          <p:cNvSpPr txBox="1"/>
          <p:nvPr/>
        </p:nvSpPr>
        <p:spPr>
          <a:xfrm>
            <a:off x="10670695" y="5713716"/>
            <a:ext cx="1570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/>
              <a:t>화학비료</a:t>
            </a:r>
            <a:endParaRPr lang="ko-KR" altLang="en-US" sz="1000" b="1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4D233087-0907-BB18-F4FB-6776C038066C}"/>
              </a:ext>
            </a:extLst>
          </p:cNvPr>
          <p:cNvSpPr txBox="1"/>
          <p:nvPr/>
        </p:nvSpPr>
        <p:spPr>
          <a:xfrm>
            <a:off x="10635062" y="3365149"/>
            <a:ext cx="1570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/>
              <a:t>하수</a:t>
            </a:r>
            <a:r>
              <a:rPr lang="en-US" altLang="ko-KR" sz="1200" b="1">
                <a:latin typeface="MS Gothic" panose="020B0609070205080204" pitchFamily="49" charset="-128"/>
                <a:ea typeface="MS Gothic" panose="020B0609070205080204" pitchFamily="49" charset="-128"/>
              </a:rPr>
              <a:t>‧</a:t>
            </a:r>
            <a:r>
              <a:rPr lang="ko-KR" altLang="en-US" sz="1200" b="1"/>
              <a:t>분뇨</a:t>
            </a:r>
            <a:endParaRPr lang="ko-KR" altLang="en-US" sz="1000" b="1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4D233087-0907-BB18-F4FB-6776C038066C}"/>
              </a:ext>
            </a:extLst>
          </p:cNvPr>
          <p:cNvSpPr txBox="1"/>
          <p:nvPr/>
        </p:nvSpPr>
        <p:spPr>
          <a:xfrm>
            <a:off x="10635062" y="2311907"/>
            <a:ext cx="1570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/>
              <a:t>강우</a:t>
            </a:r>
            <a:endParaRPr lang="ko-KR" altLang="en-US" sz="1200" b="1" dirty="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4D233087-0907-BB18-F4FB-6776C038066C}"/>
              </a:ext>
            </a:extLst>
          </p:cNvPr>
          <p:cNvSpPr txBox="1"/>
          <p:nvPr/>
        </p:nvSpPr>
        <p:spPr>
          <a:xfrm>
            <a:off x="10635062" y="1358730"/>
            <a:ext cx="1570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/>
              <a:t>토양</a:t>
            </a:r>
            <a:r>
              <a:rPr lang="en-US" altLang="ko-KR" sz="1200" b="1"/>
              <a:t>-</a:t>
            </a:r>
            <a:r>
              <a:rPr lang="ko-KR" altLang="en-US" sz="1200" b="1"/>
              <a:t>질소</a:t>
            </a:r>
            <a:endParaRPr lang="ko-KR" altLang="en-US" sz="1000" b="1" dirty="0"/>
          </a:p>
        </p:txBody>
      </p:sp>
      <p:sp>
        <p:nvSpPr>
          <p:cNvPr id="21" name="타원 20"/>
          <p:cNvSpPr/>
          <p:nvPr/>
        </p:nvSpPr>
        <p:spPr>
          <a:xfrm>
            <a:off x="9154324" y="5828715"/>
            <a:ext cx="1228768" cy="41154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7" name="구부러진 연결선 26"/>
          <p:cNvCxnSpPr>
            <a:stCxn id="101" idx="2"/>
            <a:endCxn id="21" idx="7"/>
          </p:cNvCxnSpPr>
          <p:nvPr/>
        </p:nvCxnSpPr>
        <p:spPr>
          <a:xfrm rot="16200000" flipH="1">
            <a:off x="9476387" y="5162228"/>
            <a:ext cx="1147590" cy="305922"/>
          </a:xfrm>
          <a:prstGeom prst="curvedConnector3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6784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65734722-863F-7091-FC1A-6CF1F3E9DA6F}"/>
              </a:ext>
            </a:extLst>
          </p:cNvPr>
          <p:cNvSpPr/>
          <p:nvPr/>
        </p:nvSpPr>
        <p:spPr>
          <a:xfrm>
            <a:off x="72103" y="1727487"/>
            <a:ext cx="2872218" cy="4095796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5E1364-CEF8-DAB8-7612-2635E6993BD9}"/>
              </a:ext>
            </a:extLst>
          </p:cNvPr>
          <p:cNvSpPr txBox="1"/>
          <p:nvPr/>
        </p:nvSpPr>
        <p:spPr>
          <a:xfrm>
            <a:off x="1152922" y="26883"/>
            <a:ext cx="10036214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정성적</a:t>
            </a:r>
            <a:r>
              <a:rPr lang="en-US" altLang="ko-KR" sz="2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정량적</a:t>
            </a:r>
            <a:r>
              <a:rPr lang="en-US" altLang="ko-KR" sz="2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질소 오염원 평가</a:t>
            </a:r>
            <a:r>
              <a:rPr lang="en-US" altLang="ko-KR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참고자료</a:t>
            </a:r>
            <a:r>
              <a:rPr lang="en-US" altLang="ko-KR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lang="ko-KR" altLang="en-US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기술 검토용 세부 프로세스</a:t>
            </a:r>
            <a:r>
              <a:rPr lang="en-US" altLang="ko-KR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endParaRPr lang="ko-KR" altLang="en-US" b="1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00206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endParaRPr lang="ko-KR" altLang="en-US" sz="2600" b="1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00206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215"/>
            <a:ext cx="12153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/>
              <a:t>&lt;</a:t>
            </a:r>
            <a:r>
              <a:rPr lang="ko-KR" altLang="en-US" sz="2000" b="1" dirty="0"/>
              <a:t>붙임</a:t>
            </a:r>
            <a:r>
              <a:rPr lang="en-US" altLang="ko-KR" sz="2000" b="1" dirty="0"/>
              <a:t>2&gt;</a:t>
            </a:r>
            <a:endParaRPr lang="ko-KR" altLang="en-US" sz="2000" b="1" dirty="0"/>
          </a:p>
        </p:txBody>
      </p:sp>
      <p:sp>
        <p:nvSpPr>
          <p:cNvPr id="9" name="모서리가 둥근 직사각형 8"/>
          <p:cNvSpPr/>
          <p:nvPr/>
        </p:nvSpPr>
        <p:spPr>
          <a:xfrm>
            <a:off x="72103" y="721095"/>
            <a:ext cx="7473705" cy="44184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정성적 질소 오염원 평가</a:t>
            </a:r>
            <a:endParaRPr lang="en-US" altLang="ko-KR" b="1" dirty="0">
              <a:solidFill>
                <a:schemeClr val="tx1"/>
              </a:solidFill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7795144" y="721197"/>
            <a:ext cx="4316062" cy="438132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>
                <a:solidFill>
                  <a:schemeClr val="tx1"/>
                </a:solidFill>
              </a:rPr>
              <a:t>정량적 </a:t>
            </a:r>
            <a:r>
              <a:rPr lang="ko-KR" altLang="en-US" b="1" dirty="0">
                <a:solidFill>
                  <a:schemeClr val="tx1"/>
                </a:solidFill>
              </a:rPr>
              <a:t>질소 오염원 평가</a:t>
            </a:r>
            <a:endParaRPr lang="en-US" altLang="ko-KR" b="1" dirty="0">
              <a:solidFill>
                <a:schemeClr val="tx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51818" y="1255870"/>
            <a:ext cx="418485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/>
              <a:t>문헌지식 </a:t>
            </a:r>
            <a:r>
              <a:rPr lang="ko-KR" altLang="en-US" sz="1400" b="1" dirty="0"/>
              <a:t>기반 </a:t>
            </a:r>
            <a:r>
              <a:rPr lang="en-US" altLang="ko-KR" sz="1400" b="1" dirty="0"/>
              <a:t>AI </a:t>
            </a:r>
            <a:r>
              <a:rPr lang="ko-KR" altLang="en-US" sz="1400" b="1" dirty="0"/>
              <a:t>오염원 </a:t>
            </a:r>
            <a:r>
              <a:rPr lang="ko-KR" altLang="en-US" sz="1400" b="1"/>
              <a:t>판별 시스템</a:t>
            </a:r>
            <a:endParaRPr lang="en-US" altLang="ko-KR" sz="1400" b="1"/>
          </a:p>
          <a:p>
            <a:pPr algn="ctr"/>
            <a:r>
              <a:rPr lang="en-US" altLang="ko-KR" sz="1200" b="1"/>
              <a:t>(</a:t>
            </a:r>
            <a:r>
              <a:rPr lang="ko-KR" altLang="en-US" sz="1200" b="1"/>
              <a:t>수질</a:t>
            </a:r>
            <a:r>
              <a:rPr lang="en-US" altLang="ko-KR" sz="1200" b="1"/>
              <a:t>, </a:t>
            </a:r>
            <a:r>
              <a:rPr lang="ko-KR" altLang="en-US" sz="1200" b="1"/>
              <a:t>안정동위원소 기반</a:t>
            </a:r>
            <a:r>
              <a:rPr lang="en-US" altLang="ko-KR" sz="1200" b="1"/>
              <a:t>)</a:t>
            </a:r>
            <a:endParaRPr lang="ko-KR" altLang="en-US" sz="14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2726465" y="1727487"/>
            <a:ext cx="358463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입력 모니터링 데이터 </a:t>
            </a:r>
            <a:r>
              <a:rPr lang="ko-KR" altLang="en-US" sz="1200" b="1" dirty="0" err="1"/>
              <a:t>전처리</a:t>
            </a:r>
            <a:r>
              <a:rPr lang="ko-KR" altLang="en-US" sz="1200" b="1" dirty="0"/>
              <a:t> 후 </a:t>
            </a:r>
            <a:endParaRPr lang="en-US" altLang="ko-KR" sz="1200" b="1" dirty="0"/>
          </a:p>
          <a:p>
            <a:pPr algn="ctr"/>
            <a:r>
              <a:rPr lang="ko-KR" altLang="en-US" sz="1200" b="1" dirty="0"/>
              <a:t>연구지점 군집화</a:t>
            </a:r>
            <a:endParaRPr lang="en-US" altLang="ko-KR" sz="1200" b="1" dirty="0"/>
          </a:p>
          <a:p>
            <a:pPr algn="ctr"/>
            <a:r>
              <a:rPr lang="en-US" altLang="ko-KR" sz="1000" b="1" dirty="0"/>
              <a:t>(PAM, DIANA </a:t>
            </a:r>
            <a:r>
              <a:rPr lang="ko-KR" altLang="en-US" sz="1000" b="1" dirty="0"/>
              <a:t>등 </a:t>
            </a:r>
            <a:r>
              <a:rPr lang="en-US" altLang="ko-KR" sz="1000" b="1" dirty="0"/>
              <a:t>8</a:t>
            </a:r>
            <a:r>
              <a:rPr lang="ko-KR" altLang="en-US" sz="1000" b="1" dirty="0"/>
              <a:t>종 </a:t>
            </a:r>
            <a:r>
              <a:rPr lang="en-US" altLang="ko-KR" sz="1000" b="1" dirty="0"/>
              <a:t>ML/AI </a:t>
            </a:r>
            <a:r>
              <a:rPr lang="ko-KR" altLang="en-US" sz="1000" b="1" dirty="0"/>
              <a:t>경쟁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3057210" y="2464059"/>
            <a:ext cx="308106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국내외 연구문헌 지식 기반 </a:t>
            </a:r>
            <a:endParaRPr lang="en-US" altLang="ko-KR" sz="1200" b="1" dirty="0"/>
          </a:p>
          <a:p>
            <a:pPr algn="ctr"/>
            <a:r>
              <a:rPr lang="ko-KR" altLang="en-US" sz="1200" b="1" dirty="0"/>
              <a:t>군집 및 개별지점 </a:t>
            </a:r>
            <a:r>
              <a:rPr lang="ko-KR" altLang="en-US" sz="1200" b="1"/>
              <a:t>기준 오염원 </a:t>
            </a:r>
            <a:r>
              <a:rPr lang="en-US" altLang="ko-KR" sz="1200" b="1" dirty="0"/>
              <a:t>1</a:t>
            </a:r>
            <a:r>
              <a:rPr lang="ko-KR" altLang="en-US" sz="1200" b="1" dirty="0"/>
              <a:t>차 결정</a:t>
            </a:r>
            <a:endParaRPr lang="en-US" altLang="ko-KR" sz="1200" b="1" dirty="0"/>
          </a:p>
          <a:p>
            <a:pPr algn="ctr"/>
            <a:r>
              <a:rPr lang="en-US" altLang="ko-KR" sz="1000" b="1" dirty="0"/>
              <a:t>(Gemini NLP/LLM </a:t>
            </a:r>
            <a:r>
              <a:rPr lang="ko-KR" altLang="en-US" sz="1000" b="1" dirty="0"/>
              <a:t>기반 자료 학습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3251818" y="3228244"/>
            <a:ext cx="273908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ML/AI </a:t>
            </a:r>
            <a:r>
              <a:rPr lang="ko-KR" altLang="en-US" sz="1200" b="1" dirty="0"/>
              <a:t>기반 오염원 판별 임계치 보정 및 패턴분석을 통한 최종 오염원 판별</a:t>
            </a:r>
            <a:endParaRPr lang="en-US" altLang="ko-KR" sz="1200" b="1" dirty="0"/>
          </a:p>
          <a:p>
            <a:pPr algn="ctr"/>
            <a:r>
              <a:rPr lang="en-US" altLang="ko-KR" sz="1000" b="1" dirty="0"/>
              <a:t>(</a:t>
            </a:r>
            <a:r>
              <a:rPr lang="ko-KR" altLang="en-US" sz="1000" b="1" dirty="0"/>
              <a:t>누락 가능성 높은 핵심 오염 지점 상호보정</a:t>
            </a:r>
            <a:r>
              <a:rPr lang="en-US" altLang="ko-KR" sz="1000" b="1" dirty="0"/>
              <a:t>)</a:t>
            </a:r>
          </a:p>
        </p:txBody>
      </p:sp>
      <p:sp>
        <p:nvSpPr>
          <p:cNvPr id="20" name="아래쪽 화살표 19"/>
          <p:cNvSpPr/>
          <p:nvPr/>
        </p:nvSpPr>
        <p:spPr>
          <a:xfrm>
            <a:off x="4426663" y="2321890"/>
            <a:ext cx="190574" cy="18184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3715721" y="3936388"/>
            <a:ext cx="319350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b="1"/>
              <a:t>실측자료 </a:t>
            </a:r>
            <a:r>
              <a:rPr lang="ko-KR" altLang="en-US" sz="1400" b="1" dirty="0"/>
              <a:t>기반 </a:t>
            </a:r>
            <a:r>
              <a:rPr lang="en-US" altLang="ko-KR" sz="1400" b="1" dirty="0"/>
              <a:t>AI </a:t>
            </a:r>
            <a:r>
              <a:rPr lang="ko-KR" altLang="en-US" sz="1400" b="1" dirty="0"/>
              <a:t>오염원 </a:t>
            </a:r>
            <a:r>
              <a:rPr lang="ko-KR" altLang="en-US" sz="1400" b="1"/>
              <a:t>판별 시스템</a:t>
            </a:r>
            <a:endParaRPr lang="en-US" altLang="ko-KR" sz="1400" b="1"/>
          </a:p>
          <a:p>
            <a:pPr algn="ctr"/>
            <a:r>
              <a:rPr lang="en-US" altLang="ko-KR" sz="1200" b="1"/>
              <a:t>(</a:t>
            </a:r>
            <a:r>
              <a:rPr lang="ko-KR" altLang="en-US" sz="1200" b="1"/>
              <a:t>수질</a:t>
            </a:r>
            <a:r>
              <a:rPr lang="en-US" altLang="ko-KR" sz="1200" b="1"/>
              <a:t>, </a:t>
            </a:r>
            <a:r>
              <a:rPr lang="ko-KR" altLang="en-US" sz="1200" b="1"/>
              <a:t>안정동위원소 기반</a:t>
            </a:r>
            <a:r>
              <a:rPr lang="en-US" altLang="ko-KR" sz="1200" b="1"/>
              <a:t>)</a:t>
            </a:r>
            <a:endParaRPr lang="ko-KR" altLang="en-US" sz="1200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3256202" y="4462488"/>
            <a:ext cx="2578754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입력 모니터링 데이터 및 학습용 </a:t>
            </a:r>
            <a:r>
              <a:rPr lang="ko-KR" altLang="en-US" sz="1200" b="1"/>
              <a:t>실측자료 전처리</a:t>
            </a:r>
            <a:r>
              <a:rPr lang="en-US" altLang="ko-KR" sz="1200" b="1"/>
              <a:t>, Domain </a:t>
            </a:r>
            <a:r>
              <a:rPr lang="ko-KR" altLang="en-US" sz="1200" b="1" dirty="0"/>
              <a:t>규칙 및 </a:t>
            </a:r>
            <a:r>
              <a:rPr lang="en-US" altLang="ko-KR" sz="1200" b="1" dirty="0"/>
              <a:t>AI </a:t>
            </a:r>
            <a:r>
              <a:rPr lang="ko-KR" altLang="en-US" sz="1200" b="1" dirty="0"/>
              <a:t>추론 기반 오염원 범주 </a:t>
            </a:r>
            <a:r>
              <a:rPr lang="ko-KR" altLang="en-US" sz="1200" b="1" dirty="0" err="1"/>
              <a:t>라벨링</a:t>
            </a:r>
            <a:endParaRPr lang="en-US" altLang="ko-KR" sz="1200" b="1" dirty="0"/>
          </a:p>
          <a:p>
            <a:pPr algn="ctr"/>
            <a:r>
              <a:rPr lang="en-US" altLang="ko-KR" sz="1000" b="1" dirty="0"/>
              <a:t>(Gemma/Gemini API LLM)</a:t>
            </a:r>
            <a:endParaRPr lang="ko-KR" altLang="en-US" sz="10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3417639" y="5450160"/>
            <a:ext cx="230386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Hybrid Ensemble Model </a:t>
            </a:r>
            <a:r>
              <a:rPr lang="ko-KR" altLang="en-US" sz="1200" b="1" dirty="0"/>
              <a:t>기반 </a:t>
            </a:r>
            <a:r>
              <a:rPr lang="en-US" altLang="ko-KR" sz="1200" b="1" dirty="0"/>
              <a:t>Soft voting </a:t>
            </a:r>
            <a:r>
              <a:rPr lang="ko-KR" altLang="en-US" sz="1200" b="1" dirty="0"/>
              <a:t>앙상블 학습</a:t>
            </a:r>
            <a:endParaRPr lang="en-US" altLang="ko-KR" sz="1200" b="1" dirty="0"/>
          </a:p>
          <a:p>
            <a:pPr algn="ctr"/>
            <a:r>
              <a:rPr lang="en-US" altLang="ko-KR" sz="1000" b="1" dirty="0"/>
              <a:t>(</a:t>
            </a:r>
            <a:r>
              <a:rPr lang="en-US" altLang="ko-KR" sz="1000" b="1" dirty="0" err="1"/>
              <a:t>XGBoost</a:t>
            </a:r>
            <a:r>
              <a:rPr lang="en-US" altLang="ko-KR" sz="1000" b="1" dirty="0"/>
              <a:t>, MLP </a:t>
            </a:r>
            <a:r>
              <a:rPr lang="ko-KR" altLang="en-US" sz="1000" b="1" dirty="0"/>
              <a:t>등 </a:t>
            </a:r>
            <a:r>
              <a:rPr lang="en-US" altLang="ko-KR" sz="1000" b="1" dirty="0"/>
              <a:t>22</a:t>
            </a:r>
            <a:r>
              <a:rPr lang="ko-KR" altLang="en-US" sz="1000" b="1" dirty="0"/>
              <a:t>종 </a:t>
            </a:r>
            <a:r>
              <a:rPr lang="en-US" altLang="ko-KR" sz="1000" b="1" dirty="0"/>
              <a:t>ML/AI </a:t>
            </a:r>
            <a:r>
              <a:rPr lang="ko-KR" altLang="en-US" sz="1000" b="1" dirty="0"/>
              <a:t>결합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3260052" y="6372104"/>
            <a:ext cx="27143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각 연구지점 대상 최종 오염원 판별</a:t>
            </a:r>
            <a:endParaRPr lang="en-US" altLang="ko-KR" sz="1200" b="1" dirty="0"/>
          </a:p>
        </p:txBody>
      </p:sp>
      <p:pic>
        <p:nvPicPr>
          <p:cNvPr id="27" name="그림 2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6012" y="2992127"/>
            <a:ext cx="593680" cy="236117"/>
          </a:xfrm>
          <a:prstGeom prst="rect">
            <a:avLst/>
          </a:prstGeom>
        </p:spPr>
      </p:pic>
      <p:pic>
        <p:nvPicPr>
          <p:cNvPr id="28" name="그림 2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931" y="5023411"/>
            <a:ext cx="847723" cy="248377"/>
          </a:xfrm>
          <a:prstGeom prst="rect">
            <a:avLst/>
          </a:prstGeom>
        </p:spPr>
      </p:pic>
      <p:sp>
        <p:nvSpPr>
          <p:cNvPr id="32" name="오른쪽 화살표 31"/>
          <p:cNvSpPr/>
          <p:nvPr/>
        </p:nvSpPr>
        <p:spPr>
          <a:xfrm rot="5400000">
            <a:off x="4458852" y="5259498"/>
            <a:ext cx="168896" cy="193477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6" name="그림 3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7730" y="4444656"/>
            <a:ext cx="701979" cy="499714"/>
          </a:xfrm>
          <a:prstGeom prst="rect">
            <a:avLst/>
          </a:prstGeom>
        </p:spPr>
      </p:pic>
      <p:pic>
        <p:nvPicPr>
          <p:cNvPr id="37" name="그림 3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5500" y="6153931"/>
            <a:ext cx="550191" cy="495172"/>
          </a:xfrm>
          <a:prstGeom prst="rect">
            <a:avLst/>
          </a:prstGeom>
        </p:spPr>
      </p:pic>
      <p:pic>
        <p:nvPicPr>
          <p:cNvPr id="38" name="그림 3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3943" y="4430526"/>
            <a:ext cx="739982" cy="537644"/>
          </a:xfrm>
          <a:prstGeom prst="rect">
            <a:avLst/>
          </a:prstGeom>
        </p:spPr>
      </p:pic>
      <p:pic>
        <p:nvPicPr>
          <p:cNvPr id="39" name="그림 3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1616" y="5351084"/>
            <a:ext cx="981515" cy="699996"/>
          </a:xfrm>
          <a:prstGeom prst="rect">
            <a:avLst/>
          </a:prstGeom>
        </p:spPr>
      </p:pic>
      <p:sp>
        <p:nvSpPr>
          <p:cNvPr id="40" name="모서리가 둥근 직사각형 39"/>
          <p:cNvSpPr/>
          <p:nvPr/>
        </p:nvSpPr>
        <p:spPr>
          <a:xfrm>
            <a:off x="3316450" y="1285180"/>
            <a:ext cx="4027663" cy="42838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모서리가 둥근 직사각형 40"/>
          <p:cNvSpPr/>
          <p:nvPr/>
        </p:nvSpPr>
        <p:spPr>
          <a:xfrm>
            <a:off x="171188" y="1940121"/>
            <a:ext cx="2620623" cy="85627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모서리가 둥근 직사각형 41"/>
          <p:cNvSpPr/>
          <p:nvPr/>
        </p:nvSpPr>
        <p:spPr>
          <a:xfrm>
            <a:off x="3316450" y="3953640"/>
            <a:ext cx="4027663" cy="43479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/>
          <p:cNvSpPr txBox="1"/>
          <p:nvPr/>
        </p:nvSpPr>
        <p:spPr>
          <a:xfrm>
            <a:off x="8087001" y="1360157"/>
            <a:ext cx="37799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/>
              <a:t>모델 </a:t>
            </a:r>
            <a:r>
              <a:rPr lang="ko-KR" altLang="en-US" sz="1400" b="1" dirty="0"/>
              <a:t>간 </a:t>
            </a:r>
            <a:r>
              <a:rPr lang="ko-KR" altLang="en-US" sz="1400" b="1"/>
              <a:t>교차 검증 기반 </a:t>
            </a:r>
            <a:endParaRPr lang="en-US" altLang="ko-KR" sz="1400" b="1"/>
          </a:p>
          <a:p>
            <a:pPr algn="ctr"/>
            <a:r>
              <a:rPr lang="ko-KR" altLang="en-US" sz="1400" b="1"/>
              <a:t>신속</a:t>
            </a:r>
            <a:r>
              <a:rPr lang="en-US" altLang="ko-KR" sz="1400" b="1">
                <a:latin typeface="MS Gothic" panose="020B0609070205080204" pitchFamily="49" charset="-128"/>
                <a:ea typeface="MS Gothic" panose="020B0609070205080204" pitchFamily="49" charset="-128"/>
              </a:rPr>
              <a:t>‧</a:t>
            </a:r>
            <a:r>
              <a:rPr lang="ko-KR" altLang="en-US" sz="1400" b="1"/>
              <a:t>간편 오염원 기여율 산정 방법 마련</a:t>
            </a:r>
            <a:endParaRPr lang="ko-KR" altLang="en-US" sz="1400" b="1" dirty="0"/>
          </a:p>
        </p:txBody>
      </p:sp>
      <p:sp>
        <p:nvSpPr>
          <p:cNvPr id="45" name="모서리가 둥근 직사각형 44"/>
          <p:cNvSpPr/>
          <p:nvPr/>
        </p:nvSpPr>
        <p:spPr>
          <a:xfrm>
            <a:off x="8096808" y="1317202"/>
            <a:ext cx="3794162" cy="61471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/>
          <p:cNvSpPr txBox="1"/>
          <p:nvPr/>
        </p:nvSpPr>
        <p:spPr>
          <a:xfrm>
            <a:off x="8010830" y="3391369"/>
            <a:ext cx="38982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Excel </a:t>
            </a:r>
            <a:r>
              <a:rPr lang="ko-KR" altLang="en-US" sz="1200" b="1" dirty="0"/>
              <a:t>기반의</a:t>
            </a:r>
            <a:r>
              <a:rPr lang="en-US" altLang="ko-KR" sz="1200" b="1" dirty="0"/>
              <a:t> </a:t>
            </a:r>
            <a:r>
              <a:rPr lang="ko-KR" altLang="en-US" sz="1200" b="1" dirty="0"/>
              <a:t>현장 모델 </a:t>
            </a:r>
            <a:r>
              <a:rPr lang="en-US" altLang="ko-KR" sz="1200" b="1" dirty="0"/>
              <a:t>EMMTE </a:t>
            </a:r>
            <a:r>
              <a:rPr lang="ko-KR" altLang="en-US" sz="1200" b="1" dirty="0"/>
              <a:t>및 </a:t>
            </a:r>
            <a:r>
              <a:rPr lang="en-US" altLang="ko-KR" sz="1200" b="1" dirty="0"/>
              <a:t>R language </a:t>
            </a:r>
            <a:r>
              <a:rPr lang="ko-KR" altLang="en-US" sz="1200" b="1" dirty="0"/>
              <a:t>기반 범용 모델 </a:t>
            </a:r>
            <a:r>
              <a:rPr lang="en-US" altLang="ko-KR" sz="1200" b="1" dirty="0" err="1"/>
              <a:t>MixSIAR</a:t>
            </a:r>
            <a:r>
              <a:rPr lang="en-US" altLang="ko-KR" sz="1200" b="1" dirty="0"/>
              <a:t> </a:t>
            </a:r>
            <a:r>
              <a:rPr lang="ko-KR" altLang="en-US" sz="1200" b="1" dirty="0"/>
              <a:t>간 교차 </a:t>
            </a:r>
            <a:r>
              <a:rPr lang="ko-KR" altLang="en-US" sz="1200" b="1"/>
              <a:t>검증을 통해 </a:t>
            </a:r>
            <a:r>
              <a:rPr lang="ko-KR" altLang="en-US" sz="1200" b="1" dirty="0"/>
              <a:t>질소 오염원 기여율 산정의 신뢰성 확보</a:t>
            </a:r>
            <a:endParaRPr lang="en-US" altLang="ko-KR" sz="1200" b="1" dirty="0"/>
          </a:p>
        </p:txBody>
      </p:sp>
      <p:sp>
        <p:nvSpPr>
          <p:cNvPr id="56" name="TextBox 55"/>
          <p:cNvSpPr txBox="1"/>
          <p:nvPr/>
        </p:nvSpPr>
        <p:spPr>
          <a:xfrm>
            <a:off x="9014190" y="4718673"/>
            <a:ext cx="19255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/>
              <a:t>오염원별 </a:t>
            </a:r>
            <a:r>
              <a:rPr lang="ko-KR" altLang="en-US" sz="1400" b="1" dirty="0"/>
              <a:t>기여율 산정</a:t>
            </a:r>
          </a:p>
        </p:txBody>
      </p:sp>
      <p:sp>
        <p:nvSpPr>
          <p:cNvPr id="58" name="모서리가 둥근 직사각형 57"/>
          <p:cNvSpPr/>
          <p:nvPr/>
        </p:nvSpPr>
        <p:spPr>
          <a:xfrm>
            <a:off x="8890261" y="4752394"/>
            <a:ext cx="2173386" cy="24645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TextBox 59"/>
          <p:cNvSpPr txBox="1"/>
          <p:nvPr/>
        </p:nvSpPr>
        <p:spPr>
          <a:xfrm>
            <a:off x="9700146" y="5527105"/>
            <a:ext cx="23955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각 오염원별</a:t>
            </a:r>
            <a:r>
              <a:rPr lang="en-US" altLang="ko-KR" sz="1000" b="1" dirty="0"/>
              <a:t>(</a:t>
            </a:r>
            <a:r>
              <a:rPr lang="ko-KR" altLang="en-US" sz="1000" b="1" dirty="0"/>
              <a:t>토양</a:t>
            </a:r>
            <a:r>
              <a:rPr lang="en-US" altLang="ko-KR" sz="1000" b="1" dirty="0"/>
              <a:t>, </a:t>
            </a:r>
            <a:r>
              <a:rPr lang="ko-KR" altLang="en-US" sz="1000" b="1" dirty="0"/>
              <a:t>화학비료</a:t>
            </a:r>
            <a:r>
              <a:rPr lang="en-US" altLang="ko-KR" sz="1000" b="1" dirty="0"/>
              <a:t>, </a:t>
            </a:r>
            <a:r>
              <a:rPr lang="ko-KR" altLang="en-US" sz="1000" b="1" dirty="0"/>
              <a:t>하수</a:t>
            </a:r>
            <a:r>
              <a:rPr lang="en-US" altLang="ko-KR" sz="1000" b="1" dirty="0"/>
              <a:t>, </a:t>
            </a:r>
            <a:r>
              <a:rPr lang="ko-KR" altLang="en-US" sz="1000" b="1" dirty="0"/>
              <a:t>분뇨</a:t>
            </a:r>
            <a:r>
              <a:rPr lang="en-US" altLang="ko-KR" sz="1000" b="1" dirty="0"/>
              <a:t>, </a:t>
            </a:r>
            <a:r>
              <a:rPr lang="ko-KR" altLang="en-US" sz="1000" b="1" dirty="0"/>
              <a:t>강우</a:t>
            </a:r>
            <a:r>
              <a:rPr lang="en-US" altLang="ko-KR" sz="1000" b="1" dirty="0"/>
              <a:t>)</a:t>
            </a:r>
            <a:r>
              <a:rPr lang="ko-KR" altLang="en-US" sz="1000" b="1" dirty="0"/>
              <a:t> </a:t>
            </a:r>
            <a:r>
              <a:rPr lang="ko-KR" altLang="en-US" sz="1200" b="1" dirty="0"/>
              <a:t>기여율 산정 및 평가</a:t>
            </a:r>
            <a:endParaRPr lang="en-US" altLang="ko-KR" sz="1200" b="1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7D3A2C5-C434-05A2-4EBB-70530FC6824D}"/>
              </a:ext>
            </a:extLst>
          </p:cNvPr>
          <p:cNvSpPr/>
          <p:nvPr/>
        </p:nvSpPr>
        <p:spPr>
          <a:xfrm>
            <a:off x="3089706" y="1224566"/>
            <a:ext cx="4456103" cy="2635307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CA450A53-28A9-EAF8-6149-40D79B376622}"/>
              </a:ext>
            </a:extLst>
          </p:cNvPr>
          <p:cNvSpPr/>
          <p:nvPr/>
        </p:nvSpPr>
        <p:spPr>
          <a:xfrm>
            <a:off x="3089706" y="3896238"/>
            <a:ext cx="4458106" cy="2897261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42B04BBE-FDBF-A261-52DA-0F62A6DF06C1}"/>
              </a:ext>
            </a:extLst>
          </p:cNvPr>
          <p:cNvSpPr/>
          <p:nvPr/>
        </p:nvSpPr>
        <p:spPr>
          <a:xfrm>
            <a:off x="7811796" y="1206887"/>
            <a:ext cx="4316062" cy="558661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5" name="그림 64">
            <a:extLst>
              <a:ext uri="{FF2B5EF4-FFF2-40B4-BE49-F238E27FC236}">
                <a16:creationId xmlns:a16="http://schemas.microsoft.com/office/drawing/2014/main" id="{0799FDC7-BAB7-9701-93D8-A079C44674B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2947" y="2457676"/>
            <a:ext cx="1299811" cy="498086"/>
          </a:xfrm>
          <a:prstGeom prst="rect">
            <a:avLst/>
          </a:prstGeom>
        </p:spPr>
      </p:pic>
      <p:pic>
        <p:nvPicPr>
          <p:cNvPr id="69" name="그림 68">
            <a:extLst>
              <a:ext uri="{FF2B5EF4-FFF2-40B4-BE49-F238E27FC236}">
                <a16:creationId xmlns:a16="http://schemas.microsoft.com/office/drawing/2014/main" id="{CF268058-9A64-76AE-1222-E06728BAF3B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8762" y="3258605"/>
            <a:ext cx="1007400" cy="554460"/>
          </a:xfrm>
          <a:prstGeom prst="rect">
            <a:avLst/>
          </a:prstGeom>
        </p:spPr>
      </p:pic>
      <p:pic>
        <p:nvPicPr>
          <p:cNvPr id="71" name="그림 70">
            <a:extLst>
              <a:ext uri="{FF2B5EF4-FFF2-40B4-BE49-F238E27FC236}">
                <a16:creationId xmlns:a16="http://schemas.microsoft.com/office/drawing/2014/main" id="{3D8FB746-EA16-7D16-B4E0-F0764243720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3006" y="1766391"/>
            <a:ext cx="1299752" cy="534708"/>
          </a:xfrm>
          <a:prstGeom prst="rect">
            <a:avLst/>
          </a:prstGeom>
        </p:spPr>
      </p:pic>
      <p:pic>
        <p:nvPicPr>
          <p:cNvPr id="73" name="그림 72">
            <a:extLst>
              <a:ext uri="{FF2B5EF4-FFF2-40B4-BE49-F238E27FC236}">
                <a16:creationId xmlns:a16="http://schemas.microsoft.com/office/drawing/2014/main" id="{60802F4B-160E-B355-30DE-775E795AE9C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0371" y="772568"/>
            <a:ext cx="328792" cy="348922"/>
          </a:xfrm>
          <a:prstGeom prst="rect">
            <a:avLst/>
          </a:prstGeom>
        </p:spPr>
      </p:pic>
      <p:pic>
        <p:nvPicPr>
          <p:cNvPr id="75" name="그림 74">
            <a:extLst>
              <a:ext uri="{FF2B5EF4-FFF2-40B4-BE49-F238E27FC236}">
                <a16:creationId xmlns:a16="http://schemas.microsoft.com/office/drawing/2014/main" id="{4A62318B-6183-9A7C-D7F6-86B95F74BB5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0308" y="2128111"/>
            <a:ext cx="1253849" cy="775637"/>
          </a:xfrm>
          <a:prstGeom prst="rect">
            <a:avLst/>
          </a:prstGeom>
        </p:spPr>
      </p:pic>
      <p:pic>
        <p:nvPicPr>
          <p:cNvPr id="77" name="그림 76">
            <a:extLst>
              <a:ext uri="{FF2B5EF4-FFF2-40B4-BE49-F238E27FC236}">
                <a16:creationId xmlns:a16="http://schemas.microsoft.com/office/drawing/2014/main" id="{6B591A04-5680-9D52-D76F-D6D2E71A7B9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0027" y="2127037"/>
            <a:ext cx="1379112" cy="823636"/>
          </a:xfrm>
          <a:prstGeom prst="rect">
            <a:avLst/>
          </a:prstGeom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E5542475-3F3C-F639-45F1-91D8BBACC2DB}"/>
              </a:ext>
            </a:extLst>
          </p:cNvPr>
          <p:cNvSpPr txBox="1"/>
          <p:nvPr/>
        </p:nvSpPr>
        <p:spPr>
          <a:xfrm>
            <a:off x="7975478" y="2895983"/>
            <a:ext cx="1380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EMMTE</a:t>
            </a:r>
          </a:p>
          <a:p>
            <a:pPr algn="ctr"/>
            <a:r>
              <a:rPr lang="en-US" altLang="ko-KR" sz="1200" b="1" dirty="0"/>
              <a:t>(Excel)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834AC18-29FA-BDEE-34A0-08ABB24907C9}"/>
              </a:ext>
            </a:extLst>
          </p:cNvPr>
          <p:cNvSpPr txBox="1"/>
          <p:nvPr/>
        </p:nvSpPr>
        <p:spPr>
          <a:xfrm>
            <a:off x="10330194" y="2908158"/>
            <a:ext cx="1786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 err="1"/>
              <a:t>MixSIAR</a:t>
            </a:r>
            <a:endParaRPr lang="en-US" altLang="ko-KR" sz="1200" b="1" dirty="0"/>
          </a:p>
          <a:p>
            <a:pPr algn="ctr"/>
            <a:r>
              <a:rPr lang="en-US" altLang="ko-KR" sz="1200" b="1" dirty="0"/>
              <a:t>(R</a:t>
            </a:r>
            <a:r>
              <a:rPr lang="ko-KR" altLang="en-US" sz="1200" b="1" dirty="0"/>
              <a:t> </a:t>
            </a:r>
            <a:r>
              <a:rPr lang="en-US" altLang="ko-KR" sz="1200" b="1" dirty="0"/>
              <a:t>with</a:t>
            </a:r>
            <a:r>
              <a:rPr lang="ko-KR" altLang="en-US" sz="1200" b="1" dirty="0"/>
              <a:t> </a:t>
            </a:r>
            <a:r>
              <a:rPr lang="en-US" altLang="ko-KR" sz="1200" b="1" dirty="0"/>
              <a:t>JAGS)</a:t>
            </a:r>
          </a:p>
        </p:txBody>
      </p:sp>
      <p:sp>
        <p:nvSpPr>
          <p:cNvPr id="90" name="화살표: 오른쪽 89">
            <a:extLst>
              <a:ext uri="{FF2B5EF4-FFF2-40B4-BE49-F238E27FC236}">
                <a16:creationId xmlns:a16="http://schemas.microsoft.com/office/drawing/2014/main" id="{B35B0AF8-158F-A215-E8C9-1852BA22D809}"/>
              </a:ext>
            </a:extLst>
          </p:cNvPr>
          <p:cNvSpPr/>
          <p:nvPr/>
        </p:nvSpPr>
        <p:spPr>
          <a:xfrm>
            <a:off x="7499618" y="865867"/>
            <a:ext cx="341716" cy="162324"/>
          </a:xfrm>
          <a:prstGeom prst="righ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아래쪽 화살표 63"/>
          <p:cNvSpPr/>
          <p:nvPr/>
        </p:nvSpPr>
        <p:spPr>
          <a:xfrm>
            <a:off x="4426663" y="3047199"/>
            <a:ext cx="190574" cy="18184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화살표: 왼쪽/오른쪽 57">
            <a:extLst>
              <a:ext uri="{FF2B5EF4-FFF2-40B4-BE49-F238E27FC236}">
                <a16:creationId xmlns:a16="http://schemas.microsoft.com/office/drawing/2014/main" id="{19CE8251-37B2-556C-BEB8-347A72E853D9}"/>
              </a:ext>
            </a:extLst>
          </p:cNvPr>
          <p:cNvSpPr/>
          <p:nvPr/>
        </p:nvSpPr>
        <p:spPr>
          <a:xfrm>
            <a:off x="9300675" y="2274516"/>
            <a:ext cx="1167168" cy="488282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교차 검증</a:t>
            </a:r>
          </a:p>
        </p:txBody>
      </p:sp>
      <p:pic>
        <p:nvPicPr>
          <p:cNvPr id="59" name="그림 58">
            <a:extLst>
              <a:ext uri="{FF2B5EF4-FFF2-40B4-BE49-F238E27FC236}">
                <a16:creationId xmlns:a16="http://schemas.microsoft.com/office/drawing/2014/main" id="{2A914159-4CF3-DC9A-6415-EA460340EF7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0830" y="5060171"/>
            <a:ext cx="1713643" cy="1713643"/>
          </a:xfrm>
          <a:prstGeom prst="rect">
            <a:avLst/>
          </a:prstGeom>
        </p:spPr>
      </p:pic>
      <p:pic>
        <p:nvPicPr>
          <p:cNvPr id="62" name="Picture 1"/>
          <p:cNvPicPr>
            <a:picLocks noChangeAspect="1"/>
          </p:cNvPicPr>
          <p:nvPr/>
        </p:nvPicPr>
        <p:blipFill>
          <a:blip r:embed="rId15"/>
          <a:srcRect t="2866" b="1909"/>
          <a:stretch>
            <a:fillRect/>
          </a:stretch>
        </p:blipFill>
        <p:spPr>
          <a:xfrm>
            <a:off x="216028" y="3028039"/>
            <a:ext cx="2689600" cy="2066973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E386E9E0-13BD-5726-0A41-088EDEE425CB}"/>
              </a:ext>
            </a:extLst>
          </p:cNvPr>
          <p:cNvSpPr txBox="1"/>
          <p:nvPr/>
        </p:nvSpPr>
        <p:spPr>
          <a:xfrm>
            <a:off x="-173380" y="2003016"/>
            <a:ext cx="33097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/>
              <a:t>오염원 라이브러리 </a:t>
            </a:r>
            <a:endParaRPr lang="en-US" altLang="ko-KR" sz="1400" b="1"/>
          </a:p>
          <a:p>
            <a:pPr algn="ctr"/>
            <a:r>
              <a:rPr lang="ko-KR" altLang="en-US" sz="1400" b="1"/>
              <a:t>이중 </a:t>
            </a:r>
            <a:r>
              <a:rPr lang="en-US" altLang="ko-KR" sz="1400" b="1"/>
              <a:t>plot </a:t>
            </a:r>
            <a:r>
              <a:rPr lang="ko-KR" altLang="en-US" sz="1400" b="1"/>
              <a:t>적용</a:t>
            </a:r>
            <a:endParaRPr lang="en-US" altLang="ko-KR" sz="1400" b="1"/>
          </a:p>
          <a:p>
            <a:pPr algn="ctr"/>
            <a:r>
              <a:rPr lang="en-US" altLang="ko-KR" sz="1200" b="1"/>
              <a:t>(</a:t>
            </a:r>
            <a:r>
              <a:rPr lang="ko-KR" altLang="en-US" sz="1200" b="1"/>
              <a:t>안정동위원소 기반</a:t>
            </a:r>
            <a:r>
              <a:rPr lang="en-US" altLang="ko-KR" sz="1200" b="1"/>
              <a:t>)</a:t>
            </a:r>
            <a:endParaRPr lang="en-US" altLang="ko-KR" sz="1200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C88501D-9A39-3325-0D85-EE24A34C98CD}"/>
              </a:ext>
            </a:extLst>
          </p:cNvPr>
          <p:cNvSpPr txBox="1"/>
          <p:nvPr/>
        </p:nvSpPr>
        <p:spPr>
          <a:xfrm>
            <a:off x="41736" y="5211170"/>
            <a:ext cx="29752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- Kendall </a:t>
            </a:r>
            <a:r>
              <a:rPr lang="en-US" altLang="ko-KR" sz="1200" b="1"/>
              <a:t>plot </a:t>
            </a:r>
            <a:r>
              <a:rPr lang="ko-KR" altLang="en-US" sz="1200" b="1"/>
              <a:t>적용 </a:t>
            </a:r>
            <a:r>
              <a:rPr lang="ko-KR" altLang="en-US" sz="1200" b="1" dirty="0"/>
              <a:t>시 오염원 </a:t>
            </a:r>
            <a:r>
              <a:rPr lang="ko-KR" altLang="en-US" sz="1200" b="1"/>
              <a:t>중첩문제 해결 필요</a:t>
            </a:r>
            <a:endParaRPr lang="en-US" altLang="ko-KR" sz="1200" b="1" dirty="0"/>
          </a:p>
        </p:txBody>
      </p:sp>
      <p:sp>
        <p:nvSpPr>
          <p:cNvPr id="70" name="오른쪽 화살표 69"/>
          <p:cNvSpPr/>
          <p:nvPr/>
        </p:nvSpPr>
        <p:spPr>
          <a:xfrm rot="5400000">
            <a:off x="4438953" y="6122170"/>
            <a:ext cx="168896" cy="193477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아래쪽 화살표 10"/>
          <p:cNvSpPr/>
          <p:nvPr/>
        </p:nvSpPr>
        <p:spPr>
          <a:xfrm>
            <a:off x="9714966" y="4092388"/>
            <a:ext cx="490015" cy="540903"/>
          </a:xfrm>
          <a:prstGeom prst="down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오른쪽 화살표 12"/>
          <p:cNvSpPr/>
          <p:nvPr/>
        </p:nvSpPr>
        <p:spPr>
          <a:xfrm rot="19597344">
            <a:off x="2801445" y="3074192"/>
            <a:ext cx="620573" cy="170128"/>
          </a:xfrm>
          <a:prstGeom prst="right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오른쪽 화살표 73"/>
          <p:cNvSpPr/>
          <p:nvPr/>
        </p:nvSpPr>
        <p:spPr>
          <a:xfrm rot="3059626">
            <a:off x="2771501" y="4221019"/>
            <a:ext cx="620573" cy="170128"/>
          </a:xfrm>
          <a:prstGeom prst="right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1623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E3D2D6F3-0B2D-1101-E5F0-86F820143EB8}"/>
              </a:ext>
            </a:extLst>
          </p:cNvPr>
          <p:cNvSpPr/>
          <p:nvPr/>
        </p:nvSpPr>
        <p:spPr>
          <a:xfrm>
            <a:off x="81468" y="1679148"/>
            <a:ext cx="3485584" cy="22956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167660-46C2-F038-BC6F-72688426EFDC}"/>
              </a:ext>
            </a:extLst>
          </p:cNvPr>
          <p:cNvSpPr txBox="1"/>
          <p:nvPr/>
        </p:nvSpPr>
        <p:spPr>
          <a:xfrm>
            <a:off x="0" y="119215"/>
            <a:ext cx="12153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/>
              <a:t>&lt;</a:t>
            </a:r>
            <a:r>
              <a:rPr lang="ko-KR" altLang="en-US" sz="2000" b="1" dirty="0"/>
              <a:t>붙임</a:t>
            </a:r>
            <a:r>
              <a:rPr lang="en-US" altLang="ko-KR" sz="2000" b="1" dirty="0"/>
              <a:t>3&gt;</a:t>
            </a:r>
            <a:endParaRPr lang="ko-KR" altLang="en-US" sz="2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B5B265-3E57-FC66-B554-C4662FBBDC61}"/>
              </a:ext>
            </a:extLst>
          </p:cNvPr>
          <p:cNvSpPr txBox="1"/>
          <p:nvPr/>
        </p:nvSpPr>
        <p:spPr>
          <a:xfrm>
            <a:off x="1152922" y="26883"/>
            <a:ext cx="10036214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AI </a:t>
            </a:r>
            <a:r>
              <a:rPr lang="ko-KR" altLang="en-US" sz="2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오염원 평가 시스템 </a:t>
            </a:r>
            <a:r>
              <a:rPr lang="en-US" altLang="ko-KR" sz="2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framework</a:t>
            </a:r>
            <a:r>
              <a:rPr lang="en-US" altLang="ko-KR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참고자료</a:t>
            </a:r>
            <a:r>
              <a:rPr lang="en-US" altLang="ko-KR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lang="ko-KR" altLang="en-US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기술 검토용 세부 프로세스</a:t>
            </a:r>
            <a:r>
              <a:rPr lang="en-US" altLang="ko-KR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endParaRPr lang="ko-KR" altLang="en-US" b="1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00206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endParaRPr lang="ko-KR" altLang="en-US" sz="2600" b="1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00206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583E389-8183-BDDC-61D6-E6616A640DCF}"/>
              </a:ext>
            </a:extLst>
          </p:cNvPr>
          <p:cNvSpPr/>
          <p:nvPr/>
        </p:nvSpPr>
        <p:spPr>
          <a:xfrm>
            <a:off x="90534" y="1125435"/>
            <a:ext cx="3485584" cy="473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데이터 입력 및 문헌 지식 추출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D3786A5-5352-6536-6F86-FDE2B3525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855" y="1737430"/>
            <a:ext cx="2032728" cy="10313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7A7CED0-4B45-EBAD-CB53-1B6A0C3B4852}"/>
              </a:ext>
            </a:extLst>
          </p:cNvPr>
          <p:cNvSpPr txBox="1"/>
          <p:nvPr/>
        </p:nvSpPr>
        <p:spPr>
          <a:xfrm>
            <a:off x="2146997" y="1728095"/>
            <a:ext cx="147508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b="1" dirty="0"/>
              <a:t>문헌 지식</a:t>
            </a:r>
            <a:endParaRPr lang="en-US" altLang="ko-KR" sz="1600" b="1" dirty="0"/>
          </a:p>
          <a:p>
            <a:pPr algn="ctr"/>
            <a:r>
              <a:rPr lang="en-US" altLang="ko-KR" sz="1600" b="1" dirty="0"/>
              <a:t>(SCI </a:t>
            </a:r>
            <a:r>
              <a:rPr lang="ko-KR" altLang="en-US" sz="1600" b="1" dirty="0"/>
              <a:t>논문 등</a:t>
            </a:r>
            <a:r>
              <a:rPr lang="en-US" altLang="ko-KR" sz="1600" b="1" dirty="0"/>
              <a:t>) </a:t>
            </a:r>
          </a:p>
          <a:p>
            <a:pPr algn="ctr"/>
            <a:r>
              <a:rPr lang="ko-KR" altLang="en-US" sz="1600" b="1" dirty="0"/>
              <a:t>제공</a:t>
            </a:r>
            <a:endParaRPr lang="en-US" altLang="ko-KR" sz="1600" b="1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C0C06DA8-CB4E-0B96-5879-674161A866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255" y="3092543"/>
            <a:ext cx="1552792" cy="714475"/>
          </a:xfrm>
          <a:prstGeom prst="rect">
            <a:avLst/>
          </a:prstGeom>
        </p:spPr>
      </p:pic>
      <p:sp>
        <p:nvSpPr>
          <p:cNvPr id="16" name="화살표: 아래쪽 15">
            <a:extLst>
              <a:ext uri="{FF2B5EF4-FFF2-40B4-BE49-F238E27FC236}">
                <a16:creationId xmlns:a16="http://schemas.microsoft.com/office/drawing/2014/main" id="{6C716B59-E572-7059-9778-8DE9F67F47FD}"/>
              </a:ext>
            </a:extLst>
          </p:cNvPr>
          <p:cNvSpPr/>
          <p:nvPr/>
        </p:nvSpPr>
        <p:spPr>
          <a:xfrm>
            <a:off x="1741866" y="2805691"/>
            <a:ext cx="182919" cy="22907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0E9032-C56E-B11F-0951-0FE5D98D95B7}"/>
              </a:ext>
            </a:extLst>
          </p:cNvPr>
          <p:cNvSpPr txBox="1"/>
          <p:nvPr/>
        </p:nvSpPr>
        <p:spPr>
          <a:xfrm>
            <a:off x="1661984" y="2651405"/>
            <a:ext cx="204254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b="1" dirty="0"/>
              <a:t>AI(NLP/LLM)</a:t>
            </a:r>
            <a:r>
              <a:rPr lang="ko-KR" altLang="en-US" sz="1600" b="1" dirty="0"/>
              <a:t> </a:t>
            </a:r>
            <a:endParaRPr lang="en-US" altLang="ko-KR" sz="1600" b="1" dirty="0"/>
          </a:p>
          <a:p>
            <a:pPr algn="ctr"/>
            <a:r>
              <a:rPr lang="ko-KR" altLang="en-US" sz="1600" b="1" dirty="0"/>
              <a:t>지식 추출</a:t>
            </a:r>
            <a:r>
              <a:rPr lang="en-US" altLang="ko-KR" sz="1600" b="1" dirty="0"/>
              <a:t>,</a:t>
            </a:r>
          </a:p>
          <a:p>
            <a:pPr algn="ctr"/>
            <a:r>
              <a:rPr lang="ko-KR" altLang="en-US" sz="1600" b="1" dirty="0"/>
              <a:t>오염원별 </a:t>
            </a:r>
            <a:endParaRPr lang="en-US" altLang="ko-KR" sz="1600" b="1" dirty="0"/>
          </a:p>
          <a:p>
            <a:pPr algn="ctr"/>
            <a:r>
              <a:rPr lang="ko-KR" altLang="en-US" sz="1600" b="1" dirty="0"/>
              <a:t>정량적 데이터 범위 </a:t>
            </a:r>
            <a:endParaRPr lang="en-US" altLang="ko-KR" sz="1600" b="1" dirty="0"/>
          </a:p>
          <a:p>
            <a:pPr algn="ctr"/>
            <a:r>
              <a:rPr lang="ko-KR" altLang="en-US" sz="1600" b="1" dirty="0"/>
              <a:t>구축</a:t>
            </a:r>
            <a:endParaRPr lang="en-US" altLang="ko-KR" sz="1600" b="1" dirty="0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C16FB4EA-C170-2993-DBCD-3E6DEC3FD052}"/>
              </a:ext>
            </a:extLst>
          </p:cNvPr>
          <p:cNvSpPr/>
          <p:nvPr/>
        </p:nvSpPr>
        <p:spPr>
          <a:xfrm>
            <a:off x="4045389" y="1128545"/>
            <a:ext cx="8001756" cy="473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AI</a:t>
            </a:r>
            <a:r>
              <a:rPr lang="ko-KR" altLang="en-US" b="1" dirty="0">
                <a:solidFill>
                  <a:schemeClr val="tx1"/>
                </a:solidFill>
              </a:rPr>
              <a:t> 기반 오염원 평가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425A10F8-104B-ED28-25C8-640F9782E0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637" y="4072357"/>
            <a:ext cx="2143979" cy="78037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35FF350-BA4E-CAB5-7B0A-247400E13F11}"/>
              </a:ext>
            </a:extLst>
          </p:cNvPr>
          <p:cNvSpPr txBox="1"/>
          <p:nvPr/>
        </p:nvSpPr>
        <p:spPr>
          <a:xfrm>
            <a:off x="263023" y="4811438"/>
            <a:ext cx="31406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b="1" dirty="0"/>
              <a:t>수질 및 질산염 안정동위원소비 </a:t>
            </a:r>
            <a:endParaRPr lang="en-US" altLang="ko-KR" sz="1600" b="1" dirty="0"/>
          </a:p>
          <a:p>
            <a:pPr algn="ctr"/>
            <a:r>
              <a:rPr lang="ko-KR" altLang="en-US" sz="1600" b="1" dirty="0"/>
              <a:t>측정 데이터 입력</a:t>
            </a:r>
            <a:endParaRPr lang="en-US" altLang="ko-KR" sz="1600" b="1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ABBECCD-0CB5-7EA0-F84C-FCE1888BB140}"/>
              </a:ext>
            </a:extLst>
          </p:cNvPr>
          <p:cNvSpPr/>
          <p:nvPr/>
        </p:nvSpPr>
        <p:spPr>
          <a:xfrm>
            <a:off x="4043217" y="1669259"/>
            <a:ext cx="2616293" cy="33125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4B578AA-C4B9-4E72-3A6A-C862766B8DCF}"/>
              </a:ext>
            </a:extLst>
          </p:cNvPr>
          <p:cNvSpPr txBox="1"/>
          <p:nvPr/>
        </p:nvSpPr>
        <p:spPr>
          <a:xfrm>
            <a:off x="4400313" y="1700099"/>
            <a:ext cx="19127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b="1" dirty="0"/>
              <a:t>[</a:t>
            </a:r>
            <a:r>
              <a:rPr lang="ko-KR" altLang="en-US" sz="1600" b="1" dirty="0"/>
              <a:t>비선형 특징 추출</a:t>
            </a:r>
            <a:r>
              <a:rPr lang="en-US" altLang="ko-KR" sz="1600" b="1" dirty="0"/>
              <a:t>]</a:t>
            </a: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3028D6A1-A018-D540-251A-63AC5D3F08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2838" y="2942183"/>
            <a:ext cx="1354858" cy="1237611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E94912F1-8029-653F-BB31-57B68EF0D3B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7637" y="4218791"/>
            <a:ext cx="838317" cy="724001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03719FF5-CC88-82B0-3AFB-14A861ABADB4}"/>
              </a:ext>
            </a:extLst>
          </p:cNvPr>
          <p:cNvSpPr txBox="1"/>
          <p:nvPr/>
        </p:nvSpPr>
        <p:spPr>
          <a:xfrm>
            <a:off x="5249093" y="4268604"/>
            <a:ext cx="13548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b="1" dirty="0"/>
              <a:t>도메인 지식 </a:t>
            </a:r>
            <a:endParaRPr lang="en-US" altLang="ko-KR" sz="1600" b="1" dirty="0"/>
          </a:p>
          <a:p>
            <a:pPr algn="ctr"/>
            <a:r>
              <a:rPr lang="ko-KR" altLang="en-US" sz="1600" b="1" dirty="0"/>
              <a:t>주입</a:t>
            </a:r>
            <a:endParaRPr lang="en-US" altLang="ko-KR" sz="1600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191BDD4-151E-86AE-6CCA-E4564F9B7853}"/>
              </a:ext>
            </a:extLst>
          </p:cNvPr>
          <p:cNvSpPr txBox="1"/>
          <p:nvPr/>
        </p:nvSpPr>
        <p:spPr>
          <a:xfrm>
            <a:off x="4194583" y="1990636"/>
            <a:ext cx="2322879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b="1" dirty="0"/>
              <a:t>CINN VAE</a:t>
            </a:r>
          </a:p>
          <a:p>
            <a:pPr algn="ctr"/>
            <a:r>
              <a:rPr lang="en-US" altLang="ko-KR" sz="1400" b="1" dirty="0"/>
              <a:t>(Chemistry-Informed </a:t>
            </a:r>
          </a:p>
          <a:p>
            <a:pPr algn="ctr"/>
            <a:r>
              <a:rPr lang="en-US" altLang="ko-KR" sz="1400" b="1" dirty="0"/>
              <a:t>Neural Network based</a:t>
            </a:r>
          </a:p>
          <a:p>
            <a:pPr algn="ctr"/>
            <a:r>
              <a:rPr lang="en-US" altLang="ko-KR" sz="1400" b="1" dirty="0"/>
              <a:t>Variational Autoencoder)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10656BD3-F9AD-E156-7293-F0DCA4B843AC}"/>
              </a:ext>
            </a:extLst>
          </p:cNvPr>
          <p:cNvSpPr/>
          <p:nvPr/>
        </p:nvSpPr>
        <p:spPr>
          <a:xfrm>
            <a:off x="6868549" y="1669259"/>
            <a:ext cx="5178596" cy="33125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E42BF13-C8DF-E7F6-E322-EC90909CAE4E}"/>
              </a:ext>
            </a:extLst>
          </p:cNvPr>
          <p:cNvSpPr txBox="1"/>
          <p:nvPr/>
        </p:nvSpPr>
        <p:spPr>
          <a:xfrm>
            <a:off x="7843303" y="1698982"/>
            <a:ext cx="30861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b="1" dirty="0"/>
              <a:t>[AI </a:t>
            </a:r>
            <a:r>
              <a:rPr lang="ko-KR" altLang="en-US" sz="1600" b="1" dirty="0"/>
              <a:t>알고리즘 경쟁 기반 군집화</a:t>
            </a:r>
            <a:r>
              <a:rPr lang="en-US" altLang="ko-KR" sz="1600" b="1" dirty="0"/>
              <a:t>]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C8C1911-0C5C-F062-C889-F98DF7BA9E79}"/>
              </a:ext>
            </a:extLst>
          </p:cNvPr>
          <p:cNvSpPr txBox="1"/>
          <p:nvPr/>
        </p:nvSpPr>
        <p:spPr>
          <a:xfrm>
            <a:off x="3055218" y="661358"/>
            <a:ext cx="53238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문헌지식 기반 </a:t>
            </a:r>
            <a:r>
              <a:rPr lang="en-US" altLang="ko-KR" sz="2400" b="1" dirty="0"/>
              <a:t>AI </a:t>
            </a:r>
            <a:r>
              <a:rPr lang="ko-KR" altLang="en-US" sz="2400" b="1" dirty="0"/>
              <a:t>오염원 평가 시스템</a:t>
            </a:r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FCB8757A-7BA6-195E-8B7D-6418B80A74D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3114" y="2251512"/>
            <a:ext cx="2886478" cy="1143160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CD8B664A-5F99-0030-1A6B-FC01057C2EAA}"/>
              </a:ext>
            </a:extLst>
          </p:cNvPr>
          <p:cNvSpPr txBox="1"/>
          <p:nvPr/>
        </p:nvSpPr>
        <p:spPr>
          <a:xfrm>
            <a:off x="8238090" y="1955669"/>
            <a:ext cx="22965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b="1" dirty="0"/>
              <a:t>8</a:t>
            </a:r>
            <a:r>
              <a:rPr lang="ko-KR" altLang="en-US" sz="1600" b="1" dirty="0"/>
              <a:t>대 </a:t>
            </a:r>
            <a:r>
              <a:rPr lang="en-US" altLang="ko-KR" sz="1600" b="1" dirty="0"/>
              <a:t>AI algorithm </a:t>
            </a:r>
            <a:r>
              <a:rPr lang="ko-KR" altLang="en-US" sz="1600" b="1" dirty="0"/>
              <a:t>경합</a:t>
            </a:r>
            <a:endParaRPr lang="en-US" altLang="ko-KR" sz="1600" b="1" dirty="0"/>
          </a:p>
        </p:txBody>
      </p:sp>
      <p:sp>
        <p:nvSpPr>
          <p:cNvPr id="51" name="화살표: 아래쪽 50">
            <a:extLst>
              <a:ext uri="{FF2B5EF4-FFF2-40B4-BE49-F238E27FC236}">
                <a16:creationId xmlns:a16="http://schemas.microsoft.com/office/drawing/2014/main" id="{BF272FCE-CF04-5AD8-AA13-2C0C7845811B}"/>
              </a:ext>
            </a:extLst>
          </p:cNvPr>
          <p:cNvSpPr/>
          <p:nvPr/>
        </p:nvSpPr>
        <p:spPr>
          <a:xfrm>
            <a:off x="9294895" y="3405197"/>
            <a:ext cx="182919" cy="229074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2DD6AE8-CA4A-6CE7-DA9D-EB286CF99DCC}"/>
              </a:ext>
            </a:extLst>
          </p:cNvPr>
          <p:cNvSpPr txBox="1"/>
          <p:nvPr/>
        </p:nvSpPr>
        <p:spPr>
          <a:xfrm>
            <a:off x="7675436" y="3598116"/>
            <a:ext cx="342183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b="1" dirty="0"/>
              <a:t>모델 평가 및 최적 군집 수 </a:t>
            </a:r>
            <a:r>
              <a:rPr lang="en-US" altLang="ko-KR" sz="1600" b="1" dirty="0"/>
              <a:t>K </a:t>
            </a:r>
            <a:r>
              <a:rPr lang="ko-KR" altLang="en-US" sz="1600" b="1" dirty="0"/>
              <a:t>선정</a:t>
            </a:r>
            <a:endParaRPr lang="en-US" altLang="ko-KR" sz="1600" b="1" dirty="0"/>
          </a:p>
          <a:p>
            <a:pPr algn="ctr"/>
            <a:r>
              <a:rPr lang="en-US" altLang="ko-KR" sz="1400" b="1" dirty="0"/>
              <a:t>: </a:t>
            </a:r>
            <a:r>
              <a:rPr lang="ko-KR" altLang="en-US" sz="1400" b="1" dirty="0"/>
              <a:t>복합 평가지표</a:t>
            </a:r>
            <a:r>
              <a:rPr lang="en-US" altLang="ko-KR" sz="1400" b="1" dirty="0"/>
              <a:t>(</a:t>
            </a:r>
            <a:r>
              <a:rPr lang="en-US" altLang="ko-KR" sz="1400" b="1" dirty="0" err="1"/>
              <a:t>Concensus</a:t>
            </a:r>
            <a:r>
              <a:rPr lang="en-US" altLang="ko-KR" sz="1400" b="1" dirty="0"/>
              <a:t> Score) </a:t>
            </a:r>
            <a:r>
              <a:rPr lang="ko-KR" altLang="en-US" sz="1400" b="1" dirty="0"/>
              <a:t>기반</a:t>
            </a:r>
            <a:endParaRPr lang="en-US" altLang="ko-KR" sz="1400" b="1" dirty="0"/>
          </a:p>
          <a:p>
            <a:pPr algn="ctr"/>
            <a:r>
              <a:rPr lang="en-US" altLang="ko-KR" sz="1400" b="1" dirty="0"/>
              <a:t>-&gt; Silhouette Score + DBI + CHI</a:t>
            </a:r>
          </a:p>
        </p:txBody>
      </p:sp>
      <p:sp>
        <p:nvSpPr>
          <p:cNvPr id="55" name="화살표: 아래쪽 54">
            <a:extLst>
              <a:ext uri="{FF2B5EF4-FFF2-40B4-BE49-F238E27FC236}">
                <a16:creationId xmlns:a16="http://schemas.microsoft.com/office/drawing/2014/main" id="{EDF12BB5-C220-4A2B-D7A6-976B8E25BE96}"/>
              </a:ext>
            </a:extLst>
          </p:cNvPr>
          <p:cNvSpPr/>
          <p:nvPr/>
        </p:nvSpPr>
        <p:spPr>
          <a:xfrm>
            <a:off x="9294895" y="4297838"/>
            <a:ext cx="182919" cy="229074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9B8E745-DEBF-0AC8-846C-4C16BBDC7C93}"/>
              </a:ext>
            </a:extLst>
          </p:cNvPr>
          <p:cNvSpPr txBox="1"/>
          <p:nvPr/>
        </p:nvSpPr>
        <p:spPr>
          <a:xfrm>
            <a:off x="8158292" y="4427792"/>
            <a:ext cx="245612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b="1" dirty="0"/>
              <a:t>HDBSCAN noise </a:t>
            </a:r>
            <a:r>
              <a:rPr lang="ko-KR" altLang="en-US" sz="1600" b="1" dirty="0"/>
              <a:t>재할당</a:t>
            </a:r>
            <a:endParaRPr lang="en-US" altLang="ko-KR" sz="1600" b="1" dirty="0"/>
          </a:p>
          <a:p>
            <a:pPr algn="ctr"/>
            <a:r>
              <a:rPr lang="en-US" altLang="ko-KR" sz="1400" b="1" dirty="0"/>
              <a:t>: KNN </a:t>
            </a:r>
            <a:r>
              <a:rPr lang="ko-KR" altLang="en-US" sz="1400" b="1" dirty="0"/>
              <a:t>보정</a:t>
            </a:r>
            <a:endParaRPr lang="en-US" altLang="ko-KR" sz="1400" b="1" dirty="0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117B2F44-E205-85DD-2338-E9F926CEF788}"/>
              </a:ext>
            </a:extLst>
          </p:cNvPr>
          <p:cNvSpPr/>
          <p:nvPr/>
        </p:nvSpPr>
        <p:spPr>
          <a:xfrm>
            <a:off x="81469" y="4032623"/>
            <a:ext cx="3485584" cy="27061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화살표: 아래쪽 61">
            <a:extLst>
              <a:ext uri="{FF2B5EF4-FFF2-40B4-BE49-F238E27FC236}">
                <a16:creationId xmlns:a16="http://schemas.microsoft.com/office/drawing/2014/main" id="{1ACAB0A0-3EA6-84AD-B5AD-83985481D737}"/>
              </a:ext>
            </a:extLst>
          </p:cNvPr>
          <p:cNvSpPr/>
          <p:nvPr/>
        </p:nvSpPr>
        <p:spPr>
          <a:xfrm rot="10800000">
            <a:off x="1728540" y="5330487"/>
            <a:ext cx="182919" cy="22907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9BB16AB-5FD8-CF3D-5E8D-2A3C4A1BC6C9}"/>
              </a:ext>
            </a:extLst>
          </p:cNvPr>
          <p:cNvSpPr txBox="1"/>
          <p:nvPr/>
        </p:nvSpPr>
        <p:spPr>
          <a:xfrm>
            <a:off x="786516" y="5524153"/>
            <a:ext cx="217559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b="1" dirty="0" err="1"/>
              <a:t>로버스트</a:t>
            </a:r>
            <a:r>
              <a:rPr lang="ko-KR" altLang="en-US" sz="1600" b="1" dirty="0"/>
              <a:t> </a:t>
            </a:r>
            <a:r>
              <a:rPr lang="ko-KR" altLang="en-US" sz="1600" b="1" dirty="0" err="1"/>
              <a:t>결측치</a:t>
            </a:r>
            <a:r>
              <a:rPr lang="ko-KR" altLang="en-US" sz="1600" b="1" dirty="0"/>
              <a:t> 처리</a:t>
            </a:r>
            <a:endParaRPr lang="en-US" altLang="ko-KR" sz="1600" b="1" dirty="0"/>
          </a:p>
          <a:p>
            <a:pPr algn="ctr"/>
            <a:r>
              <a:rPr lang="en-US" altLang="ko-KR" sz="1400" b="1" dirty="0"/>
              <a:t>(Robust Imputation)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6752648-F0F1-D7F5-7E1A-F9B9F79207E9}"/>
              </a:ext>
            </a:extLst>
          </p:cNvPr>
          <p:cNvSpPr txBox="1"/>
          <p:nvPr/>
        </p:nvSpPr>
        <p:spPr>
          <a:xfrm>
            <a:off x="147987" y="6041029"/>
            <a:ext cx="13594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/>
              <a:t>ROS</a:t>
            </a:r>
          </a:p>
          <a:p>
            <a:pPr algn="ctr"/>
            <a:r>
              <a:rPr lang="en-US" altLang="ko-KR" sz="1200" b="1" dirty="0"/>
              <a:t>(Regression on</a:t>
            </a:r>
          </a:p>
          <a:p>
            <a:pPr algn="ctr"/>
            <a:r>
              <a:rPr lang="en-US" altLang="ko-KR" sz="1200" b="1" dirty="0"/>
              <a:t>Order Statistics)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4141584-F81B-5D14-C2E9-0B2BBDBB7366}"/>
              </a:ext>
            </a:extLst>
          </p:cNvPr>
          <p:cNvSpPr txBox="1"/>
          <p:nvPr/>
        </p:nvSpPr>
        <p:spPr>
          <a:xfrm>
            <a:off x="1981773" y="6089795"/>
            <a:ext cx="7690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/>
              <a:t>KNN </a:t>
            </a:r>
          </a:p>
          <a:p>
            <a:pPr algn="ctr"/>
            <a:r>
              <a:rPr lang="en-US" altLang="ko-KR" sz="1200" b="1" dirty="0"/>
              <a:t>Imputer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9582F5A-D627-30BA-CDE9-AFF4CD2C8087}"/>
              </a:ext>
            </a:extLst>
          </p:cNvPr>
          <p:cNvSpPr txBox="1"/>
          <p:nvPr/>
        </p:nvSpPr>
        <p:spPr>
          <a:xfrm>
            <a:off x="2844443" y="6106848"/>
            <a:ext cx="7316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/>
              <a:t>Z-score</a:t>
            </a:r>
          </a:p>
          <a:p>
            <a:pPr algn="ctr"/>
            <a:r>
              <a:rPr lang="ko-KR" altLang="en-US" sz="1200" b="1" dirty="0"/>
              <a:t>정규화</a:t>
            </a:r>
            <a:endParaRPr lang="en-US" altLang="ko-KR" sz="1200" b="1" dirty="0"/>
          </a:p>
        </p:txBody>
      </p:sp>
      <p:sp>
        <p:nvSpPr>
          <p:cNvPr id="73" name="화살표: 아래쪽 72">
            <a:extLst>
              <a:ext uri="{FF2B5EF4-FFF2-40B4-BE49-F238E27FC236}">
                <a16:creationId xmlns:a16="http://schemas.microsoft.com/office/drawing/2014/main" id="{AC3569DF-8550-4724-30E7-B3D444600A81}"/>
              </a:ext>
            </a:extLst>
          </p:cNvPr>
          <p:cNvSpPr/>
          <p:nvPr/>
        </p:nvSpPr>
        <p:spPr>
          <a:xfrm rot="16200000">
            <a:off x="1661718" y="6105934"/>
            <a:ext cx="152925" cy="651846"/>
          </a:xfrm>
          <a:prstGeom prst="down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화살표: 아래쪽 74">
            <a:extLst>
              <a:ext uri="{FF2B5EF4-FFF2-40B4-BE49-F238E27FC236}">
                <a16:creationId xmlns:a16="http://schemas.microsoft.com/office/drawing/2014/main" id="{00ECA3F5-C3BE-7E0C-BCEB-7391D3E43691}"/>
              </a:ext>
            </a:extLst>
          </p:cNvPr>
          <p:cNvSpPr/>
          <p:nvPr/>
        </p:nvSpPr>
        <p:spPr>
          <a:xfrm rot="16200000">
            <a:off x="2680296" y="6184322"/>
            <a:ext cx="182919" cy="229074"/>
          </a:xfrm>
          <a:prstGeom prst="down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화살표: 아래쪽 75">
            <a:extLst>
              <a:ext uri="{FF2B5EF4-FFF2-40B4-BE49-F238E27FC236}">
                <a16:creationId xmlns:a16="http://schemas.microsoft.com/office/drawing/2014/main" id="{025C0EC6-B744-C8E3-70C7-FEC4B8089BF8}"/>
              </a:ext>
            </a:extLst>
          </p:cNvPr>
          <p:cNvSpPr/>
          <p:nvPr/>
        </p:nvSpPr>
        <p:spPr>
          <a:xfrm rot="1771135">
            <a:off x="721711" y="5732681"/>
            <a:ext cx="81852" cy="37857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67AD227-940F-156E-8284-71B1C079201F}"/>
              </a:ext>
            </a:extLst>
          </p:cNvPr>
          <p:cNvSpPr txBox="1"/>
          <p:nvPr/>
        </p:nvSpPr>
        <p:spPr>
          <a:xfrm>
            <a:off x="1352929" y="6031747"/>
            <a:ext cx="6735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b="1" dirty="0"/>
              <a:t>실패 시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Fallback</a:t>
            </a:r>
          </a:p>
        </p:txBody>
      </p:sp>
      <p:sp>
        <p:nvSpPr>
          <p:cNvPr id="79" name="화살표: 오른쪽 78">
            <a:extLst>
              <a:ext uri="{FF2B5EF4-FFF2-40B4-BE49-F238E27FC236}">
                <a16:creationId xmlns:a16="http://schemas.microsoft.com/office/drawing/2014/main" id="{C3789152-27A3-9A6E-0A0C-1529BC55271F}"/>
              </a:ext>
            </a:extLst>
          </p:cNvPr>
          <p:cNvSpPr/>
          <p:nvPr/>
        </p:nvSpPr>
        <p:spPr>
          <a:xfrm>
            <a:off x="3403626" y="2826996"/>
            <a:ext cx="869610" cy="258997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화살표: 오른쪽 80">
            <a:extLst>
              <a:ext uri="{FF2B5EF4-FFF2-40B4-BE49-F238E27FC236}">
                <a16:creationId xmlns:a16="http://schemas.microsoft.com/office/drawing/2014/main" id="{1F39FB60-46C1-5647-051A-97DFB8A3F160}"/>
              </a:ext>
            </a:extLst>
          </p:cNvPr>
          <p:cNvSpPr/>
          <p:nvPr/>
        </p:nvSpPr>
        <p:spPr>
          <a:xfrm rot="19230227">
            <a:off x="3425290" y="4397414"/>
            <a:ext cx="869610" cy="258997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화살표: 오른쪽 82">
            <a:extLst>
              <a:ext uri="{FF2B5EF4-FFF2-40B4-BE49-F238E27FC236}">
                <a16:creationId xmlns:a16="http://schemas.microsoft.com/office/drawing/2014/main" id="{EC2F5C69-3C5C-DBE6-3D5C-68CA6DBEDD72}"/>
              </a:ext>
            </a:extLst>
          </p:cNvPr>
          <p:cNvSpPr/>
          <p:nvPr/>
        </p:nvSpPr>
        <p:spPr>
          <a:xfrm rot="20081756">
            <a:off x="6307465" y="3459563"/>
            <a:ext cx="1640493" cy="258997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A2EEA60D-5E27-959E-BBE2-BB78BE0FDCCE}"/>
              </a:ext>
            </a:extLst>
          </p:cNvPr>
          <p:cNvSpPr/>
          <p:nvPr/>
        </p:nvSpPr>
        <p:spPr>
          <a:xfrm>
            <a:off x="4052825" y="5042025"/>
            <a:ext cx="5153336" cy="16967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B6A973C-DB30-04F0-42AF-DFC28AB3C024}"/>
              </a:ext>
            </a:extLst>
          </p:cNvPr>
          <p:cNvSpPr txBox="1"/>
          <p:nvPr/>
        </p:nvSpPr>
        <p:spPr>
          <a:xfrm>
            <a:off x="5217263" y="5049504"/>
            <a:ext cx="26003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b="1" dirty="0"/>
              <a:t>[</a:t>
            </a:r>
            <a:r>
              <a:rPr lang="ko-KR" altLang="en-US" sz="1600" b="1" dirty="0"/>
              <a:t>지식 주입형 오염원 분석</a:t>
            </a:r>
            <a:r>
              <a:rPr lang="en-US" altLang="ko-KR" sz="1600" b="1" dirty="0"/>
              <a:t>]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691F518-6188-A1E1-D2A1-E77E2F23309F}"/>
              </a:ext>
            </a:extLst>
          </p:cNvPr>
          <p:cNvSpPr txBox="1"/>
          <p:nvPr/>
        </p:nvSpPr>
        <p:spPr>
          <a:xfrm>
            <a:off x="4074843" y="5508025"/>
            <a:ext cx="13356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 dirty="0"/>
              <a:t>국내문헌</a:t>
            </a:r>
            <a:r>
              <a:rPr lang="en-US" altLang="ko-KR" sz="1200" b="1" dirty="0"/>
              <a:t>(Case1)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8022E22-EE42-2E08-5253-4D00257D5097}"/>
              </a:ext>
            </a:extLst>
          </p:cNvPr>
          <p:cNvSpPr txBox="1"/>
          <p:nvPr/>
        </p:nvSpPr>
        <p:spPr>
          <a:xfrm>
            <a:off x="4074843" y="5799272"/>
            <a:ext cx="13356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/>
              <a:t>국외문헌</a:t>
            </a:r>
            <a:r>
              <a:rPr lang="en-US" altLang="ko-KR" sz="1200" b="1" dirty="0"/>
              <a:t>(Case2)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8D8B621-8123-724D-EFB7-CB424985E736}"/>
              </a:ext>
            </a:extLst>
          </p:cNvPr>
          <p:cNvSpPr txBox="1"/>
          <p:nvPr/>
        </p:nvSpPr>
        <p:spPr>
          <a:xfrm>
            <a:off x="4074843" y="6095661"/>
            <a:ext cx="14462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 dirty="0"/>
              <a:t>국내</a:t>
            </a:r>
            <a:r>
              <a:rPr lang="en-US" altLang="ko-KR" sz="1200" b="1" dirty="0"/>
              <a:t>+</a:t>
            </a:r>
            <a:r>
              <a:rPr lang="ko-KR" altLang="en-US" sz="1200" b="1" dirty="0"/>
              <a:t>국외</a:t>
            </a:r>
            <a:r>
              <a:rPr lang="en-US" altLang="ko-KR" sz="1200" b="1" dirty="0"/>
              <a:t>(Case3)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7D5F13D-63C5-3E96-3C35-CD4E00EFF500}"/>
              </a:ext>
            </a:extLst>
          </p:cNvPr>
          <p:cNvSpPr txBox="1"/>
          <p:nvPr/>
        </p:nvSpPr>
        <p:spPr>
          <a:xfrm>
            <a:off x="7127711" y="5458510"/>
            <a:ext cx="212635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b="1" dirty="0"/>
              <a:t>KINN</a:t>
            </a:r>
            <a:r>
              <a:rPr lang="ko-KR" altLang="en-US" sz="1600" b="1" dirty="0"/>
              <a:t> 구축</a:t>
            </a:r>
            <a:endParaRPr lang="en-US" altLang="ko-KR" sz="1600" b="1" dirty="0"/>
          </a:p>
          <a:p>
            <a:pPr algn="ctr"/>
            <a:r>
              <a:rPr lang="en-US" altLang="ko-KR" sz="1400" b="1" dirty="0"/>
              <a:t>(Knowledge-Informed </a:t>
            </a:r>
          </a:p>
          <a:p>
            <a:pPr algn="ctr"/>
            <a:r>
              <a:rPr lang="en-US" altLang="ko-KR" sz="1400" b="1" dirty="0"/>
              <a:t>Neural Network)</a:t>
            </a:r>
          </a:p>
        </p:txBody>
      </p:sp>
      <p:sp>
        <p:nvSpPr>
          <p:cNvPr id="96" name="화살표: 오른쪽 95">
            <a:extLst>
              <a:ext uri="{FF2B5EF4-FFF2-40B4-BE49-F238E27FC236}">
                <a16:creationId xmlns:a16="http://schemas.microsoft.com/office/drawing/2014/main" id="{4C9761BC-01FC-5531-6819-F44B550CDA22}"/>
              </a:ext>
            </a:extLst>
          </p:cNvPr>
          <p:cNvSpPr/>
          <p:nvPr/>
        </p:nvSpPr>
        <p:spPr>
          <a:xfrm>
            <a:off x="5410465" y="5737087"/>
            <a:ext cx="476707" cy="303942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8" name="그림 97">
            <a:extLst>
              <a:ext uri="{FF2B5EF4-FFF2-40B4-BE49-F238E27FC236}">
                <a16:creationId xmlns:a16="http://schemas.microsoft.com/office/drawing/2014/main" id="{D7540336-A7EE-1096-0A0A-CA56BE87093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0423" y="5458510"/>
            <a:ext cx="1109249" cy="685124"/>
          </a:xfrm>
          <a:prstGeom prst="rect">
            <a:avLst/>
          </a:prstGeom>
        </p:spPr>
      </p:pic>
      <p:sp>
        <p:nvSpPr>
          <p:cNvPr id="99" name="화살표: 오른쪽 98">
            <a:extLst>
              <a:ext uri="{FF2B5EF4-FFF2-40B4-BE49-F238E27FC236}">
                <a16:creationId xmlns:a16="http://schemas.microsoft.com/office/drawing/2014/main" id="{54CEA8EF-2027-AAC7-D661-6E5CB8BA018A}"/>
              </a:ext>
            </a:extLst>
          </p:cNvPr>
          <p:cNvSpPr/>
          <p:nvPr/>
        </p:nvSpPr>
        <p:spPr>
          <a:xfrm>
            <a:off x="5715018" y="6237067"/>
            <a:ext cx="1911822" cy="78466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DDDCA555-DE64-CB9A-43D6-DBE01AFA09D6}"/>
              </a:ext>
            </a:extLst>
          </p:cNvPr>
          <p:cNvSpPr txBox="1"/>
          <p:nvPr/>
        </p:nvSpPr>
        <p:spPr>
          <a:xfrm>
            <a:off x="5110464" y="6360662"/>
            <a:ext cx="31948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XAI(SHAP)</a:t>
            </a:r>
            <a:r>
              <a:rPr lang="ko-KR" altLang="en-US" sz="1000" b="1" dirty="0"/>
              <a:t> 기반 임계치 자가 최적화 </a:t>
            </a:r>
            <a:r>
              <a:rPr lang="en-US" altLang="ko-KR" sz="1000" b="1" dirty="0"/>
              <a:t>feedback</a:t>
            </a: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8047E474-297F-047A-B0F2-6ECF4F285C08}"/>
              </a:ext>
            </a:extLst>
          </p:cNvPr>
          <p:cNvSpPr/>
          <p:nvPr/>
        </p:nvSpPr>
        <p:spPr>
          <a:xfrm>
            <a:off x="9340915" y="5042026"/>
            <a:ext cx="2703098" cy="16967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5569C031-56E8-13E5-EDBE-B10F782A2D53}"/>
              </a:ext>
            </a:extLst>
          </p:cNvPr>
          <p:cNvSpPr txBox="1"/>
          <p:nvPr/>
        </p:nvSpPr>
        <p:spPr>
          <a:xfrm>
            <a:off x="10165499" y="5069200"/>
            <a:ext cx="12250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b="1" dirty="0"/>
              <a:t>[</a:t>
            </a:r>
            <a:r>
              <a:rPr lang="ko-KR" altLang="en-US" sz="1600" b="1" dirty="0"/>
              <a:t>최종 평가</a:t>
            </a:r>
            <a:r>
              <a:rPr lang="en-US" altLang="ko-KR" sz="1600" b="1" dirty="0"/>
              <a:t>]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CDC775BC-B8A1-768D-BD6E-2A9181C94445}"/>
              </a:ext>
            </a:extLst>
          </p:cNvPr>
          <p:cNvSpPr txBox="1"/>
          <p:nvPr/>
        </p:nvSpPr>
        <p:spPr>
          <a:xfrm>
            <a:off x="10445433" y="5474784"/>
            <a:ext cx="174656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b="1" dirty="0"/>
              <a:t>AI screening </a:t>
            </a:r>
            <a:r>
              <a:rPr lang="ko-KR" altLang="en-US" sz="1600" b="1" dirty="0"/>
              <a:t>및 </a:t>
            </a:r>
            <a:endParaRPr lang="en-US" altLang="ko-KR" sz="1600" b="1" dirty="0"/>
          </a:p>
          <a:p>
            <a:pPr algn="ctr"/>
            <a:r>
              <a:rPr lang="ko-KR" altLang="en-US" sz="1600" b="1" dirty="0"/>
              <a:t>오염원 </a:t>
            </a:r>
            <a:endParaRPr lang="en-US" altLang="ko-KR" sz="1600" b="1" dirty="0"/>
          </a:p>
          <a:p>
            <a:pPr algn="ctr"/>
            <a:r>
              <a:rPr lang="ko-KR" altLang="en-US" sz="1600" b="1" dirty="0"/>
              <a:t>평가 결과 </a:t>
            </a:r>
            <a:endParaRPr lang="en-US" altLang="ko-KR" sz="1600" b="1" dirty="0"/>
          </a:p>
          <a:p>
            <a:pPr algn="ctr"/>
            <a:r>
              <a:rPr lang="ko-KR" altLang="en-US" sz="1600" b="1" dirty="0"/>
              <a:t>출력</a:t>
            </a:r>
            <a:endParaRPr lang="en-US" altLang="ko-KR" sz="1600" b="1" dirty="0"/>
          </a:p>
        </p:txBody>
      </p:sp>
      <p:sp>
        <p:nvSpPr>
          <p:cNvPr id="109" name="화살표: 오른쪽 108">
            <a:extLst>
              <a:ext uri="{FF2B5EF4-FFF2-40B4-BE49-F238E27FC236}">
                <a16:creationId xmlns:a16="http://schemas.microsoft.com/office/drawing/2014/main" id="{16DB9987-36B8-FAC1-B043-3BC04F13282E}"/>
              </a:ext>
            </a:extLst>
          </p:cNvPr>
          <p:cNvSpPr/>
          <p:nvPr/>
        </p:nvSpPr>
        <p:spPr>
          <a:xfrm rot="8006144">
            <a:off x="6852178" y="4500060"/>
            <a:ext cx="1216732" cy="258997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1" name="화살표: 오른쪽 110">
            <a:extLst>
              <a:ext uri="{FF2B5EF4-FFF2-40B4-BE49-F238E27FC236}">
                <a16:creationId xmlns:a16="http://schemas.microsoft.com/office/drawing/2014/main" id="{C4BBF95F-FEBC-D724-3A3B-35D7F8671AB5}"/>
              </a:ext>
            </a:extLst>
          </p:cNvPr>
          <p:cNvSpPr/>
          <p:nvPr/>
        </p:nvSpPr>
        <p:spPr>
          <a:xfrm>
            <a:off x="8889334" y="5147518"/>
            <a:ext cx="869610" cy="258997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3" name="그림 112">
            <a:extLst>
              <a:ext uri="{FF2B5EF4-FFF2-40B4-BE49-F238E27FC236}">
                <a16:creationId xmlns:a16="http://schemas.microsoft.com/office/drawing/2014/main" id="{4CC35F07-367B-5420-F13F-13B9A8340CB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0106" y="5499845"/>
            <a:ext cx="1108992" cy="1152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852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1F77E-4D8A-6251-D56E-7CE3731E5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69D2A3E-865C-C66F-8E6B-8748ADEE19D8}"/>
              </a:ext>
            </a:extLst>
          </p:cNvPr>
          <p:cNvSpPr txBox="1"/>
          <p:nvPr/>
        </p:nvSpPr>
        <p:spPr>
          <a:xfrm>
            <a:off x="0" y="119215"/>
            <a:ext cx="12153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/>
              <a:t>&lt;</a:t>
            </a:r>
            <a:r>
              <a:rPr lang="ko-KR" altLang="en-US" sz="2000" b="1" dirty="0"/>
              <a:t>붙임</a:t>
            </a:r>
            <a:r>
              <a:rPr lang="en-US" altLang="ko-KR" sz="2000" b="1" dirty="0"/>
              <a:t>4&gt;</a:t>
            </a:r>
            <a:endParaRPr lang="ko-KR" altLang="en-US" sz="2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E5DCFC-D00C-F59C-B633-6A2B872850F4}"/>
              </a:ext>
            </a:extLst>
          </p:cNvPr>
          <p:cNvSpPr txBox="1"/>
          <p:nvPr/>
        </p:nvSpPr>
        <p:spPr>
          <a:xfrm>
            <a:off x="1152922" y="26883"/>
            <a:ext cx="10036214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AI </a:t>
            </a:r>
            <a:r>
              <a:rPr lang="ko-KR" altLang="en-US" sz="2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오염원 평가 시스템</a:t>
            </a:r>
            <a:r>
              <a:rPr lang="en-US" altLang="ko-KR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참고자료</a:t>
            </a:r>
            <a:r>
              <a:rPr lang="en-US" altLang="ko-KR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lang="ko-KR" altLang="en-US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기술 검토용 세부 프로세스</a:t>
            </a:r>
            <a:r>
              <a:rPr lang="en-US" altLang="ko-KR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endParaRPr lang="ko-KR" altLang="en-US" b="1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00206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endParaRPr lang="ko-KR" altLang="en-US" sz="2600" b="1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00206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299140-A397-0AB4-2FDE-987E889E886F}"/>
              </a:ext>
            </a:extLst>
          </p:cNvPr>
          <p:cNvSpPr txBox="1"/>
          <p:nvPr/>
        </p:nvSpPr>
        <p:spPr>
          <a:xfrm>
            <a:off x="3055218" y="661358"/>
            <a:ext cx="53511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실측자료 기반 </a:t>
            </a:r>
            <a:r>
              <a:rPr lang="en-US" altLang="ko-KR" sz="2400" b="1" dirty="0"/>
              <a:t>AI </a:t>
            </a:r>
            <a:r>
              <a:rPr lang="ko-KR" altLang="en-US" sz="2400" b="1" dirty="0"/>
              <a:t>오염원 평가 시스템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4C45ABA8-6CA8-DCF7-06AD-495C436C458C}"/>
              </a:ext>
            </a:extLst>
          </p:cNvPr>
          <p:cNvSpPr/>
          <p:nvPr/>
        </p:nvSpPr>
        <p:spPr>
          <a:xfrm>
            <a:off x="272445" y="1123023"/>
            <a:ext cx="3391242" cy="40011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START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4DE82B1-4680-A672-33E2-187467DA98D8}"/>
              </a:ext>
            </a:extLst>
          </p:cNvPr>
          <p:cNvSpPr/>
          <p:nvPr/>
        </p:nvSpPr>
        <p:spPr>
          <a:xfrm>
            <a:off x="262549" y="1615467"/>
            <a:ext cx="3391242" cy="9260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EE2BD7-1A06-62AA-45B0-599E78846CB7}"/>
              </a:ext>
            </a:extLst>
          </p:cNvPr>
          <p:cNvSpPr txBox="1"/>
          <p:nvPr/>
        </p:nvSpPr>
        <p:spPr>
          <a:xfrm>
            <a:off x="523084" y="1687064"/>
            <a:ext cx="3140603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b="1" dirty="0"/>
              <a:t>수질 및 질산염 안정동위원소비 </a:t>
            </a:r>
            <a:endParaRPr lang="en-US" altLang="ko-KR" sz="1600" b="1" dirty="0"/>
          </a:p>
          <a:p>
            <a:pPr algn="ctr"/>
            <a:r>
              <a:rPr lang="ko-KR" altLang="en-US" sz="1600" b="1" dirty="0"/>
              <a:t>측정 데이터 입력</a:t>
            </a:r>
            <a:endParaRPr lang="en-US" altLang="ko-KR" sz="1600" b="1" dirty="0"/>
          </a:p>
          <a:p>
            <a:pPr algn="ctr"/>
            <a:r>
              <a:rPr lang="en-US" altLang="ko-KR" sz="1400" b="1" dirty="0"/>
              <a:t>(</a:t>
            </a:r>
            <a:r>
              <a:rPr lang="ko-KR" altLang="en-US" sz="1400" b="1" dirty="0"/>
              <a:t>학습용</a:t>
            </a:r>
            <a:r>
              <a:rPr lang="en-US" altLang="ko-KR" sz="1400" b="1" dirty="0"/>
              <a:t>(train)</a:t>
            </a:r>
            <a:r>
              <a:rPr lang="ko-KR" altLang="en-US" sz="1400" b="1" dirty="0"/>
              <a:t> 및 평가용</a:t>
            </a:r>
            <a:r>
              <a:rPr lang="en-US" altLang="ko-KR" sz="1400" b="1" dirty="0"/>
              <a:t>(test))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FB5B605-A420-AFA9-4C37-0FD2C54A43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13" y="1974879"/>
            <a:ext cx="495369" cy="523948"/>
          </a:xfrm>
          <a:prstGeom prst="rect">
            <a:avLst/>
          </a:prstGeom>
        </p:spPr>
      </p:pic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EB60819-EE84-2B7A-E64A-2AF161F32316}"/>
              </a:ext>
            </a:extLst>
          </p:cNvPr>
          <p:cNvSpPr/>
          <p:nvPr/>
        </p:nvSpPr>
        <p:spPr>
          <a:xfrm>
            <a:off x="262549" y="2662889"/>
            <a:ext cx="3391242" cy="40011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STEP1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78F222D-4833-4861-AC87-48823FFBAE41}"/>
              </a:ext>
            </a:extLst>
          </p:cNvPr>
          <p:cNvSpPr/>
          <p:nvPr/>
        </p:nvSpPr>
        <p:spPr>
          <a:xfrm>
            <a:off x="272445" y="3152692"/>
            <a:ext cx="3391242" cy="208318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7948BF-5CCD-2AE9-80BE-DE8612846AC6}"/>
              </a:ext>
            </a:extLst>
          </p:cNvPr>
          <p:cNvSpPr txBox="1"/>
          <p:nvPr/>
        </p:nvSpPr>
        <p:spPr>
          <a:xfrm>
            <a:off x="593052" y="3197385"/>
            <a:ext cx="27302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b="1" dirty="0"/>
              <a:t>데이터 </a:t>
            </a:r>
            <a:r>
              <a:rPr lang="ko-KR" altLang="en-US" sz="1600" b="1" dirty="0" err="1"/>
              <a:t>전처리</a:t>
            </a:r>
            <a:r>
              <a:rPr lang="ko-KR" altLang="en-US" sz="1600" b="1" dirty="0"/>
              <a:t> 및 특징 추출</a:t>
            </a:r>
            <a:endParaRPr lang="en-US" altLang="ko-KR" sz="1600" b="1" dirty="0"/>
          </a:p>
          <a:p>
            <a:pPr algn="ctr"/>
            <a:r>
              <a:rPr lang="en-US" altLang="ko-KR" sz="1400" b="1" dirty="0"/>
              <a:t>(Data preprocessing &amp;</a:t>
            </a:r>
          </a:p>
          <a:p>
            <a:pPr algn="ctr"/>
            <a:r>
              <a:rPr lang="en-US" altLang="ko-KR" sz="1400" b="1" dirty="0"/>
              <a:t>Feature extraction)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57CAD2-CAEE-264E-207B-52E80D55D42D}"/>
              </a:ext>
            </a:extLst>
          </p:cNvPr>
          <p:cNvSpPr txBox="1"/>
          <p:nvPr/>
        </p:nvSpPr>
        <p:spPr>
          <a:xfrm>
            <a:off x="262549" y="3947541"/>
            <a:ext cx="19334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 algn="ctr">
              <a:buAutoNum type="arabicParenR"/>
            </a:pPr>
            <a:r>
              <a:rPr lang="en-US" altLang="ko-KR" sz="1200" b="1" dirty="0"/>
              <a:t>Robust</a:t>
            </a:r>
            <a:r>
              <a:rPr lang="ko-KR" altLang="en-US" sz="1200" b="1" dirty="0"/>
              <a:t> </a:t>
            </a:r>
            <a:r>
              <a:rPr lang="en-US" altLang="ko-KR" sz="1200" b="1" dirty="0"/>
              <a:t>Imputation </a:t>
            </a:r>
          </a:p>
          <a:p>
            <a:pPr algn="ctr"/>
            <a:r>
              <a:rPr lang="en-US" altLang="ko-KR" sz="1200" b="1" dirty="0"/>
              <a:t>(Imputation ROS/KNN)</a:t>
            </a:r>
            <a:r>
              <a:rPr lang="ko-KR" altLang="en-US" sz="1200" b="1" dirty="0"/>
              <a:t> </a:t>
            </a:r>
            <a:endParaRPr lang="en-US" altLang="ko-KR" sz="12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FB70BDF-394C-A903-F902-7F6CB09AA3F0}"/>
              </a:ext>
            </a:extLst>
          </p:cNvPr>
          <p:cNvSpPr txBox="1"/>
          <p:nvPr/>
        </p:nvSpPr>
        <p:spPr>
          <a:xfrm>
            <a:off x="234290" y="4517970"/>
            <a:ext cx="23660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/>
              <a:t>2) 6</a:t>
            </a:r>
            <a:r>
              <a:rPr lang="ko-KR" altLang="en-US" sz="1200" b="1" dirty="0"/>
              <a:t>대 비율 파생변수 생성</a:t>
            </a:r>
            <a:endParaRPr lang="en-US" altLang="ko-KR" sz="1200" b="1" dirty="0"/>
          </a:p>
          <a:p>
            <a:pPr algn="ctr"/>
            <a:r>
              <a:rPr lang="en-US" altLang="ko-KR" sz="1200" b="1" dirty="0"/>
              <a:t>(Derived</a:t>
            </a:r>
            <a:r>
              <a:rPr lang="ko-KR" altLang="en-US" sz="1200" b="1" dirty="0"/>
              <a:t> </a:t>
            </a:r>
            <a:r>
              <a:rPr lang="en-US" altLang="ko-KR" sz="1200" b="1" dirty="0"/>
              <a:t>Ratios:</a:t>
            </a:r>
            <a:r>
              <a:rPr lang="ko-KR" altLang="en-US" sz="1200" b="1" dirty="0"/>
              <a:t> </a:t>
            </a:r>
            <a:r>
              <a:rPr lang="en-US" altLang="ko-KR" sz="1200" b="1" dirty="0"/>
              <a:t>T-N/T-P etc.)</a:t>
            </a:r>
          </a:p>
          <a:p>
            <a:pPr algn="ctr"/>
            <a:endParaRPr lang="en-US" altLang="ko-KR" sz="1200" b="1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047835B2-2607-531A-95EE-ADFE01E0FD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218" y="3922279"/>
            <a:ext cx="847843" cy="905001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E4B89695-EF83-59A8-6CFA-9347DB7E0593}"/>
              </a:ext>
            </a:extLst>
          </p:cNvPr>
          <p:cNvSpPr/>
          <p:nvPr/>
        </p:nvSpPr>
        <p:spPr>
          <a:xfrm>
            <a:off x="3802455" y="1123023"/>
            <a:ext cx="3623956" cy="40011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STEP2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2FD27B2-4CD4-3FCF-B5E0-0317DD07EDBE}"/>
              </a:ext>
            </a:extLst>
          </p:cNvPr>
          <p:cNvSpPr/>
          <p:nvPr/>
        </p:nvSpPr>
        <p:spPr>
          <a:xfrm>
            <a:off x="3802455" y="1613446"/>
            <a:ext cx="3623956" cy="260011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A8EDD9A-1599-EB7D-C9EC-21241A4936C1}"/>
              </a:ext>
            </a:extLst>
          </p:cNvPr>
          <p:cNvSpPr txBox="1"/>
          <p:nvPr/>
        </p:nvSpPr>
        <p:spPr>
          <a:xfrm>
            <a:off x="4365174" y="1649152"/>
            <a:ext cx="238078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b="1" dirty="0"/>
              <a:t>하이브리드 의사 </a:t>
            </a:r>
            <a:r>
              <a:rPr lang="ko-KR" altLang="en-US" sz="1600" b="1" dirty="0" err="1"/>
              <a:t>라벨링</a:t>
            </a:r>
            <a:endParaRPr lang="en-US" altLang="ko-KR" sz="1600" b="1" dirty="0"/>
          </a:p>
          <a:p>
            <a:pPr algn="ctr"/>
            <a:r>
              <a:rPr lang="en-US" altLang="ko-KR" sz="1400" b="1" dirty="0"/>
              <a:t>(Hybrid Pseudo-Labeling)</a:t>
            </a: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CA4F7A7E-AD7D-F94A-3BEC-B2F6FD354A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1386" y="2193374"/>
            <a:ext cx="695422" cy="714475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2B783EB0-0B04-C7A4-B6DC-BBBD5E8AB8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1707" y="2162592"/>
            <a:ext cx="714475" cy="724001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E63AA1AC-73D3-0E50-2043-34DC5E903419}"/>
              </a:ext>
            </a:extLst>
          </p:cNvPr>
          <p:cNvSpPr txBox="1"/>
          <p:nvPr/>
        </p:nvSpPr>
        <p:spPr>
          <a:xfrm>
            <a:off x="3888399" y="2869230"/>
            <a:ext cx="15302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 algn="ctr">
              <a:buAutoNum type="arabicParenR"/>
            </a:pPr>
            <a:r>
              <a:rPr lang="ko-KR" altLang="en-US" sz="1200" b="1" dirty="0"/>
              <a:t>도메인 </a:t>
            </a:r>
            <a:r>
              <a:rPr lang="ko-KR" altLang="en-US" sz="1200" b="1" dirty="0" err="1"/>
              <a:t>룰셋</a:t>
            </a:r>
            <a:endParaRPr lang="en-US" altLang="ko-KR" sz="1200" b="1" dirty="0"/>
          </a:p>
          <a:p>
            <a:pPr algn="ctr"/>
            <a:r>
              <a:rPr lang="en-US" altLang="ko-KR" sz="1200" b="1" dirty="0"/>
              <a:t>(Rule-based Filter)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1A20442-DE12-06AC-7FEC-D15EA220354E}"/>
              </a:ext>
            </a:extLst>
          </p:cNvPr>
          <p:cNvSpPr txBox="1"/>
          <p:nvPr/>
        </p:nvSpPr>
        <p:spPr>
          <a:xfrm>
            <a:off x="5599344" y="2867146"/>
            <a:ext cx="16770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/>
              <a:t>2) LLM</a:t>
            </a:r>
            <a:r>
              <a:rPr lang="ko-KR" altLang="en-US" sz="1200" b="1" dirty="0"/>
              <a:t> </a:t>
            </a:r>
            <a:r>
              <a:rPr lang="en-US" altLang="ko-KR" sz="1200" b="1" dirty="0"/>
              <a:t>Domain</a:t>
            </a:r>
            <a:r>
              <a:rPr lang="ko-KR" altLang="en-US" sz="1200" b="1" dirty="0"/>
              <a:t> 추론</a:t>
            </a:r>
            <a:endParaRPr lang="en-US" altLang="ko-KR" sz="1200" b="1" dirty="0"/>
          </a:p>
        </p:txBody>
      </p:sp>
      <p:sp>
        <p:nvSpPr>
          <p:cNvPr id="38" name="화살표: 오른쪽 37">
            <a:extLst>
              <a:ext uri="{FF2B5EF4-FFF2-40B4-BE49-F238E27FC236}">
                <a16:creationId xmlns:a16="http://schemas.microsoft.com/office/drawing/2014/main" id="{C0EF5C16-F363-3F34-121C-3052F3B87961}"/>
              </a:ext>
            </a:extLst>
          </p:cNvPr>
          <p:cNvSpPr/>
          <p:nvPr/>
        </p:nvSpPr>
        <p:spPr>
          <a:xfrm rot="8493143">
            <a:off x="4580035" y="2331764"/>
            <a:ext cx="695422" cy="250430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화살표: 오른쪽 39">
            <a:extLst>
              <a:ext uri="{FF2B5EF4-FFF2-40B4-BE49-F238E27FC236}">
                <a16:creationId xmlns:a16="http://schemas.microsoft.com/office/drawing/2014/main" id="{A84549A7-21AC-052D-9EA8-29608E7BF40D}"/>
              </a:ext>
            </a:extLst>
          </p:cNvPr>
          <p:cNvSpPr/>
          <p:nvPr/>
        </p:nvSpPr>
        <p:spPr>
          <a:xfrm rot="2573294">
            <a:off x="5693048" y="2331764"/>
            <a:ext cx="695422" cy="250430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63D9A91-EA94-1589-45AC-E94FB6E55841}"/>
              </a:ext>
            </a:extLst>
          </p:cNvPr>
          <p:cNvSpPr txBox="1"/>
          <p:nvPr/>
        </p:nvSpPr>
        <p:spPr>
          <a:xfrm>
            <a:off x="4019742" y="3699010"/>
            <a:ext cx="30636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/>
              <a:t>3) </a:t>
            </a:r>
            <a:r>
              <a:rPr lang="ko-KR" altLang="en-US" sz="1200" b="1" dirty="0" err="1"/>
              <a:t>미라벨링</a:t>
            </a:r>
            <a:r>
              <a:rPr lang="ko-KR" altLang="en-US" sz="1200" b="1" dirty="0"/>
              <a:t> 데이터에 적절한 </a:t>
            </a:r>
            <a:r>
              <a:rPr lang="ko-KR" altLang="en-US" sz="1200" b="1" dirty="0" err="1"/>
              <a:t>라벨링</a:t>
            </a:r>
            <a:r>
              <a:rPr lang="ko-KR" altLang="en-US" sz="1200" b="1" dirty="0"/>
              <a:t> 부여</a:t>
            </a:r>
            <a:endParaRPr lang="en-US" altLang="ko-KR" sz="1200" b="1" dirty="0"/>
          </a:p>
          <a:p>
            <a:pPr algn="ctr"/>
            <a:r>
              <a:rPr lang="en-US" altLang="ko-KR" sz="1200" b="1" dirty="0"/>
              <a:t>(Create Training Data)</a:t>
            </a:r>
          </a:p>
        </p:txBody>
      </p:sp>
      <p:sp>
        <p:nvSpPr>
          <p:cNvPr id="44" name="화살표: 오른쪽 43">
            <a:extLst>
              <a:ext uri="{FF2B5EF4-FFF2-40B4-BE49-F238E27FC236}">
                <a16:creationId xmlns:a16="http://schemas.microsoft.com/office/drawing/2014/main" id="{8CE5A0BF-C0D7-0092-7D75-D566C0FB112C}"/>
              </a:ext>
            </a:extLst>
          </p:cNvPr>
          <p:cNvSpPr/>
          <p:nvPr/>
        </p:nvSpPr>
        <p:spPr>
          <a:xfrm rot="7273869">
            <a:off x="5870593" y="3347058"/>
            <a:ext cx="491097" cy="250430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화살표: 오른쪽 45">
            <a:extLst>
              <a:ext uri="{FF2B5EF4-FFF2-40B4-BE49-F238E27FC236}">
                <a16:creationId xmlns:a16="http://schemas.microsoft.com/office/drawing/2014/main" id="{0B9C7AD4-5115-BBE7-146E-425E6CDB08E0}"/>
              </a:ext>
            </a:extLst>
          </p:cNvPr>
          <p:cNvSpPr/>
          <p:nvPr/>
        </p:nvSpPr>
        <p:spPr>
          <a:xfrm rot="2977793">
            <a:off x="4615706" y="3407773"/>
            <a:ext cx="491097" cy="250430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B3428ED5-6982-B3F5-ECE4-659509087D79}"/>
              </a:ext>
            </a:extLst>
          </p:cNvPr>
          <p:cNvSpPr/>
          <p:nvPr/>
        </p:nvSpPr>
        <p:spPr>
          <a:xfrm>
            <a:off x="3802455" y="4363048"/>
            <a:ext cx="3614060" cy="40011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STEP3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0A2001AC-3016-C533-7B0F-6D036543BE6C}"/>
              </a:ext>
            </a:extLst>
          </p:cNvPr>
          <p:cNvSpPr/>
          <p:nvPr/>
        </p:nvSpPr>
        <p:spPr>
          <a:xfrm>
            <a:off x="3799191" y="4853471"/>
            <a:ext cx="3623956" cy="188594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5E5460A-0A3A-8DAA-1180-0CEF2C236A08}"/>
              </a:ext>
            </a:extLst>
          </p:cNvPr>
          <p:cNvSpPr txBox="1"/>
          <p:nvPr/>
        </p:nvSpPr>
        <p:spPr>
          <a:xfrm>
            <a:off x="4002909" y="4853471"/>
            <a:ext cx="309732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b="1" dirty="0"/>
              <a:t>End-member </a:t>
            </a:r>
            <a:r>
              <a:rPr lang="ko-KR" altLang="en-US" sz="1600" b="1" dirty="0"/>
              <a:t>기반 데이터 증강</a:t>
            </a:r>
            <a:endParaRPr lang="en-US" altLang="ko-KR" sz="1600" b="1" dirty="0"/>
          </a:p>
          <a:p>
            <a:pPr algn="ctr"/>
            <a:r>
              <a:rPr lang="en-US" altLang="ko-KR" sz="1400" b="1" dirty="0"/>
              <a:t>(Data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Augmentation)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1F907D7-0BF5-30DD-8830-AD0CE1FDAB80}"/>
              </a:ext>
            </a:extLst>
          </p:cNvPr>
          <p:cNvSpPr txBox="1"/>
          <p:nvPr/>
        </p:nvSpPr>
        <p:spPr>
          <a:xfrm>
            <a:off x="3870359" y="5483544"/>
            <a:ext cx="24801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 algn="ctr">
              <a:buAutoNum type="arabicParenR"/>
            </a:pPr>
            <a:r>
              <a:rPr lang="ko-KR" altLang="en-US" sz="1200" b="1" dirty="0"/>
              <a:t>오염원 범주 </a:t>
            </a:r>
            <a:r>
              <a:rPr lang="ko-KR" altLang="en-US" sz="1200" b="1"/>
              <a:t>기반 </a:t>
            </a:r>
            <a:r>
              <a:rPr lang="ko-KR" altLang="en-US" sz="1200" b="1" smtClean="0"/>
              <a:t>불균형 조정</a:t>
            </a:r>
            <a:endParaRPr lang="en-US" altLang="ko-KR" sz="1200" b="1" dirty="0"/>
          </a:p>
          <a:p>
            <a:pPr algn="ctr"/>
            <a:r>
              <a:rPr lang="en-US" altLang="ko-KR" sz="1200" b="1" dirty="0"/>
              <a:t>(</a:t>
            </a:r>
            <a:r>
              <a:rPr lang="en-US" altLang="ko-KR" sz="1200" b="1"/>
              <a:t>Class </a:t>
            </a:r>
            <a:r>
              <a:rPr lang="en-US" altLang="ko-KR" sz="1200" b="1" smtClean="0"/>
              <a:t>Imbalance Adjustment)</a:t>
            </a:r>
            <a:endParaRPr lang="en-US" altLang="ko-KR" sz="1200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4A27A95-4BAC-C06C-9235-76AF24FB2707}"/>
              </a:ext>
            </a:extLst>
          </p:cNvPr>
          <p:cNvSpPr txBox="1"/>
          <p:nvPr/>
        </p:nvSpPr>
        <p:spPr>
          <a:xfrm>
            <a:off x="3885541" y="5925787"/>
            <a:ext cx="18452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/>
              <a:t>2) Domain</a:t>
            </a:r>
            <a:r>
              <a:rPr lang="ko-KR" altLang="en-US" sz="1200" b="1" dirty="0"/>
              <a:t> </a:t>
            </a:r>
            <a:r>
              <a:rPr lang="en-US" altLang="ko-KR" sz="1200" b="1" dirty="0"/>
              <a:t>profile</a:t>
            </a:r>
            <a:r>
              <a:rPr lang="ko-KR" altLang="en-US" sz="1200" b="1" dirty="0"/>
              <a:t> 활용</a:t>
            </a:r>
            <a:endParaRPr lang="en-US" altLang="ko-KR" sz="1200" b="1" dirty="0"/>
          </a:p>
        </p:txBody>
      </p:sp>
      <p:pic>
        <p:nvPicPr>
          <p:cNvPr id="58" name="그림 57">
            <a:extLst>
              <a:ext uri="{FF2B5EF4-FFF2-40B4-BE49-F238E27FC236}">
                <a16:creationId xmlns:a16="http://schemas.microsoft.com/office/drawing/2014/main" id="{899DF961-337A-52E0-1A93-28C7D41AD0B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1045" y="5467258"/>
            <a:ext cx="966717" cy="1031889"/>
          </a:xfrm>
          <a:prstGeom prst="rect">
            <a:avLst/>
          </a:prstGeom>
        </p:spPr>
      </p:pic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C4EBECD0-DF9E-B785-3A17-29AAE55EF163}"/>
              </a:ext>
            </a:extLst>
          </p:cNvPr>
          <p:cNvSpPr/>
          <p:nvPr/>
        </p:nvSpPr>
        <p:spPr>
          <a:xfrm>
            <a:off x="7565179" y="1123023"/>
            <a:ext cx="4354374" cy="40011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STEP4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2011911A-E7EE-5488-483D-1B125DECDD6C}"/>
              </a:ext>
            </a:extLst>
          </p:cNvPr>
          <p:cNvSpPr/>
          <p:nvPr/>
        </p:nvSpPr>
        <p:spPr>
          <a:xfrm>
            <a:off x="7575075" y="1606633"/>
            <a:ext cx="4344478" cy="23570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E207A05-9403-38C8-77E2-40AB1E8F7B55}"/>
              </a:ext>
            </a:extLst>
          </p:cNvPr>
          <p:cNvSpPr txBox="1"/>
          <p:nvPr/>
        </p:nvSpPr>
        <p:spPr>
          <a:xfrm>
            <a:off x="8353889" y="1649152"/>
            <a:ext cx="293747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b="1" dirty="0"/>
              <a:t>22</a:t>
            </a:r>
            <a:r>
              <a:rPr lang="ko-KR" altLang="en-US" sz="1600" b="1" dirty="0"/>
              <a:t>대 </a:t>
            </a:r>
            <a:r>
              <a:rPr lang="en-US" altLang="ko-KR" sz="1600" b="1" dirty="0"/>
              <a:t>AI model </a:t>
            </a:r>
            <a:r>
              <a:rPr lang="ko-KR" altLang="en-US" sz="1600" b="1" dirty="0"/>
              <a:t>앙상블 학습</a:t>
            </a:r>
            <a:endParaRPr lang="en-US" altLang="ko-KR" sz="1600" b="1" dirty="0"/>
          </a:p>
          <a:p>
            <a:pPr algn="ctr"/>
            <a:r>
              <a:rPr lang="en-US" altLang="ko-KR" sz="1400" b="1" dirty="0"/>
              <a:t>(Ensemble Learning: 22 Models)</a:t>
            </a:r>
          </a:p>
        </p:txBody>
      </p:sp>
      <p:pic>
        <p:nvPicPr>
          <p:cNvPr id="66" name="그림 65">
            <a:extLst>
              <a:ext uri="{FF2B5EF4-FFF2-40B4-BE49-F238E27FC236}">
                <a16:creationId xmlns:a16="http://schemas.microsoft.com/office/drawing/2014/main" id="{8606C92C-F552-4EC1-077C-454270813EC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928" y="2167677"/>
            <a:ext cx="2918246" cy="1244903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BB9C5961-AE4C-6C65-053E-A73D6D11827C}"/>
              </a:ext>
            </a:extLst>
          </p:cNvPr>
          <p:cNvSpPr txBox="1"/>
          <p:nvPr/>
        </p:nvSpPr>
        <p:spPr>
          <a:xfrm>
            <a:off x="7849457" y="3484891"/>
            <a:ext cx="38499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 algn="ctr">
              <a:buAutoNum type="arabicParenR"/>
            </a:pPr>
            <a:r>
              <a:rPr lang="en-US" altLang="ko-KR" sz="1200" b="1" dirty="0"/>
              <a:t>Machine Learning/Deep Learning Combination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6C47487-5BC6-A79F-FBB8-7911588F8B13}"/>
              </a:ext>
            </a:extLst>
          </p:cNvPr>
          <p:cNvSpPr txBox="1"/>
          <p:nvPr/>
        </p:nvSpPr>
        <p:spPr>
          <a:xfrm>
            <a:off x="7849457" y="3704483"/>
            <a:ext cx="15755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/>
              <a:t>2) Soft Voting </a:t>
            </a:r>
            <a:r>
              <a:rPr lang="ko-KR" altLang="en-US" sz="1200" b="1" dirty="0"/>
              <a:t>적용</a:t>
            </a:r>
            <a:endParaRPr lang="en-US" altLang="ko-KR" sz="1200" b="1" dirty="0"/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CE2EEAB9-6E2F-A6FF-55E3-13399F1635A7}"/>
              </a:ext>
            </a:extLst>
          </p:cNvPr>
          <p:cNvSpPr/>
          <p:nvPr/>
        </p:nvSpPr>
        <p:spPr>
          <a:xfrm>
            <a:off x="7571811" y="4047183"/>
            <a:ext cx="4334584" cy="40011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STEP5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11375313-3576-5CA0-AB49-9E1134FBA50A}"/>
              </a:ext>
            </a:extLst>
          </p:cNvPr>
          <p:cNvSpPr/>
          <p:nvPr/>
        </p:nvSpPr>
        <p:spPr>
          <a:xfrm>
            <a:off x="7571811" y="4512994"/>
            <a:ext cx="4334584" cy="22394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68CAB47-DB6E-9E2B-F698-425A0AE9FB95}"/>
              </a:ext>
            </a:extLst>
          </p:cNvPr>
          <p:cNvSpPr txBox="1"/>
          <p:nvPr/>
        </p:nvSpPr>
        <p:spPr>
          <a:xfrm>
            <a:off x="7592359" y="4546433"/>
            <a:ext cx="378071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b="1" dirty="0"/>
              <a:t>통합 예측 </a:t>
            </a:r>
            <a:r>
              <a:rPr lang="ko-KR" altLang="en-US" sz="1600" b="1"/>
              <a:t>및 </a:t>
            </a:r>
            <a:r>
              <a:rPr lang="en-US" altLang="ko-KR" sz="1600" b="1" smtClean="0"/>
              <a:t>O</a:t>
            </a:r>
            <a:r>
              <a:rPr lang="en-US" altLang="ko-KR" sz="1600" b="1" smtClean="0"/>
              <a:t>ut-of-</a:t>
            </a:r>
            <a:r>
              <a:rPr lang="en-US" altLang="ko-KR" sz="1600" b="1" smtClean="0"/>
              <a:t>Distribution </a:t>
            </a:r>
            <a:r>
              <a:rPr lang="ko-KR" altLang="en-US" sz="1600" b="1" dirty="0"/>
              <a:t>탐지</a:t>
            </a:r>
            <a:endParaRPr lang="en-US" altLang="ko-KR" sz="1600" b="1" dirty="0"/>
          </a:p>
          <a:p>
            <a:pPr algn="ctr"/>
            <a:r>
              <a:rPr lang="en-US" altLang="ko-KR" sz="1400" b="1" dirty="0"/>
              <a:t>(Prediction &amp; OOD Detection)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1516473-563C-22E2-AF99-D7556B543D8E}"/>
              </a:ext>
            </a:extLst>
          </p:cNvPr>
          <p:cNvSpPr txBox="1"/>
          <p:nvPr/>
        </p:nvSpPr>
        <p:spPr>
          <a:xfrm>
            <a:off x="7706530" y="5040291"/>
            <a:ext cx="16017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 algn="ctr">
              <a:buAutoNum type="arabicParenR"/>
            </a:pPr>
            <a:r>
              <a:rPr lang="ko-KR" altLang="en-US" sz="1200" b="1" dirty="0"/>
              <a:t>평가 데이터 예측</a:t>
            </a:r>
            <a:endParaRPr lang="en-US" altLang="ko-KR" sz="1200" b="1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6100FD3-1AEE-F1BC-10EB-52ECE692D20B}"/>
              </a:ext>
            </a:extLst>
          </p:cNvPr>
          <p:cNvSpPr txBox="1"/>
          <p:nvPr/>
        </p:nvSpPr>
        <p:spPr>
          <a:xfrm>
            <a:off x="7706530" y="5266649"/>
            <a:ext cx="29001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/>
              <a:t>2) </a:t>
            </a:r>
            <a:r>
              <a:rPr lang="ko-KR" altLang="en-US" sz="1200" b="1" dirty="0" err="1"/>
              <a:t>미학습</a:t>
            </a:r>
            <a:r>
              <a:rPr lang="en-US" altLang="ko-KR" sz="1200" b="1" dirty="0"/>
              <a:t>/</a:t>
            </a:r>
            <a:r>
              <a:rPr lang="ko-KR" altLang="en-US" sz="1200" b="1" dirty="0"/>
              <a:t>복합 오염원</a:t>
            </a:r>
            <a:r>
              <a:rPr lang="en-US" altLang="ko-KR" sz="1200" b="1" dirty="0"/>
              <a:t>(Unknown)</a:t>
            </a:r>
            <a:r>
              <a:rPr lang="ko-KR" altLang="en-US" sz="1200" b="1" dirty="0"/>
              <a:t> 판별</a:t>
            </a:r>
            <a:endParaRPr lang="en-US" altLang="ko-KR" sz="1200" b="1" dirty="0"/>
          </a:p>
        </p:txBody>
      </p:sp>
      <p:pic>
        <p:nvPicPr>
          <p:cNvPr id="82" name="그림 81">
            <a:extLst>
              <a:ext uri="{FF2B5EF4-FFF2-40B4-BE49-F238E27FC236}">
                <a16:creationId xmlns:a16="http://schemas.microsoft.com/office/drawing/2014/main" id="{41AAFC22-1A34-D7F5-C8BD-59CD9CDA755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2910" y="4977683"/>
            <a:ext cx="989566" cy="979150"/>
          </a:xfrm>
          <a:prstGeom prst="rect">
            <a:avLst/>
          </a:prstGeom>
        </p:spPr>
      </p:pic>
      <p:sp>
        <p:nvSpPr>
          <p:cNvPr id="83" name="화살표: 아래쪽 82">
            <a:extLst>
              <a:ext uri="{FF2B5EF4-FFF2-40B4-BE49-F238E27FC236}">
                <a16:creationId xmlns:a16="http://schemas.microsoft.com/office/drawing/2014/main" id="{7055CC94-1AD0-78DF-4507-50B2824B9E3D}"/>
              </a:ext>
            </a:extLst>
          </p:cNvPr>
          <p:cNvSpPr/>
          <p:nvPr/>
        </p:nvSpPr>
        <p:spPr>
          <a:xfrm>
            <a:off x="9623834" y="5543648"/>
            <a:ext cx="362138" cy="191329"/>
          </a:xfrm>
          <a:prstGeom prst="down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1089F40-B9C4-1F06-2BA2-092C94D742D4}"/>
              </a:ext>
            </a:extLst>
          </p:cNvPr>
          <p:cNvSpPr txBox="1"/>
          <p:nvPr/>
        </p:nvSpPr>
        <p:spPr>
          <a:xfrm>
            <a:off x="7622817" y="5672664"/>
            <a:ext cx="17652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b="1" dirty="0"/>
              <a:t>최종 오염원 판별</a:t>
            </a:r>
            <a:endParaRPr lang="en-US" altLang="ko-KR" sz="1600" b="1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B80818E-E971-31C1-4C49-D5C83E6DF5D5}"/>
              </a:ext>
            </a:extLst>
          </p:cNvPr>
          <p:cNvSpPr txBox="1"/>
          <p:nvPr/>
        </p:nvSpPr>
        <p:spPr>
          <a:xfrm>
            <a:off x="7713162" y="5977866"/>
            <a:ext cx="25298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 algn="ctr">
              <a:buAutoNum type="arabicParenR"/>
            </a:pPr>
            <a:r>
              <a:rPr lang="ko-KR" altLang="en-US" sz="1200" b="1" dirty="0"/>
              <a:t>신뢰도</a:t>
            </a:r>
            <a:r>
              <a:rPr lang="en-US" altLang="ko-KR" sz="1200" b="1" dirty="0"/>
              <a:t>(Confidence) </a:t>
            </a:r>
            <a:r>
              <a:rPr lang="ko-KR" altLang="en-US" sz="1200" b="1" dirty="0"/>
              <a:t>점수 산출</a:t>
            </a:r>
            <a:endParaRPr lang="en-US" altLang="ko-KR" sz="1200" b="1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CFCC280-44E9-6F28-F17A-B52A4F20E137}"/>
              </a:ext>
            </a:extLst>
          </p:cNvPr>
          <p:cNvSpPr txBox="1"/>
          <p:nvPr/>
        </p:nvSpPr>
        <p:spPr>
          <a:xfrm>
            <a:off x="7721002" y="6206545"/>
            <a:ext cx="26074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/>
              <a:t>2) </a:t>
            </a:r>
            <a:r>
              <a:rPr lang="ko-KR" altLang="en-US" sz="1200" b="1" dirty="0"/>
              <a:t>계층적 분류</a:t>
            </a:r>
            <a:r>
              <a:rPr lang="en-US" altLang="ko-KR" sz="1200" b="1" dirty="0"/>
              <a:t>(Macro Categories)</a:t>
            </a:r>
          </a:p>
        </p:txBody>
      </p:sp>
      <p:pic>
        <p:nvPicPr>
          <p:cNvPr id="91" name="그림 90">
            <a:extLst>
              <a:ext uri="{FF2B5EF4-FFF2-40B4-BE49-F238E27FC236}">
                <a16:creationId xmlns:a16="http://schemas.microsoft.com/office/drawing/2014/main" id="{1C3A45B8-A7CD-05B0-D2B3-243A279312A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6940" y="6034327"/>
            <a:ext cx="1535536" cy="653044"/>
          </a:xfrm>
          <a:prstGeom prst="rect">
            <a:avLst/>
          </a:prstGeom>
        </p:spPr>
      </p:pic>
      <p:sp>
        <p:nvSpPr>
          <p:cNvPr id="92" name="화살표: 오른쪽 91">
            <a:extLst>
              <a:ext uri="{FF2B5EF4-FFF2-40B4-BE49-F238E27FC236}">
                <a16:creationId xmlns:a16="http://schemas.microsoft.com/office/drawing/2014/main" id="{309CA450-1C97-2211-29A7-81E891382A6E}"/>
              </a:ext>
            </a:extLst>
          </p:cNvPr>
          <p:cNvSpPr/>
          <p:nvPr/>
        </p:nvSpPr>
        <p:spPr>
          <a:xfrm rot="5400000">
            <a:off x="1921147" y="2494400"/>
            <a:ext cx="232818" cy="189262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화살표: 오른쪽 92">
            <a:extLst>
              <a:ext uri="{FF2B5EF4-FFF2-40B4-BE49-F238E27FC236}">
                <a16:creationId xmlns:a16="http://schemas.microsoft.com/office/drawing/2014/main" id="{B6B03F9D-8DFF-C91A-DE87-675AC90BCADF}"/>
              </a:ext>
            </a:extLst>
          </p:cNvPr>
          <p:cNvSpPr/>
          <p:nvPr/>
        </p:nvSpPr>
        <p:spPr>
          <a:xfrm rot="19121412">
            <a:off x="3389164" y="3344120"/>
            <a:ext cx="632256" cy="313595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화살표: 오른쪽 94">
            <a:extLst>
              <a:ext uri="{FF2B5EF4-FFF2-40B4-BE49-F238E27FC236}">
                <a16:creationId xmlns:a16="http://schemas.microsoft.com/office/drawing/2014/main" id="{D15ED1BB-2585-CE89-78B0-39880AE9271F}"/>
              </a:ext>
            </a:extLst>
          </p:cNvPr>
          <p:cNvSpPr/>
          <p:nvPr/>
        </p:nvSpPr>
        <p:spPr>
          <a:xfrm rot="5400000">
            <a:off x="5447677" y="4186805"/>
            <a:ext cx="232818" cy="189262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화살표: 오른쪽 96">
            <a:extLst>
              <a:ext uri="{FF2B5EF4-FFF2-40B4-BE49-F238E27FC236}">
                <a16:creationId xmlns:a16="http://schemas.microsoft.com/office/drawing/2014/main" id="{F9837989-0098-F7A9-AB39-1C6F9993F10D}"/>
              </a:ext>
            </a:extLst>
          </p:cNvPr>
          <p:cNvSpPr/>
          <p:nvPr/>
        </p:nvSpPr>
        <p:spPr>
          <a:xfrm rot="19121412">
            <a:off x="6583766" y="3827665"/>
            <a:ext cx="1495621" cy="313595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화살표: 오른쪽 98">
            <a:extLst>
              <a:ext uri="{FF2B5EF4-FFF2-40B4-BE49-F238E27FC236}">
                <a16:creationId xmlns:a16="http://schemas.microsoft.com/office/drawing/2014/main" id="{EA0431A2-78E3-DB72-6037-DD68B7C8868D}"/>
              </a:ext>
            </a:extLst>
          </p:cNvPr>
          <p:cNvSpPr/>
          <p:nvPr/>
        </p:nvSpPr>
        <p:spPr>
          <a:xfrm rot="5400000">
            <a:off x="9558535" y="3885003"/>
            <a:ext cx="232818" cy="189262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5806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2366</TotalTime>
  <Words>1028</Words>
  <Application>Microsoft Office PowerPoint</Application>
  <PresentationFormat>와이드스크린</PresentationFormat>
  <Paragraphs>198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4" baseType="lpstr">
      <vt:lpstr>MS Gothic</vt:lpstr>
      <vt:lpstr>고양덕양 B</vt:lpstr>
      <vt:lpstr>나눔바른고딕</vt:lpstr>
      <vt:lpstr>맑은 고딕</vt:lpstr>
      <vt:lpstr>Arial</vt:lpstr>
      <vt:lpstr>Gill Sans MT</vt:lpstr>
      <vt:lpstr>Times New Roman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Nier</dc:creator>
  <cp:lastModifiedBy>Nier</cp:lastModifiedBy>
  <cp:revision>198</cp:revision>
  <cp:lastPrinted>2026-08-11T04:06:18Z</cp:lastPrinted>
  <dcterms:created xsi:type="dcterms:W3CDTF">2026-07-28T04:37:35Z</dcterms:created>
  <dcterms:modified xsi:type="dcterms:W3CDTF">2026-10-13T08:17:28Z</dcterms:modified>
</cp:coreProperties>
</file>