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62" r:id="rId3"/>
    <p:sldId id="259" r:id="rId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6641" autoAdjust="0"/>
  </p:normalViewPr>
  <p:slideViewPr>
    <p:cSldViewPr snapToGrid="0">
      <p:cViewPr varScale="1">
        <p:scale>
          <a:sx n="119" d="100"/>
          <a:sy n="119" d="100"/>
        </p:scale>
        <p:origin x="56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01511-0405-4F3C-9CC7-59D2DC217B90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5D940-19D0-49D9-BB22-39878D7205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3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0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72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4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5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53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69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33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0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7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0583" y="6237696"/>
            <a:ext cx="2743200" cy="365125"/>
          </a:xfrm>
          <a:prstGeom prst="rect">
            <a:avLst/>
          </a:prstGeom>
        </p:spPr>
        <p:txBody>
          <a:bodyPr/>
          <a:lstStyle/>
          <a:p>
            <a:fld id="{CF861DB1-7CD0-4EAD-ACA9-006A4A6740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519113" y="1400175"/>
            <a:ext cx="11161712" cy="4687888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Font typeface="Wingdings" panose="05000000000000000000" pitchFamily="2" charset="2"/>
              <a:buChar char="l"/>
              <a:defRPr>
                <a:latin typeface="고양덕양 B" pitchFamily="2" charset="-127"/>
                <a:ea typeface="고양덕양 B" pitchFamily="2" charset="-127"/>
              </a:defRPr>
            </a:lvl1pPr>
            <a:lvl2pPr marL="685800" indent="-228600">
              <a:buFont typeface="Gill Sans MT" panose="020B0502020104020203" pitchFamily="34" charset="0"/>
              <a:buChar char="–"/>
              <a:defRPr>
                <a:latin typeface="고양덕양 B" pitchFamily="2" charset="-127"/>
                <a:ea typeface="고양덕양 B" pitchFamily="2" charset="-127"/>
              </a:defRPr>
            </a:lvl2pPr>
            <a:lvl3pPr>
              <a:defRPr>
                <a:latin typeface="고양덕양 B" pitchFamily="2" charset="-127"/>
                <a:ea typeface="고양덕양 B" pitchFamily="2" charset="-127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7583B1C-0A43-4C46-B983-505CCAE49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duotone>
              <a:prstClr val="black"/>
              <a:srgbClr val="9BBB5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69" b="49216"/>
          <a:stretch/>
        </p:blipFill>
        <p:spPr>
          <a:xfrm>
            <a:off x="1" y="0"/>
            <a:ext cx="12191999" cy="60033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38B28A-97DF-C745-8816-C1FDE713462C}"/>
              </a:ext>
            </a:extLst>
          </p:cNvPr>
          <p:cNvSpPr/>
          <p:nvPr userDrawn="1"/>
        </p:nvSpPr>
        <p:spPr>
          <a:xfrm>
            <a:off x="0" y="600331"/>
            <a:ext cx="1219200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1100832" y="76524"/>
            <a:ext cx="9994557" cy="676867"/>
          </a:xfrm>
          <a:prstGeom prst="rect">
            <a:avLst/>
          </a:prstGeom>
        </p:spPr>
        <p:txBody>
          <a:bodyPr/>
          <a:lstStyle>
            <a:lvl1pPr>
              <a:defRPr sz="30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25ABE7-A16A-824D-B06C-CEFB4D1FA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0087675">
            <a:off x="269928" y="26353"/>
            <a:ext cx="693503" cy="7811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그룹 23"/>
          <p:cNvGrpSpPr>
            <a:grpSpLocks noChangeAspect="1"/>
          </p:cNvGrpSpPr>
          <p:nvPr userDrawn="1"/>
        </p:nvGrpSpPr>
        <p:grpSpPr>
          <a:xfrm>
            <a:off x="9745900" y="24691"/>
            <a:ext cx="2460615" cy="521919"/>
            <a:chOff x="2261630" y="1618848"/>
            <a:chExt cx="2964595" cy="628818"/>
          </a:xfrm>
        </p:grpSpPr>
        <p:pic>
          <p:nvPicPr>
            <p:cNvPr id="25" name="Picture 45">
              <a:extLst>
                <a:ext uri="{FF2B5EF4-FFF2-40B4-BE49-F238E27FC236}">
                  <a16:creationId xmlns:a16="http://schemas.microsoft.com/office/drawing/2014/main" id="{37AF8506-181C-B54B-8F3B-DF4C2B31D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1630" y="1707006"/>
              <a:ext cx="2821871" cy="54066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4355977" y="1618848"/>
              <a:ext cx="870248" cy="333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i="1" baseline="0" dirty="0">
                  <a:solidFill>
                    <a:srgbClr val="4472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+Pride </a:t>
              </a:r>
              <a:endParaRPr lang="ko-KR" altLang="en-US" sz="1200" b="1" i="1" baseline="0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075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1160-8C05-4B15-8E89-7C1E92CC246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E5EF4-DCB1-423D-BC86-01AA450A99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0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7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B06D27-EE42-AFDF-ED4A-D7AF291FE5B1}"/>
              </a:ext>
            </a:extLst>
          </p:cNvPr>
          <p:cNvSpPr txBox="1"/>
          <p:nvPr/>
        </p:nvSpPr>
        <p:spPr>
          <a:xfrm>
            <a:off x="-70314" y="26884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안정동위원소 결합 오염평가 체계 고도화를 위한 국가 수질측정망 적용 연구</a:t>
            </a:r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25AA0834-9862-7E81-DEB9-8131FFE1A7D7}"/>
              </a:ext>
            </a:extLst>
          </p:cNvPr>
          <p:cNvSpPr/>
          <p:nvPr/>
        </p:nvSpPr>
        <p:spPr>
          <a:xfrm>
            <a:off x="168442" y="826723"/>
            <a:ext cx="5245530" cy="16301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5">
            <a:extLst>
              <a:ext uri="{FF2B5EF4-FFF2-40B4-BE49-F238E27FC236}">
                <a16:creationId xmlns:a16="http://schemas.microsoft.com/office/drawing/2014/main" id="{F864FCD2-9023-7F68-C269-CE868DCBF9A9}"/>
              </a:ext>
            </a:extLst>
          </p:cNvPr>
          <p:cNvSpPr/>
          <p:nvPr/>
        </p:nvSpPr>
        <p:spPr>
          <a:xfrm>
            <a:off x="502092" y="665052"/>
            <a:ext cx="1688847" cy="33932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연구의 필요성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AEBDA-8B1E-AE0B-83F9-EA6363290E25}"/>
              </a:ext>
            </a:extLst>
          </p:cNvPr>
          <p:cNvSpPr txBox="1"/>
          <p:nvPr/>
        </p:nvSpPr>
        <p:spPr>
          <a:xfrm>
            <a:off x="389175" y="1030050"/>
            <a:ext cx="5024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기후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토지이용 변화에 따른 비점오염원 특성 복잡화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F6360-BDD5-E6BF-56EB-B19EE08049DD}"/>
              </a:ext>
            </a:extLst>
          </p:cNvPr>
          <p:cNvSpPr txBox="1"/>
          <p:nvPr/>
        </p:nvSpPr>
        <p:spPr>
          <a:xfrm>
            <a:off x="1314006" y="1368604"/>
            <a:ext cx="3853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기존 농도 중심 평가</a:t>
            </a:r>
            <a:r>
              <a:rPr lang="en-US" altLang="ko-KR" sz="1400" b="1" dirty="0"/>
              <a:t>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정밀한 </a:t>
            </a:r>
            <a:r>
              <a:rPr lang="ko-KR" altLang="en-US" sz="1400" b="1" dirty="0"/>
              <a:t>오염원 기원 및 기여도 규명에 한계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C9680-DEE1-00B5-3759-FF46599A9960}"/>
              </a:ext>
            </a:extLst>
          </p:cNvPr>
          <p:cNvSpPr txBox="1"/>
          <p:nvPr/>
        </p:nvSpPr>
        <p:spPr>
          <a:xfrm>
            <a:off x="1314006" y="1897088"/>
            <a:ext cx="3252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질소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담수 부영양화 </a:t>
            </a:r>
            <a:r>
              <a:rPr lang="en-US" altLang="ko-KR" sz="1400" b="1" dirty="0"/>
              <a:t>&amp; </a:t>
            </a:r>
            <a:r>
              <a:rPr lang="ko-KR" altLang="en-US" sz="1400" b="1" dirty="0"/>
              <a:t>조류 발생</a:t>
            </a:r>
            <a:r>
              <a:rPr lang="en-US" altLang="ko-KR" sz="1400" b="1" dirty="0"/>
              <a:t>): </a:t>
            </a:r>
          </a:p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sz="1400" b="1" dirty="0"/>
              <a:t>관련 오염원 정량적 평가 체계 미흡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0C0A3E71-0CC1-B740-A131-D315E5D0A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08" y="1451538"/>
            <a:ext cx="792364" cy="39827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8DC3D1E-D6E5-B1A4-8375-6E3B9068CF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17" y="1968666"/>
            <a:ext cx="790419" cy="369355"/>
          </a:xfrm>
          <a:prstGeom prst="rect">
            <a:avLst/>
          </a:prstGeom>
        </p:spPr>
      </p:pic>
      <p:sp>
        <p:nvSpPr>
          <p:cNvPr id="35" name="모서리가 둥근 직사각형 4">
            <a:extLst>
              <a:ext uri="{FF2B5EF4-FFF2-40B4-BE49-F238E27FC236}">
                <a16:creationId xmlns:a16="http://schemas.microsoft.com/office/drawing/2014/main" id="{F1E17719-543D-3C6F-41B0-AB78F3EB2A3E}"/>
              </a:ext>
            </a:extLst>
          </p:cNvPr>
          <p:cNvSpPr/>
          <p:nvPr/>
        </p:nvSpPr>
        <p:spPr>
          <a:xfrm>
            <a:off x="6830236" y="826722"/>
            <a:ext cx="5203995" cy="1630149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5">
            <a:extLst>
              <a:ext uri="{FF2B5EF4-FFF2-40B4-BE49-F238E27FC236}">
                <a16:creationId xmlns:a16="http://schemas.microsoft.com/office/drawing/2014/main" id="{23BF809B-DC08-16F8-74F5-282CBED89979}"/>
              </a:ext>
            </a:extLst>
          </p:cNvPr>
          <p:cNvSpPr/>
          <p:nvPr/>
        </p:nvSpPr>
        <p:spPr>
          <a:xfrm>
            <a:off x="7645240" y="665052"/>
            <a:ext cx="3012162" cy="339324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1. </a:t>
            </a:r>
            <a:r>
              <a:rPr lang="ko-KR" altLang="en-US" b="1" dirty="0"/>
              <a:t>오염원 라이브러리 구축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1F753A-06EC-7093-6C43-B0ABCC3B076B}"/>
              </a:ext>
            </a:extLst>
          </p:cNvPr>
          <p:cNvSpPr txBox="1"/>
          <p:nvPr/>
        </p:nvSpPr>
        <p:spPr>
          <a:xfrm>
            <a:off x="9151321" y="1305647"/>
            <a:ext cx="27858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오염원별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화학비료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r>
              <a:rPr lang="ko-KR" altLang="en-US" sz="1400" b="1" dirty="0"/>
              <a:t>질산염 </a:t>
            </a:r>
            <a:r>
              <a:rPr lang="ko-KR" altLang="en-US" sz="1400" b="1"/>
              <a:t>안정동위원소비 </a:t>
            </a:r>
            <a:endParaRPr lang="en-US" altLang="ko-KR" sz="1400" b="1" smtClean="0"/>
          </a:p>
          <a:p>
            <a:r>
              <a:rPr lang="ko-KR" altLang="en-US" sz="1400" b="1" smtClean="0"/>
              <a:t>대푯값 </a:t>
            </a:r>
            <a:r>
              <a:rPr lang="ko-KR" altLang="en-US" sz="1400" b="1" dirty="0"/>
              <a:t>결정</a:t>
            </a:r>
          </a:p>
        </p:txBody>
      </p:sp>
      <p:sp>
        <p:nvSpPr>
          <p:cNvPr id="48" name="모서리가 둥근 직사각형 4">
            <a:extLst>
              <a:ext uri="{FF2B5EF4-FFF2-40B4-BE49-F238E27FC236}">
                <a16:creationId xmlns:a16="http://schemas.microsoft.com/office/drawing/2014/main" id="{2CB2CAE5-99DE-01C1-F67D-D13292A2CADE}"/>
              </a:ext>
            </a:extLst>
          </p:cNvPr>
          <p:cNvSpPr/>
          <p:nvPr/>
        </p:nvSpPr>
        <p:spPr>
          <a:xfrm>
            <a:off x="168443" y="2789506"/>
            <a:ext cx="3776804" cy="382857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모서리가 둥근 직사각형 5">
            <a:extLst>
              <a:ext uri="{FF2B5EF4-FFF2-40B4-BE49-F238E27FC236}">
                <a16:creationId xmlns:a16="http://schemas.microsoft.com/office/drawing/2014/main" id="{1EB431DC-147A-5847-B854-7FDEAA75BF45}"/>
              </a:ext>
            </a:extLst>
          </p:cNvPr>
          <p:cNvSpPr/>
          <p:nvPr/>
        </p:nvSpPr>
        <p:spPr>
          <a:xfrm>
            <a:off x="502092" y="2681001"/>
            <a:ext cx="3012162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2. </a:t>
            </a:r>
            <a:r>
              <a:rPr lang="ko-KR" altLang="en-US" b="1" dirty="0"/>
              <a:t>시료 </a:t>
            </a:r>
            <a:r>
              <a:rPr lang="ko-KR" altLang="en-US" b="1" dirty="0" err="1"/>
              <a:t>채수</a:t>
            </a:r>
            <a:r>
              <a:rPr lang="ko-KR" altLang="en-US" b="1" dirty="0"/>
              <a:t> 및 분석</a:t>
            </a:r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7F4C5A18-7EDE-F538-B2AD-95CA39A29260}"/>
              </a:ext>
            </a:extLst>
          </p:cNvPr>
          <p:cNvSpPr/>
          <p:nvPr/>
        </p:nvSpPr>
        <p:spPr>
          <a:xfrm rot="9542490">
            <a:off x="3506582" y="2239549"/>
            <a:ext cx="3544842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A85CE2-2AE7-B4AB-6BA2-035F64519A1A}"/>
              </a:ext>
            </a:extLst>
          </p:cNvPr>
          <p:cNvSpPr txBox="1"/>
          <p:nvPr/>
        </p:nvSpPr>
        <p:spPr>
          <a:xfrm>
            <a:off x="273465" y="5323391"/>
            <a:ext cx="3678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오염원 주변 지류 및 본류의 혼합지점에서 시료 </a:t>
            </a:r>
            <a:r>
              <a:rPr lang="ko-KR" altLang="en-US" sz="1400" b="1" dirty="0" err="1"/>
              <a:t>채수</a:t>
            </a:r>
            <a:r>
              <a:rPr lang="ko-KR" altLang="en-US" sz="1400" b="1" dirty="0"/>
              <a:t> 및 안정동위원소비 분석</a:t>
            </a:r>
            <a:endParaRPr lang="en-US" altLang="ko-KR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693247-B7C5-F725-A64F-9ADCB75E9C95}"/>
              </a:ext>
            </a:extLst>
          </p:cNvPr>
          <p:cNvSpPr txBox="1"/>
          <p:nvPr/>
        </p:nvSpPr>
        <p:spPr>
          <a:xfrm>
            <a:off x="597014" y="5846611"/>
            <a:ext cx="2919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국가 수질측정망 지점의 수질 및 안정동위원소비 </a:t>
            </a:r>
            <a:r>
              <a:rPr lang="ko-KR" altLang="en-US" sz="1400" b="1" dirty="0" err="1"/>
              <a:t>고빈도</a:t>
            </a:r>
            <a:r>
              <a:rPr lang="ko-KR" altLang="en-US" sz="1400" b="1" dirty="0"/>
              <a:t> 모니터링</a:t>
            </a:r>
            <a:r>
              <a:rPr lang="en-US" altLang="ko-KR" sz="1200" b="1" dirty="0"/>
              <a:t>(1</a:t>
            </a:r>
            <a:r>
              <a:rPr lang="ko-KR" altLang="en-US" sz="1200" b="1" dirty="0"/>
              <a:t>회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주</a:t>
            </a:r>
            <a:r>
              <a:rPr lang="en-US" altLang="ko-KR" sz="1200" b="1" dirty="0"/>
              <a:t>)</a:t>
            </a:r>
          </a:p>
        </p:txBody>
      </p:sp>
      <p:sp>
        <p:nvSpPr>
          <p:cNvPr id="68" name="모서리가 둥근 직사각형 4">
            <a:extLst>
              <a:ext uri="{FF2B5EF4-FFF2-40B4-BE49-F238E27FC236}">
                <a16:creationId xmlns:a16="http://schemas.microsoft.com/office/drawing/2014/main" id="{0020A303-81E3-D843-F7E5-1AD50A65C7D9}"/>
              </a:ext>
            </a:extLst>
          </p:cNvPr>
          <p:cNvSpPr/>
          <p:nvPr/>
        </p:nvSpPr>
        <p:spPr>
          <a:xfrm>
            <a:off x="4051474" y="2862723"/>
            <a:ext cx="4102813" cy="377246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모서리가 둥근 직사각형 5">
            <a:extLst>
              <a:ext uri="{FF2B5EF4-FFF2-40B4-BE49-F238E27FC236}">
                <a16:creationId xmlns:a16="http://schemas.microsoft.com/office/drawing/2014/main" id="{C4491E74-0B7C-E52F-A5B6-6D164479FDCE}"/>
              </a:ext>
            </a:extLst>
          </p:cNvPr>
          <p:cNvSpPr/>
          <p:nvPr/>
        </p:nvSpPr>
        <p:spPr>
          <a:xfrm>
            <a:off x="4472857" y="2731703"/>
            <a:ext cx="3260045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3. </a:t>
            </a:r>
            <a:r>
              <a:rPr lang="ko-KR" altLang="en-US" b="1" dirty="0"/>
              <a:t>신속한 원인진단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정성적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86E9E0-13BD-5726-0A41-088EDEE425CB}"/>
              </a:ext>
            </a:extLst>
          </p:cNvPr>
          <p:cNvSpPr txBox="1"/>
          <p:nvPr/>
        </p:nvSpPr>
        <p:spPr>
          <a:xfrm>
            <a:off x="4256428" y="5578765"/>
            <a:ext cx="378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</a:t>
            </a:r>
            <a:r>
              <a:rPr lang="ko-KR" altLang="en-US" sz="1400" b="1" dirty="0"/>
              <a:t>지점별 실측 안정동위원소비를 오염원 라이브러리 </a:t>
            </a:r>
            <a:r>
              <a:rPr lang="ko-KR" altLang="en-US" sz="1400" b="1"/>
              <a:t>이중 </a:t>
            </a:r>
            <a:r>
              <a:rPr lang="en-US" altLang="ko-KR" sz="1400" b="1" smtClean="0"/>
              <a:t>plot</a:t>
            </a:r>
            <a:r>
              <a:rPr lang="ko-KR" altLang="en-US" sz="1400" b="1" smtClean="0"/>
              <a:t>에 </a:t>
            </a:r>
            <a:r>
              <a:rPr lang="ko-KR" altLang="en-US" sz="1400" b="1"/>
              <a:t>적용하여 </a:t>
            </a:r>
            <a:r>
              <a:rPr lang="ko-KR" altLang="en-US" sz="1400" b="1" smtClean="0"/>
              <a:t>신속 원인진단</a:t>
            </a:r>
            <a:endParaRPr lang="en-US" altLang="ko-KR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88501D-9A39-3325-0D85-EE24A34C98CD}"/>
              </a:ext>
            </a:extLst>
          </p:cNvPr>
          <p:cNvSpPr txBox="1"/>
          <p:nvPr/>
        </p:nvSpPr>
        <p:spPr>
          <a:xfrm>
            <a:off x="4256428" y="6031277"/>
            <a:ext cx="38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- Kendall </a:t>
            </a:r>
            <a:r>
              <a:rPr lang="en-US" altLang="ko-KR" sz="1400" b="1"/>
              <a:t>plot </a:t>
            </a:r>
            <a:r>
              <a:rPr lang="ko-KR" altLang="en-US" sz="1400" b="1" smtClean="0"/>
              <a:t>적용 </a:t>
            </a:r>
            <a:r>
              <a:rPr lang="ko-KR" altLang="en-US" sz="1400" b="1" dirty="0"/>
              <a:t>시 오염원 </a:t>
            </a:r>
            <a:r>
              <a:rPr lang="ko-KR" altLang="en-US" sz="1400" b="1"/>
              <a:t>중첩문제 </a:t>
            </a:r>
            <a:r>
              <a:rPr lang="ko-KR" altLang="en-US" sz="1400" b="1" smtClean="0"/>
              <a:t>해결 필요</a:t>
            </a:r>
            <a:endParaRPr lang="en-US" altLang="ko-KR" sz="1200" b="1" dirty="0"/>
          </a:p>
        </p:txBody>
      </p:sp>
      <p:sp>
        <p:nvSpPr>
          <p:cNvPr id="76" name="모서리가 둥근 직사각형 4">
            <a:extLst>
              <a:ext uri="{FF2B5EF4-FFF2-40B4-BE49-F238E27FC236}">
                <a16:creationId xmlns:a16="http://schemas.microsoft.com/office/drawing/2014/main" id="{3E6AF02E-029E-2835-F346-2D50C44F6C7D}"/>
              </a:ext>
            </a:extLst>
          </p:cNvPr>
          <p:cNvSpPr/>
          <p:nvPr/>
        </p:nvSpPr>
        <p:spPr>
          <a:xfrm>
            <a:off x="8262274" y="2789505"/>
            <a:ext cx="3776804" cy="382857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모서리가 둥근 직사각형 5">
            <a:extLst>
              <a:ext uri="{FF2B5EF4-FFF2-40B4-BE49-F238E27FC236}">
                <a16:creationId xmlns:a16="http://schemas.microsoft.com/office/drawing/2014/main" id="{F030EA8D-F9F2-A75B-1779-7D9EF39CBFDD}"/>
              </a:ext>
            </a:extLst>
          </p:cNvPr>
          <p:cNvSpPr/>
          <p:nvPr/>
        </p:nvSpPr>
        <p:spPr>
          <a:xfrm>
            <a:off x="8480541" y="2731703"/>
            <a:ext cx="3260045" cy="339324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4. </a:t>
            </a:r>
            <a:r>
              <a:rPr lang="ko-KR" altLang="en-US" b="1" dirty="0"/>
              <a:t>오염원 기여율 산정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정량적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D4E969-52AC-926A-D990-33D7517C059D}"/>
              </a:ext>
            </a:extLst>
          </p:cNvPr>
          <p:cNvSpPr txBox="1"/>
          <p:nvPr/>
        </p:nvSpPr>
        <p:spPr>
          <a:xfrm>
            <a:off x="8479266" y="5629931"/>
            <a:ext cx="3658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지점별 실측 안정동위원소비와 오염원별</a:t>
            </a:r>
            <a:r>
              <a:rPr lang="en-US" altLang="ko-KR" sz="1400" b="1" dirty="0"/>
              <a:t> 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화학비료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분뇨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강우</a:t>
            </a:r>
            <a:r>
              <a:rPr lang="en-US" altLang="ko-KR" sz="1200" b="1" dirty="0"/>
              <a:t>) </a:t>
            </a:r>
            <a:r>
              <a:rPr lang="ko-KR" altLang="en-US" sz="1400" b="1" dirty="0"/>
              <a:t>대푯값 적용 후 기여율 산정</a:t>
            </a:r>
            <a:endParaRPr lang="en-US" altLang="ko-KR" sz="1200" b="1" dirty="0"/>
          </a:p>
        </p:txBody>
      </p:sp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27F10F5F-61C6-8908-44B4-C13D90EDDAFE}"/>
              </a:ext>
            </a:extLst>
          </p:cNvPr>
          <p:cNvSpPr/>
          <p:nvPr/>
        </p:nvSpPr>
        <p:spPr>
          <a:xfrm>
            <a:off x="10367758" y="4288121"/>
            <a:ext cx="340967" cy="294299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A914159-4CF3-DC9A-6415-EA460340E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668" y="3784719"/>
            <a:ext cx="1273200" cy="1273200"/>
          </a:xfrm>
          <a:prstGeom prst="rect">
            <a:avLst/>
          </a:prstGeom>
        </p:spPr>
      </p:pic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71628C38-E3D4-7AD6-833B-14185F69F662}"/>
              </a:ext>
            </a:extLst>
          </p:cNvPr>
          <p:cNvSpPr/>
          <p:nvPr/>
        </p:nvSpPr>
        <p:spPr>
          <a:xfrm rot="2792202">
            <a:off x="7446092" y="2647066"/>
            <a:ext cx="1111788" cy="269172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0301381D-82F0-AA17-2BA2-E2029D0A4281}"/>
              </a:ext>
            </a:extLst>
          </p:cNvPr>
          <p:cNvSpPr/>
          <p:nvPr/>
        </p:nvSpPr>
        <p:spPr>
          <a:xfrm rot="7651541">
            <a:off x="6366117" y="2171871"/>
            <a:ext cx="841263" cy="259567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B1C75AA-FDCA-2B4A-0A1B-734C663B5D71}"/>
              </a:ext>
            </a:extLst>
          </p:cNvPr>
          <p:cNvSpPr/>
          <p:nvPr/>
        </p:nvSpPr>
        <p:spPr>
          <a:xfrm>
            <a:off x="3720974" y="4451984"/>
            <a:ext cx="619296" cy="33263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77C1E24-9FE9-6800-2F4C-D92D478B3504}"/>
              </a:ext>
            </a:extLst>
          </p:cNvPr>
          <p:cNvSpPr/>
          <p:nvPr/>
        </p:nvSpPr>
        <p:spPr>
          <a:xfrm>
            <a:off x="7694776" y="4435270"/>
            <a:ext cx="619296" cy="33263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Picture 1"/>
          <p:cNvPicPr>
            <a:picLocks noChangeAspect="1"/>
          </p:cNvPicPr>
          <p:nvPr/>
        </p:nvPicPr>
        <p:blipFill>
          <a:blip r:embed="rId5">
            <a:extLst/>
          </a:blip>
          <a:srcRect t="2866" b="1909"/>
          <a:stretch>
            <a:fillRect/>
          </a:stretch>
        </p:blipFill>
        <p:spPr>
          <a:xfrm>
            <a:off x="4309233" y="3160925"/>
            <a:ext cx="3533645" cy="241704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0" name="Picture 3"/>
          <p:cNvPicPr>
            <a:picLocks noChangeAspect="1"/>
          </p:cNvPicPr>
          <p:nvPr/>
        </p:nvPicPr>
        <p:blipFill>
          <a:blip r:embed="rId6">
            <a:extLst/>
          </a:blip>
          <a:srcRect b="15669"/>
          <a:stretch>
            <a:fillRect/>
          </a:stretch>
        </p:blipFill>
        <p:spPr>
          <a:xfrm>
            <a:off x="420652" y="3081687"/>
            <a:ext cx="3118738" cy="217811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/>
          <p:cNvSpPr/>
          <p:nvPr/>
        </p:nvSpPr>
        <p:spPr>
          <a:xfrm>
            <a:off x="8388877" y="3403661"/>
            <a:ext cx="1912797" cy="963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575657" y="4609139"/>
            <a:ext cx="1538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smtClean="0"/>
              <a:t>EMMTE</a:t>
            </a:r>
            <a:r>
              <a:rPr lang="en-US" altLang="ko-KR" sz="1400" b="1" smtClean="0"/>
              <a:t>(Excel)</a:t>
            </a:r>
            <a:endParaRPr lang="ko-KR" altLang="en-US" sz="1600" b="1"/>
          </a:p>
        </p:txBody>
      </p:sp>
      <p:sp>
        <p:nvSpPr>
          <p:cNvPr id="44" name="TextBox 43"/>
          <p:cNvSpPr txBox="1"/>
          <p:nvPr/>
        </p:nvSpPr>
        <p:spPr>
          <a:xfrm>
            <a:off x="8382367" y="4983570"/>
            <a:ext cx="19960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smtClean="0"/>
              <a:t>MixSIAR </a:t>
            </a:r>
            <a:r>
              <a:rPr lang="ko-KR" altLang="en-US" sz="1100" b="1" smtClean="0"/>
              <a:t>모델을 참고한</a:t>
            </a:r>
            <a:endParaRPr lang="en-US" altLang="ko-KR" sz="1100" b="1" smtClean="0"/>
          </a:p>
          <a:p>
            <a:r>
              <a:rPr lang="en-US" altLang="ko-KR" sz="1100" b="1" smtClean="0"/>
              <a:t>End-member</a:t>
            </a:r>
            <a:r>
              <a:rPr lang="ko-KR" altLang="en-US" sz="1100" b="1" smtClean="0"/>
              <a:t> 혼합모델 도구</a:t>
            </a:r>
            <a:endParaRPr lang="ko-KR" altLang="en-US" sz="1100" b="1"/>
          </a:p>
        </p:txBody>
      </p:sp>
      <p:sp>
        <p:nvSpPr>
          <p:cNvPr id="45" name="직사각형 44"/>
          <p:cNvSpPr/>
          <p:nvPr/>
        </p:nvSpPr>
        <p:spPr>
          <a:xfrm>
            <a:off x="8395882" y="4564538"/>
            <a:ext cx="1912797" cy="963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718195" y="3424781"/>
            <a:ext cx="12522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smtClean="0"/>
              <a:t>MixSIAR</a:t>
            </a:r>
            <a:r>
              <a:rPr lang="en-US" altLang="ko-KR" sz="1400" b="1" smtClean="0"/>
              <a:t>(</a:t>
            </a:r>
            <a:r>
              <a:rPr lang="en-US" altLang="ko-KR" sz="1400" b="1"/>
              <a:t>R</a:t>
            </a:r>
            <a:r>
              <a:rPr lang="en-US" altLang="ko-KR" sz="1400" b="1" smtClean="0"/>
              <a:t>)</a:t>
            </a:r>
            <a:endParaRPr lang="ko-KR" altLang="en-US" sz="1600" b="1"/>
          </a:p>
        </p:txBody>
      </p:sp>
      <p:sp>
        <p:nvSpPr>
          <p:cNvPr id="49" name="TextBox 48"/>
          <p:cNvSpPr txBox="1"/>
          <p:nvPr/>
        </p:nvSpPr>
        <p:spPr>
          <a:xfrm>
            <a:off x="8332686" y="3765015"/>
            <a:ext cx="20191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smtClean="0"/>
              <a:t>베이지안 추론 기반 통계적 불확실성 바탕 오염원 기여율 산정 혼합모델 도구</a:t>
            </a:r>
            <a:endParaRPr lang="en-US" altLang="ko-KR" sz="1100" b="1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337" y="1051868"/>
            <a:ext cx="1814216" cy="126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4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사각형: 둥근 모서리 19">
            <a:extLst>
              <a:ext uri="{FF2B5EF4-FFF2-40B4-BE49-F238E27FC236}">
                <a16:creationId xmlns:a16="http://schemas.microsoft.com/office/drawing/2014/main" id="{D6FE3DDC-BB0C-77F3-9611-8252997D2072}"/>
              </a:ext>
            </a:extLst>
          </p:cNvPr>
          <p:cNvSpPr/>
          <p:nvPr/>
        </p:nvSpPr>
        <p:spPr>
          <a:xfrm>
            <a:off x="2913344" y="2626714"/>
            <a:ext cx="2661693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50A9BA3B-6EBD-53FC-ABDE-06817651DF62}"/>
              </a:ext>
            </a:extLst>
          </p:cNvPr>
          <p:cNvSpPr/>
          <p:nvPr/>
        </p:nvSpPr>
        <p:spPr>
          <a:xfrm>
            <a:off x="2914202" y="4049671"/>
            <a:ext cx="2660835" cy="25311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5BB12185-2F07-5DFE-071E-0FA3F5447BB1}"/>
              </a:ext>
            </a:extLst>
          </p:cNvPr>
          <p:cNvSpPr/>
          <p:nvPr/>
        </p:nvSpPr>
        <p:spPr>
          <a:xfrm>
            <a:off x="155491" y="3379094"/>
            <a:ext cx="2696099" cy="232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FE3DDC-BB0C-77F3-9611-8252997D2072}"/>
              </a:ext>
            </a:extLst>
          </p:cNvPr>
          <p:cNvSpPr/>
          <p:nvPr/>
        </p:nvSpPr>
        <p:spPr>
          <a:xfrm>
            <a:off x="2927294" y="1491227"/>
            <a:ext cx="2668247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5627E-3ECE-72D7-59FF-EF5A1D5F29E6}"/>
              </a:ext>
            </a:extLst>
          </p:cNvPr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1&gt;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F8725-D258-94B6-B37A-50BF2507BD9E}"/>
              </a:ext>
            </a:extLst>
          </p:cNvPr>
          <p:cNvSpPr txBox="1"/>
          <p:nvPr/>
        </p:nvSpPr>
        <p:spPr>
          <a:xfrm>
            <a:off x="1005744" y="26788"/>
            <a:ext cx="11053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라이브러리 구축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34E2B27-E429-49FF-1250-3B11280F3E79}"/>
              </a:ext>
            </a:extLst>
          </p:cNvPr>
          <p:cNvSpPr/>
          <p:nvPr/>
        </p:nvSpPr>
        <p:spPr>
          <a:xfrm>
            <a:off x="95808" y="850782"/>
            <a:ext cx="2778487" cy="232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BC294-CDB9-17AC-61DA-7123C8195542}"/>
              </a:ext>
            </a:extLst>
          </p:cNvPr>
          <p:cNvSpPr txBox="1"/>
          <p:nvPr/>
        </p:nvSpPr>
        <p:spPr>
          <a:xfrm>
            <a:off x="95808" y="991477"/>
            <a:ext cx="282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선행연구 데이터 취합 및 데이터베이스 구축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1D61D-4DDF-1FA6-327C-AD64F3D233E4}"/>
              </a:ext>
            </a:extLst>
          </p:cNvPr>
          <p:cNvSpPr txBox="1"/>
          <p:nvPr/>
        </p:nvSpPr>
        <p:spPr>
          <a:xfrm>
            <a:off x="135881" y="1711998"/>
            <a:ext cx="1752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기존 연구과제 및 논문 리뷰</a:t>
            </a:r>
            <a:r>
              <a:rPr lang="en-US" altLang="ko-KR" sz="1600" b="1" dirty="0"/>
              <a:t>(2019~2025)</a:t>
            </a:r>
            <a:endParaRPr lang="ko-KR" altLang="en-US" sz="16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46705EA-24F7-3C66-A345-7A054262E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084" y="1687451"/>
            <a:ext cx="730465" cy="5061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4C314C-AF4B-6E98-6A13-C821FF952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026" y="2350940"/>
            <a:ext cx="1056026" cy="724899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0A5B068-8B4F-EA2A-6D77-1AF706A53461}"/>
              </a:ext>
            </a:extLst>
          </p:cNvPr>
          <p:cNvSpPr/>
          <p:nvPr/>
        </p:nvSpPr>
        <p:spPr>
          <a:xfrm>
            <a:off x="2677907" y="1833930"/>
            <a:ext cx="421223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E52099-2F2F-511E-10B0-BD1E417AD230}"/>
              </a:ext>
            </a:extLst>
          </p:cNvPr>
          <p:cNvSpPr txBox="1"/>
          <p:nvPr/>
        </p:nvSpPr>
        <p:spPr>
          <a:xfrm>
            <a:off x="2855494" y="1516623"/>
            <a:ext cx="282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오염원 시료 정보 취합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27597-E9F4-04B1-80CB-9A5C3F9AD72C}"/>
              </a:ext>
            </a:extLst>
          </p:cNvPr>
          <p:cNvSpPr txBox="1"/>
          <p:nvPr/>
        </p:nvSpPr>
        <p:spPr>
          <a:xfrm>
            <a:off x="3660393" y="1832886"/>
            <a:ext cx="1752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(</a:t>
            </a:r>
            <a:r>
              <a:rPr lang="ko-KR" altLang="en-US" sz="1600" b="1" dirty="0"/>
              <a:t>총 </a:t>
            </a:r>
            <a:r>
              <a:rPr lang="en-US" altLang="ko-KR" sz="1600" b="1" dirty="0"/>
              <a:t>380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CBA30D9-B714-2BAD-9D7C-B41CA82F06EB}"/>
              </a:ext>
            </a:extLst>
          </p:cNvPr>
          <p:cNvSpPr/>
          <p:nvPr/>
        </p:nvSpPr>
        <p:spPr>
          <a:xfrm>
            <a:off x="5869350" y="1095546"/>
            <a:ext cx="1469969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477E7A-DEFF-FA37-7CBD-BDB0EC5D8EA7}"/>
              </a:ext>
            </a:extLst>
          </p:cNvPr>
          <p:cNvSpPr txBox="1"/>
          <p:nvPr/>
        </p:nvSpPr>
        <p:spPr>
          <a:xfrm>
            <a:off x="6460988" y="1208935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토양계</a:t>
            </a:r>
            <a:endParaRPr lang="en-US" altLang="ko-KR" sz="1600" b="1" dirty="0"/>
          </a:p>
          <a:p>
            <a:r>
              <a:rPr lang="en-US" altLang="ko-KR" sz="1600" b="1" dirty="0"/>
              <a:t>(27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6D5306E-3608-4E15-50EB-45A8E1FE824D}"/>
              </a:ext>
            </a:extLst>
          </p:cNvPr>
          <p:cNvSpPr/>
          <p:nvPr/>
        </p:nvSpPr>
        <p:spPr>
          <a:xfrm>
            <a:off x="5886314" y="2088284"/>
            <a:ext cx="150113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EC68AAB-0FD3-56FB-3A2E-D6DD2A99AF29}"/>
              </a:ext>
            </a:extLst>
          </p:cNvPr>
          <p:cNvSpPr/>
          <p:nvPr/>
        </p:nvSpPr>
        <p:spPr>
          <a:xfrm>
            <a:off x="5869350" y="3147356"/>
            <a:ext cx="1492002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FFEC22B-2ABB-DD61-B6C6-8C5CBD285FE3}"/>
              </a:ext>
            </a:extLst>
          </p:cNvPr>
          <p:cNvSpPr/>
          <p:nvPr/>
        </p:nvSpPr>
        <p:spPr>
          <a:xfrm>
            <a:off x="5869350" y="4219862"/>
            <a:ext cx="149686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43F83DD-F209-0AF4-5AD0-8815FC3A3A87}"/>
              </a:ext>
            </a:extLst>
          </p:cNvPr>
          <p:cNvSpPr/>
          <p:nvPr/>
        </p:nvSpPr>
        <p:spPr>
          <a:xfrm>
            <a:off x="5869350" y="5484007"/>
            <a:ext cx="1496864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024ABC-46C5-E827-0121-C8A0A919145D}"/>
              </a:ext>
            </a:extLst>
          </p:cNvPr>
          <p:cNvSpPr txBox="1"/>
          <p:nvPr/>
        </p:nvSpPr>
        <p:spPr>
          <a:xfrm>
            <a:off x="6486864" y="2167261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강우계</a:t>
            </a:r>
            <a:endParaRPr lang="en-US" altLang="ko-KR" sz="1600" b="1" dirty="0"/>
          </a:p>
          <a:p>
            <a:r>
              <a:rPr lang="en-US" altLang="ko-KR" sz="1600" b="1" dirty="0"/>
              <a:t>(13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9CF3A6-C21C-AB4D-DABB-11060E573D57}"/>
              </a:ext>
            </a:extLst>
          </p:cNvPr>
          <p:cNvSpPr txBox="1"/>
          <p:nvPr/>
        </p:nvSpPr>
        <p:spPr>
          <a:xfrm>
            <a:off x="6486864" y="3249766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생활계</a:t>
            </a:r>
            <a:endParaRPr lang="en-US" altLang="ko-KR" sz="1600" b="1" dirty="0"/>
          </a:p>
          <a:p>
            <a:r>
              <a:rPr lang="en-US" altLang="ko-KR" sz="1600" b="1" dirty="0"/>
              <a:t>(77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1B0922-BF8A-09C0-DAF5-22C4EB3AD2B9}"/>
              </a:ext>
            </a:extLst>
          </p:cNvPr>
          <p:cNvSpPr txBox="1"/>
          <p:nvPr/>
        </p:nvSpPr>
        <p:spPr>
          <a:xfrm>
            <a:off x="6528694" y="4321419"/>
            <a:ext cx="809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축산계</a:t>
            </a:r>
            <a:endParaRPr lang="en-US" altLang="ko-KR" sz="1600" b="1" dirty="0"/>
          </a:p>
          <a:p>
            <a:r>
              <a:rPr lang="en-US" altLang="ko-KR" sz="1600" b="1" dirty="0"/>
              <a:t>(47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FD8E72-044D-D13F-1FB6-F0DBEE304A73}"/>
              </a:ext>
            </a:extLst>
          </p:cNvPr>
          <p:cNvSpPr txBox="1"/>
          <p:nvPr/>
        </p:nvSpPr>
        <p:spPr>
          <a:xfrm>
            <a:off x="6497886" y="5546575"/>
            <a:ext cx="873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농업계</a:t>
            </a:r>
            <a:endParaRPr lang="en-US" altLang="ko-KR" sz="1600" b="1" dirty="0"/>
          </a:p>
          <a:p>
            <a:r>
              <a:rPr lang="en-US" altLang="ko-KR" sz="1600" b="1" dirty="0"/>
              <a:t>(216</a:t>
            </a:r>
            <a:r>
              <a:rPr lang="ko-KR" altLang="en-US" sz="1600" b="1" dirty="0"/>
              <a:t>개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0BBD2F8A-3DBA-2A36-1281-0DAF923C2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284" y="1221856"/>
            <a:ext cx="571580" cy="54300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3F3D592-CA1D-52FD-B2AD-DCBB6C636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14" y="2184373"/>
            <a:ext cx="571580" cy="5525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34360BC-2A9D-40F5-0681-0423833AE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197" y="3260597"/>
            <a:ext cx="590632" cy="55252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74C930A-DB3C-E080-00F1-26B0A9F84B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778" y="4336158"/>
            <a:ext cx="581106" cy="533474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6AAFBFD-586F-C92F-07D0-1CC1979BD2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778" y="5599787"/>
            <a:ext cx="581106" cy="543001"/>
          </a:xfrm>
          <a:prstGeom prst="rect">
            <a:avLst/>
          </a:prstGeom>
        </p:spPr>
      </p:pic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4347ACF2-5191-BA89-6C5D-14B41B1D297A}"/>
              </a:ext>
            </a:extLst>
          </p:cNvPr>
          <p:cNvSpPr/>
          <p:nvPr/>
        </p:nvSpPr>
        <p:spPr>
          <a:xfrm rot="20270651">
            <a:off x="5464691" y="1726968"/>
            <a:ext cx="467149" cy="196297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8B75E920-2FAF-BBAB-BAC9-2B9C43806F27}"/>
              </a:ext>
            </a:extLst>
          </p:cNvPr>
          <p:cNvSpPr/>
          <p:nvPr/>
        </p:nvSpPr>
        <p:spPr>
          <a:xfrm rot="2239301">
            <a:off x="5396831" y="2119138"/>
            <a:ext cx="574419" cy="19432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화살표: 오른쪽 58">
            <a:extLst>
              <a:ext uri="{FF2B5EF4-FFF2-40B4-BE49-F238E27FC236}">
                <a16:creationId xmlns:a16="http://schemas.microsoft.com/office/drawing/2014/main" id="{B160BF70-F207-11B1-5380-76C6452BBBEB}"/>
              </a:ext>
            </a:extLst>
          </p:cNvPr>
          <p:cNvSpPr/>
          <p:nvPr/>
        </p:nvSpPr>
        <p:spPr>
          <a:xfrm rot="3354909">
            <a:off x="4927695" y="2522797"/>
            <a:ext cx="1369884" cy="20526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화살표: 오른쪽 60">
            <a:extLst>
              <a:ext uri="{FF2B5EF4-FFF2-40B4-BE49-F238E27FC236}">
                <a16:creationId xmlns:a16="http://schemas.microsoft.com/office/drawing/2014/main" id="{084A9E99-62A1-C376-4A21-193BEF5CC1AB}"/>
              </a:ext>
            </a:extLst>
          </p:cNvPr>
          <p:cNvSpPr/>
          <p:nvPr/>
        </p:nvSpPr>
        <p:spPr>
          <a:xfrm rot="3949598">
            <a:off x="4248414" y="3054203"/>
            <a:ext cx="2546086" cy="20504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9494BF3D-8BF7-B46D-0D30-4291423D4FAB}"/>
              </a:ext>
            </a:extLst>
          </p:cNvPr>
          <p:cNvSpPr/>
          <p:nvPr/>
        </p:nvSpPr>
        <p:spPr>
          <a:xfrm rot="4274601">
            <a:off x="3616001" y="3681845"/>
            <a:ext cx="3670109" cy="226522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7418253" y="1100335"/>
            <a:ext cx="1602926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7442779" y="2095098"/>
            <a:ext cx="1578400" cy="7779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7442779" y="3056033"/>
            <a:ext cx="1578400" cy="94824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7442779" y="4133370"/>
            <a:ext cx="1578400" cy="10156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7440600" y="5257279"/>
            <a:ext cx="1580579" cy="11974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752A41-B485-FD70-374A-D61096FB92B3}"/>
              </a:ext>
            </a:extLst>
          </p:cNvPr>
          <p:cNvSpPr txBox="1"/>
          <p:nvPr/>
        </p:nvSpPr>
        <p:spPr>
          <a:xfrm>
            <a:off x="7492358" y="1095546"/>
            <a:ext cx="1419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토양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산림유출수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산림토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대나무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하천 및 호소 상류 </a:t>
            </a:r>
            <a:r>
              <a:rPr lang="ko-KR" altLang="en-US" sz="1200" b="1" dirty="0" err="1"/>
              <a:t>유출수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7547580" y="2161736"/>
            <a:ext cx="1301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강우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옥상 </a:t>
            </a:r>
            <a:r>
              <a:rPr lang="ko-KR" altLang="en-US" sz="1200" b="1" dirty="0" err="1"/>
              <a:t>채수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순수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빗물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CBF17E-0A38-04BC-6BA5-EBCED904520E}"/>
              </a:ext>
            </a:extLst>
          </p:cNvPr>
          <p:cNvSpPr txBox="1"/>
          <p:nvPr/>
        </p:nvSpPr>
        <p:spPr>
          <a:xfrm>
            <a:off x="7524139" y="3028490"/>
            <a:ext cx="1572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하수처리장 </a:t>
            </a:r>
            <a:r>
              <a:rPr lang="ko-KR" altLang="en-US" sz="1200" b="1" dirty="0" err="1"/>
              <a:t>유입수</a:t>
            </a:r>
            <a:r>
              <a:rPr lang="ko-KR" altLang="en-US" sz="1200" b="1" dirty="0"/>
              <a:t> 및 </a:t>
            </a:r>
            <a:r>
              <a:rPr lang="ko-KR" altLang="en-US" sz="1200" b="1" dirty="0" err="1"/>
              <a:t>방류수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오염원 주변 지류 및 본류 </a:t>
            </a:r>
            <a:r>
              <a:rPr lang="ko-KR" altLang="en-US" sz="1200" b="1" dirty="0" err="1"/>
              <a:t>유입수</a:t>
            </a:r>
            <a:r>
              <a:rPr lang="ko-KR" altLang="en-US" sz="1200" b="1" dirty="0"/>
              <a:t> 및 </a:t>
            </a:r>
            <a:r>
              <a:rPr lang="ko-KR" altLang="en-US" sz="1200" b="1" dirty="0" err="1"/>
              <a:t>방류수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20B2AF-98D8-5D19-AE15-238B16544784}"/>
              </a:ext>
            </a:extLst>
          </p:cNvPr>
          <p:cNvSpPr txBox="1"/>
          <p:nvPr/>
        </p:nvSpPr>
        <p:spPr>
          <a:xfrm>
            <a:off x="7524139" y="4133371"/>
            <a:ext cx="1460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퇴비</a:t>
            </a:r>
            <a:r>
              <a:rPr lang="en-US" altLang="ko-KR" sz="1200" b="1" dirty="0"/>
              <a:t>(</a:t>
            </a:r>
            <a:r>
              <a:rPr lang="ko-KR" altLang="en-US" sz="1200" b="1" dirty="0" err="1"/>
              <a:t>부숙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적치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시판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우분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돈분</a:t>
            </a:r>
            <a:r>
              <a:rPr lang="ko-KR" altLang="en-US" sz="1200" b="1" dirty="0"/>
              <a:t>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가축분뇨</a:t>
            </a:r>
            <a:r>
              <a:rPr lang="en-US" altLang="ko-KR" sz="1200" b="1"/>
              <a:t>, </a:t>
            </a:r>
            <a:endParaRPr lang="en-US" altLang="ko-KR" sz="1200" b="1" smtClean="0"/>
          </a:p>
          <a:p>
            <a:r>
              <a:rPr lang="ko-KR" altLang="en-US" sz="1200" b="1" smtClean="0"/>
              <a:t>퇴비 </a:t>
            </a:r>
            <a:r>
              <a:rPr lang="ko-KR" altLang="en-US" sz="1200" b="1" dirty="0" err="1"/>
              <a:t>유출수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가축처리수</a:t>
            </a:r>
            <a:r>
              <a:rPr lang="ko-KR" altLang="en-US" sz="1200" b="1" dirty="0"/>
              <a:t> 등 취합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7FDF7B-D64B-DD48-C810-78E6B0161097}"/>
              </a:ext>
            </a:extLst>
          </p:cNvPr>
          <p:cNvSpPr txBox="1"/>
          <p:nvPr/>
        </p:nvSpPr>
        <p:spPr>
          <a:xfrm>
            <a:off x="7510276" y="5254429"/>
            <a:ext cx="1510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유출수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밭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퇴비</a:t>
            </a:r>
            <a:r>
              <a:rPr lang="en-US" altLang="ko-KR" sz="1200" b="1"/>
              <a:t>, </a:t>
            </a:r>
            <a:endParaRPr lang="en-US" altLang="ko-KR" sz="1200" b="1" smtClean="0"/>
          </a:p>
          <a:p>
            <a:r>
              <a:rPr lang="ko-KR" altLang="en-US" sz="1200" b="1" smtClean="0"/>
              <a:t>과수원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논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배수로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토양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밭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논 등</a:t>
            </a:r>
            <a:r>
              <a:rPr lang="en-US" altLang="ko-KR" sz="1200" b="1" dirty="0"/>
              <a:t>), </a:t>
            </a:r>
            <a:r>
              <a:rPr lang="ko-KR" altLang="en-US" sz="1200" b="1" dirty="0"/>
              <a:t>비닐하우스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비료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화학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복합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시판 등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등 취합</a:t>
            </a:r>
          </a:p>
        </p:txBody>
      </p:sp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5AD7AB68-9B71-E63C-4484-BF20F2A2506E}"/>
              </a:ext>
            </a:extLst>
          </p:cNvPr>
          <p:cNvSpPr/>
          <p:nvPr/>
        </p:nvSpPr>
        <p:spPr>
          <a:xfrm>
            <a:off x="7216958" y="1392356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A934D374-8811-5D91-AC89-5497152E45D5}"/>
              </a:ext>
            </a:extLst>
          </p:cNvPr>
          <p:cNvSpPr/>
          <p:nvPr/>
        </p:nvSpPr>
        <p:spPr>
          <a:xfrm rot="6677494">
            <a:off x="1995081" y="2753809"/>
            <a:ext cx="1950058" cy="28921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CBDD45-A345-F7BF-A76B-2C2F92AF1C89}"/>
              </a:ext>
            </a:extLst>
          </p:cNvPr>
          <p:cNvSpPr txBox="1"/>
          <p:nvPr/>
        </p:nvSpPr>
        <p:spPr>
          <a:xfrm>
            <a:off x="171366" y="3458787"/>
            <a:ext cx="250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오염원별 대표 시료 선별 및 검증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BF8F91-4B57-F7BA-D5FF-2009F9AED806}"/>
              </a:ext>
            </a:extLst>
          </p:cNvPr>
          <p:cNvSpPr txBox="1"/>
          <p:nvPr/>
        </p:nvSpPr>
        <p:spPr>
          <a:xfrm>
            <a:off x="195572" y="4173066"/>
            <a:ext cx="17181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통계적 기법</a:t>
            </a:r>
            <a:r>
              <a:rPr lang="en-US" altLang="ko-KR" sz="1600" b="1" dirty="0"/>
              <a:t>, Kendall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plot</a:t>
            </a:r>
            <a:r>
              <a:rPr lang="ko-KR" altLang="en-US" sz="1600" b="1" dirty="0"/>
              <a:t> 등 검증된 오염원 영역 정보 활용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36A14463-D81B-4E1E-4F07-D0A47319FD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124" y="4017065"/>
            <a:ext cx="970379" cy="654857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3E98121B-A6CD-887B-3951-C849F02F6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443" y="4747607"/>
            <a:ext cx="790685" cy="676369"/>
          </a:xfrm>
          <a:prstGeom prst="rect">
            <a:avLst/>
          </a:prstGeom>
        </p:spPr>
      </p:pic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B8DE79AF-E212-C357-77D3-0C6866245AB5}"/>
              </a:ext>
            </a:extLst>
          </p:cNvPr>
          <p:cNvSpPr/>
          <p:nvPr/>
        </p:nvSpPr>
        <p:spPr>
          <a:xfrm rot="2384157">
            <a:off x="2477785" y="4829228"/>
            <a:ext cx="525835" cy="31142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89AAC6D-FF19-53B1-403C-D40DDD9CDC60}"/>
              </a:ext>
            </a:extLst>
          </p:cNvPr>
          <p:cNvSpPr txBox="1"/>
          <p:nvPr/>
        </p:nvSpPr>
        <p:spPr>
          <a:xfrm>
            <a:off x="3043716" y="4127256"/>
            <a:ext cx="2562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오염원별 질산염 </a:t>
            </a:r>
            <a:endParaRPr lang="en-US" altLang="ko-KR" b="1" dirty="0"/>
          </a:p>
          <a:p>
            <a:r>
              <a:rPr lang="ko-KR" altLang="en-US" b="1"/>
              <a:t>안정동위원소비 </a:t>
            </a:r>
            <a:endParaRPr lang="en-US" altLang="ko-KR" b="1" smtClean="0"/>
          </a:p>
          <a:p>
            <a:r>
              <a:rPr lang="ko-KR" altLang="en-US" b="1" smtClean="0"/>
              <a:t>대푯값 </a:t>
            </a:r>
            <a:r>
              <a:rPr lang="ko-KR" altLang="en-US" b="1" dirty="0"/>
              <a:t>결정</a:t>
            </a:r>
          </a:p>
        </p:txBody>
      </p:sp>
      <p:sp>
        <p:nvSpPr>
          <p:cNvPr id="122" name="화살표: 오른쪽 121">
            <a:extLst>
              <a:ext uri="{FF2B5EF4-FFF2-40B4-BE49-F238E27FC236}">
                <a16:creationId xmlns:a16="http://schemas.microsoft.com/office/drawing/2014/main" id="{9A366C93-69A7-01ED-9122-1E8D33725FAB}"/>
              </a:ext>
            </a:extLst>
          </p:cNvPr>
          <p:cNvSpPr/>
          <p:nvPr/>
        </p:nvSpPr>
        <p:spPr>
          <a:xfrm>
            <a:off x="7216958" y="2333971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18A16148-BBDE-1898-3EFF-B2F8D82D2552}"/>
              </a:ext>
            </a:extLst>
          </p:cNvPr>
          <p:cNvSpPr/>
          <p:nvPr/>
        </p:nvSpPr>
        <p:spPr>
          <a:xfrm>
            <a:off x="7217338" y="3395689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화살표: 오른쪽 125">
            <a:extLst>
              <a:ext uri="{FF2B5EF4-FFF2-40B4-BE49-F238E27FC236}">
                <a16:creationId xmlns:a16="http://schemas.microsoft.com/office/drawing/2014/main" id="{3D743A34-7267-A8CA-7794-735C5FBCBCBE}"/>
              </a:ext>
            </a:extLst>
          </p:cNvPr>
          <p:cNvSpPr/>
          <p:nvPr/>
        </p:nvSpPr>
        <p:spPr>
          <a:xfrm>
            <a:off x="7230038" y="4515933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1E72F3E9-0901-6EFA-662F-37E8756BAC2F}"/>
              </a:ext>
            </a:extLst>
          </p:cNvPr>
          <p:cNvSpPr/>
          <p:nvPr/>
        </p:nvSpPr>
        <p:spPr>
          <a:xfrm>
            <a:off x="7233823" y="5674998"/>
            <a:ext cx="344365" cy="22969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9074742" y="1305900"/>
            <a:ext cx="1558936" cy="3675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9082933" y="2287177"/>
            <a:ext cx="1550745" cy="3400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9074743" y="3304863"/>
            <a:ext cx="1558935" cy="3748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9074742" y="4427007"/>
            <a:ext cx="1558936" cy="3490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9074743" y="5569125"/>
            <a:ext cx="1558935" cy="5835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9066523" y="688645"/>
            <a:ext cx="1567155" cy="2736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/>
              <a:t>최종</a:t>
            </a:r>
            <a:r>
              <a:rPr lang="ko-KR" altLang="en-US" sz="1400" b="1" smtClean="0"/>
              <a:t> </a:t>
            </a:r>
            <a:r>
              <a:rPr lang="ko-KR" altLang="en-US" sz="1400" b="1" smtClean="0"/>
              <a:t>오염원 범주</a:t>
            </a:r>
            <a:endParaRPr lang="ko-KR" altLang="en-US" sz="1400" b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16357" y="2319871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강우</a:t>
            </a:r>
            <a:endParaRPr lang="ko-KR" altLang="en-US" sz="1200" b="1" dirty="0"/>
          </a:p>
        </p:txBody>
      </p:sp>
      <p:sp>
        <p:nvSpPr>
          <p:cNvPr id="3" name="오른쪽 화살표 2"/>
          <p:cNvSpPr/>
          <p:nvPr/>
        </p:nvSpPr>
        <p:spPr>
          <a:xfrm>
            <a:off x="8855351" y="1414572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오른쪽 화살표 80"/>
          <p:cNvSpPr/>
          <p:nvPr/>
        </p:nvSpPr>
        <p:spPr>
          <a:xfrm>
            <a:off x="8931346" y="2368492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오른쪽 화살표 82"/>
          <p:cNvSpPr/>
          <p:nvPr/>
        </p:nvSpPr>
        <p:spPr>
          <a:xfrm>
            <a:off x="8931346" y="3420334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오른쪽 화살표 84"/>
          <p:cNvSpPr/>
          <p:nvPr/>
        </p:nvSpPr>
        <p:spPr>
          <a:xfrm>
            <a:off x="8931346" y="4517447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오른쪽 화살표 85"/>
          <p:cNvSpPr/>
          <p:nvPr/>
        </p:nvSpPr>
        <p:spPr>
          <a:xfrm>
            <a:off x="8942951" y="5828715"/>
            <a:ext cx="239607" cy="151953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0227597-E9F4-04B1-80CB-9A5C3F9AD72C}"/>
              </a:ext>
            </a:extLst>
          </p:cNvPr>
          <p:cNvSpPr txBox="1"/>
          <p:nvPr/>
        </p:nvSpPr>
        <p:spPr>
          <a:xfrm>
            <a:off x="2991958" y="2704000"/>
            <a:ext cx="2632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smtClean="0"/>
              <a:t>논문리뷰 </a:t>
            </a:r>
            <a:r>
              <a:rPr lang="en-US" altLang="ko-KR" sz="1600" b="1" smtClean="0"/>
              <a:t>73</a:t>
            </a:r>
            <a:r>
              <a:rPr lang="ko-KR" altLang="en-US" sz="1600" b="1" smtClean="0"/>
              <a:t>개</a:t>
            </a:r>
            <a:r>
              <a:rPr lang="en-US" altLang="ko-KR" sz="1400" b="1" smtClean="0"/>
              <a:t>(</a:t>
            </a:r>
            <a:r>
              <a:rPr lang="ko-KR" altLang="en-US" sz="1400" b="1" smtClean="0"/>
              <a:t>화학비료</a:t>
            </a:r>
            <a:r>
              <a:rPr lang="en-US" altLang="ko-KR" sz="1400" b="1" smtClean="0"/>
              <a:t>)</a:t>
            </a:r>
          </a:p>
          <a:p>
            <a:r>
              <a:rPr lang="ko-KR" altLang="en-US" sz="1600" b="1" smtClean="0"/>
              <a:t>센터 수행 연구과제 </a:t>
            </a:r>
            <a:r>
              <a:rPr lang="en-US" altLang="ko-KR" sz="1600" b="1" smtClean="0"/>
              <a:t>307</a:t>
            </a:r>
            <a:r>
              <a:rPr lang="ko-KR" altLang="en-US" sz="1600" b="1" smtClean="0"/>
              <a:t>개</a:t>
            </a:r>
            <a:endParaRPr lang="ko-KR" altLang="en-US" sz="1600" b="1" dirty="0"/>
          </a:p>
        </p:txBody>
      </p:sp>
      <p:sp>
        <p:nvSpPr>
          <p:cNvPr id="4" name="아래쪽 화살표 3"/>
          <p:cNvSpPr/>
          <p:nvPr/>
        </p:nvSpPr>
        <p:spPr>
          <a:xfrm>
            <a:off x="3890910" y="2189333"/>
            <a:ext cx="589429" cy="492751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062754" y="1358730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토양</a:t>
            </a:r>
            <a:r>
              <a:rPr lang="en-US" altLang="ko-KR" sz="1200" b="1" smtClean="0"/>
              <a:t>-</a:t>
            </a:r>
            <a:r>
              <a:rPr lang="ko-KR" altLang="en-US" sz="1200" b="1" smtClean="0"/>
              <a:t>질소 기원</a:t>
            </a:r>
            <a:endParaRPr lang="ko-KR" altLang="en-US" sz="10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02539" y="3365150"/>
            <a:ext cx="1683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생활하수</a:t>
            </a:r>
            <a:r>
              <a:rPr lang="en-US" altLang="ko-KR" sz="1000" b="1" smtClean="0"/>
              <a:t>(</a:t>
            </a:r>
            <a:r>
              <a:rPr lang="ko-KR" altLang="en-US" sz="1000" b="1" smtClean="0"/>
              <a:t>분뇨</a:t>
            </a:r>
            <a:r>
              <a:rPr lang="en-US" altLang="ko-KR" sz="1000" b="1" smtClean="0"/>
              <a:t>?)</a:t>
            </a:r>
            <a:endParaRPr lang="ko-KR" altLang="en-US" sz="10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11759" y="4464395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축산분뇨</a:t>
            </a:r>
            <a:endParaRPr lang="ko-KR" altLang="en-US" sz="100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20170" y="5602047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화학비료</a:t>
            </a:r>
            <a:endParaRPr lang="ko-KR" altLang="en-US" sz="1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9120297" y="5875715"/>
            <a:ext cx="1671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유기질비료</a:t>
            </a:r>
            <a:r>
              <a:rPr lang="en-US" altLang="ko-KR" sz="1000" b="1" smtClean="0"/>
              <a:t>(</a:t>
            </a:r>
            <a:r>
              <a:rPr lang="ko-KR" altLang="en-US" sz="1000" b="1" smtClean="0"/>
              <a:t>퇴비</a:t>
            </a:r>
            <a:r>
              <a:rPr lang="en-US" altLang="ko-KR" sz="1000" b="1" smtClean="0"/>
              <a:t>)</a:t>
            </a:r>
            <a:endParaRPr lang="ko-KR" altLang="en-US" sz="1000" b="1" dirty="0"/>
          </a:p>
        </p:txBody>
      </p:sp>
      <p:sp>
        <p:nvSpPr>
          <p:cNvPr id="107" name="직사각형 106"/>
          <p:cNvSpPr/>
          <p:nvPr/>
        </p:nvSpPr>
        <p:spPr>
          <a:xfrm>
            <a:off x="5861310" y="688645"/>
            <a:ext cx="1479459" cy="2617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/>
              <a:t>구분</a:t>
            </a:r>
            <a:endParaRPr lang="ko-KR" altLang="en-US" sz="1400" b="1"/>
          </a:p>
        </p:txBody>
      </p:sp>
      <p:sp>
        <p:nvSpPr>
          <p:cNvPr id="109" name="직사각형 108"/>
          <p:cNvSpPr/>
          <p:nvPr/>
        </p:nvSpPr>
        <p:spPr>
          <a:xfrm>
            <a:off x="7423839" y="688645"/>
            <a:ext cx="1591753" cy="26929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/>
              <a:t>오염원</a:t>
            </a:r>
            <a:endParaRPr lang="ko-KR" altLang="en-US" sz="1400" b="1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432" y="5060287"/>
            <a:ext cx="2294870" cy="59539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48" y="5721148"/>
            <a:ext cx="1398000" cy="582972"/>
          </a:xfrm>
          <a:prstGeom prst="rect">
            <a:avLst/>
          </a:prstGeom>
        </p:spPr>
      </p:pic>
      <p:sp>
        <p:nvSpPr>
          <p:cNvPr id="87" name="직사각형 86"/>
          <p:cNvSpPr/>
          <p:nvPr/>
        </p:nvSpPr>
        <p:spPr>
          <a:xfrm>
            <a:off x="10692689" y="691890"/>
            <a:ext cx="1435144" cy="27366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smtClean="0"/>
              <a:t>Kendall plot</a:t>
            </a:r>
            <a:endParaRPr lang="ko-KR" altLang="en-US" sz="1400" b="1"/>
          </a:p>
        </p:txBody>
      </p:sp>
      <p:sp>
        <p:nvSpPr>
          <p:cNvPr id="89" name="사각형: 둥근 모서리 64">
            <a:extLst>
              <a:ext uri="{FF2B5EF4-FFF2-40B4-BE49-F238E27FC236}">
                <a16:creationId xmlns:a16="http://schemas.microsoft.com/office/drawing/2014/main" id="{7328D3DB-11ED-BB7D-BF8E-472B22E452B5}"/>
              </a:ext>
            </a:extLst>
          </p:cNvPr>
          <p:cNvSpPr/>
          <p:nvPr/>
        </p:nvSpPr>
        <p:spPr>
          <a:xfrm>
            <a:off x="10691094" y="1313864"/>
            <a:ext cx="1436739" cy="3675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66">
            <a:extLst>
              <a:ext uri="{FF2B5EF4-FFF2-40B4-BE49-F238E27FC236}">
                <a16:creationId xmlns:a16="http://schemas.microsoft.com/office/drawing/2014/main" id="{C64698A1-02B4-DDF5-66D1-D120554F3B63}"/>
              </a:ext>
            </a:extLst>
          </p:cNvPr>
          <p:cNvSpPr/>
          <p:nvPr/>
        </p:nvSpPr>
        <p:spPr>
          <a:xfrm>
            <a:off x="10691094" y="2287177"/>
            <a:ext cx="1436739" cy="3400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사각형: 둥근 모서리 68">
            <a:extLst>
              <a:ext uri="{FF2B5EF4-FFF2-40B4-BE49-F238E27FC236}">
                <a16:creationId xmlns:a16="http://schemas.microsoft.com/office/drawing/2014/main" id="{EA574581-2ED3-A283-719E-EDE310D17109}"/>
              </a:ext>
            </a:extLst>
          </p:cNvPr>
          <p:cNvSpPr/>
          <p:nvPr/>
        </p:nvSpPr>
        <p:spPr>
          <a:xfrm>
            <a:off x="10691094" y="3304863"/>
            <a:ext cx="1436739" cy="3748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사각형: 둥근 모서리 70">
            <a:extLst>
              <a:ext uri="{FF2B5EF4-FFF2-40B4-BE49-F238E27FC236}">
                <a16:creationId xmlns:a16="http://schemas.microsoft.com/office/drawing/2014/main" id="{D2E3559F-540C-6AA0-0898-91DD16D205FB}"/>
              </a:ext>
            </a:extLst>
          </p:cNvPr>
          <p:cNvSpPr/>
          <p:nvPr/>
        </p:nvSpPr>
        <p:spPr>
          <a:xfrm>
            <a:off x="10691094" y="4427007"/>
            <a:ext cx="1436739" cy="3490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사각형: 둥근 모서리 72">
            <a:extLst>
              <a:ext uri="{FF2B5EF4-FFF2-40B4-BE49-F238E27FC236}">
                <a16:creationId xmlns:a16="http://schemas.microsoft.com/office/drawing/2014/main" id="{5C9069BD-75CB-51C7-4A8D-71EECE0F46A7}"/>
              </a:ext>
            </a:extLst>
          </p:cNvPr>
          <p:cNvSpPr/>
          <p:nvPr/>
        </p:nvSpPr>
        <p:spPr>
          <a:xfrm>
            <a:off x="10687242" y="5598259"/>
            <a:ext cx="1440591" cy="5544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70695" y="4464394"/>
            <a:ext cx="15709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mtClean="0"/>
              <a:t>X</a:t>
            </a:r>
            <a:endParaRPr lang="ko-KR" altLang="en-US" sz="1000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70695" y="5713716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화학비료</a:t>
            </a:r>
            <a:endParaRPr lang="ko-KR" altLang="en-US" sz="1000" b="1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35062" y="3365149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하수</a:t>
            </a:r>
            <a:r>
              <a:rPr lang="en-US" altLang="ko-KR" sz="1200" b="1" smtClean="0">
                <a:latin typeface="MS Gothic" panose="020B0609070205080204" pitchFamily="49" charset="-128"/>
                <a:ea typeface="MS Gothic" panose="020B0609070205080204" pitchFamily="49" charset="-128"/>
              </a:rPr>
              <a:t>‧</a:t>
            </a:r>
            <a:r>
              <a:rPr lang="ko-KR" altLang="en-US" sz="1200" b="1" smtClean="0"/>
              <a:t>분뇨</a:t>
            </a:r>
            <a:endParaRPr lang="ko-KR" altLang="en-US" sz="100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35062" y="2311907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강우</a:t>
            </a:r>
            <a:endParaRPr lang="ko-KR" altLang="en-US" sz="1200" b="1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D233087-0907-BB18-F4FB-6776C038066C}"/>
              </a:ext>
            </a:extLst>
          </p:cNvPr>
          <p:cNvSpPr txBox="1"/>
          <p:nvPr/>
        </p:nvSpPr>
        <p:spPr>
          <a:xfrm>
            <a:off x="10635062" y="1358730"/>
            <a:ext cx="1570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mtClean="0"/>
              <a:t>토양</a:t>
            </a:r>
            <a:r>
              <a:rPr lang="en-US" altLang="ko-KR" sz="1200" b="1" smtClean="0"/>
              <a:t>-</a:t>
            </a:r>
            <a:r>
              <a:rPr lang="ko-KR" altLang="en-US" sz="1200" b="1" smtClean="0"/>
              <a:t>질소</a:t>
            </a:r>
            <a:endParaRPr lang="ko-KR" altLang="en-US" sz="1000" b="1" dirty="0"/>
          </a:p>
        </p:txBody>
      </p:sp>
      <p:sp>
        <p:nvSpPr>
          <p:cNvPr id="21" name="타원 20"/>
          <p:cNvSpPr/>
          <p:nvPr/>
        </p:nvSpPr>
        <p:spPr>
          <a:xfrm>
            <a:off x="9154324" y="5828715"/>
            <a:ext cx="1228768" cy="41154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구부러진 연결선 26"/>
          <p:cNvCxnSpPr>
            <a:stCxn id="101" idx="2"/>
            <a:endCxn id="21" idx="7"/>
          </p:cNvCxnSpPr>
          <p:nvPr/>
        </p:nvCxnSpPr>
        <p:spPr>
          <a:xfrm rot="16200000" flipH="1">
            <a:off x="9476387" y="5162228"/>
            <a:ext cx="1147590" cy="305922"/>
          </a:xfrm>
          <a:prstGeom prst="curvedConnector3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78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734722-863F-7091-FC1A-6CF1F3E9DA6F}"/>
              </a:ext>
            </a:extLst>
          </p:cNvPr>
          <p:cNvSpPr/>
          <p:nvPr/>
        </p:nvSpPr>
        <p:spPr>
          <a:xfrm>
            <a:off x="72103" y="1727487"/>
            <a:ext cx="2872218" cy="409579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E1364-CEF8-DAB8-7612-2635E6993BD9}"/>
              </a:ext>
            </a:extLst>
          </p:cNvPr>
          <p:cNvSpPr txBox="1"/>
          <p:nvPr/>
        </p:nvSpPr>
        <p:spPr>
          <a:xfrm>
            <a:off x="1152922" y="26883"/>
            <a:ext cx="1003621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정성적</a:t>
            </a:r>
            <a:r>
              <a:rPr lang="en-US" altLang="ko-KR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정량적</a:t>
            </a:r>
            <a:r>
              <a:rPr lang="en-US" altLang="ko-KR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질소 </a:t>
            </a:r>
            <a:r>
              <a:rPr lang="ko-KR" altLang="en-US" sz="260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오염원 평가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참고자료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 검토용 세부 프로세스</a:t>
            </a:r>
            <a:r>
              <a:rPr lang="en-US" altLang="ko-KR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  <a:endParaRPr lang="ko-KR" altLang="en-US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ko-KR" altLang="en-US" sz="26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215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붙임</a:t>
            </a:r>
            <a:r>
              <a:rPr lang="en-US" altLang="ko-KR" sz="2000" b="1" dirty="0"/>
              <a:t>2&gt;</a:t>
            </a:r>
            <a:endParaRPr lang="ko-KR" altLang="en-US" sz="2000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72103" y="721095"/>
            <a:ext cx="7473705" cy="44184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tx1"/>
                </a:solidFill>
              </a:rPr>
              <a:t>정성적 </a:t>
            </a:r>
            <a:r>
              <a:rPr lang="ko-KR" altLang="en-US" b="1" dirty="0">
                <a:solidFill>
                  <a:schemeClr val="tx1"/>
                </a:solidFill>
              </a:rPr>
              <a:t>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795144" y="721197"/>
            <a:ext cx="4316062" cy="4381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mtClean="0">
                <a:solidFill>
                  <a:schemeClr val="tx1"/>
                </a:solidFill>
              </a:rPr>
              <a:t>정량적 </a:t>
            </a:r>
            <a:r>
              <a:rPr lang="ko-KR" altLang="en-US" b="1" dirty="0">
                <a:solidFill>
                  <a:schemeClr val="tx1"/>
                </a:solidFill>
              </a:rPr>
              <a:t>질소 오염원 평가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51818" y="1255870"/>
            <a:ext cx="4184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문헌지식 </a:t>
            </a:r>
            <a:r>
              <a:rPr lang="ko-KR" altLang="en-US" sz="1400" b="1" dirty="0"/>
              <a:t>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</a:t>
            </a:r>
            <a:r>
              <a:rPr lang="ko-KR" altLang="en-US" sz="1400" b="1"/>
              <a:t>판별 </a:t>
            </a:r>
            <a:r>
              <a:rPr lang="ko-KR" altLang="en-US" sz="1400" b="1" smtClean="0"/>
              <a:t>시스템</a:t>
            </a:r>
            <a:endParaRPr lang="en-US" altLang="ko-KR" sz="1400" b="1" smtClean="0"/>
          </a:p>
          <a:p>
            <a:pPr algn="ctr"/>
            <a:r>
              <a:rPr lang="en-US" altLang="ko-KR" sz="1200" b="1" smtClean="0"/>
              <a:t>(</a:t>
            </a:r>
            <a:r>
              <a:rPr lang="ko-KR" altLang="en-US" sz="1200" b="1" smtClean="0"/>
              <a:t>수질</a:t>
            </a:r>
            <a:r>
              <a:rPr lang="en-US" altLang="ko-KR" sz="1200" b="1" smtClean="0"/>
              <a:t>, </a:t>
            </a:r>
            <a:r>
              <a:rPr lang="ko-KR" altLang="en-US" sz="1200" b="1" smtClean="0"/>
              <a:t>안정동위원소 기반</a:t>
            </a:r>
            <a:r>
              <a:rPr lang="en-US" altLang="ko-KR" sz="1200" b="1" smtClean="0"/>
              <a:t>)</a:t>
            </a:r>
            <a:endParaRPr lang="ko-KR" altLang="en-US" sz="1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726465" y="1727487"/>
            <a:ext cx="35846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</a:t>
            </a:r>
            <a:r>
              <a:rPr lang="ko-KR" altLang="en-US" sz="1200" b="1" dirty="0" err="1"/>
              <a:t>전처리</a:t>
            </a:r>
            <a:r>
              <a:rPr lang="ko-KR" altLang="en-US" sz="1200" b="1" dirty="0"/>
              <a:t> 후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연구지점 군집화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(PAM, DIANA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8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경쟁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057210" y="2464059"/>
            <a:ext cx="30810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국내외 연구문헌 지식 기반 </a:t>
            </a:r>
            <a:endParaRPr lang="en-US" altLang="ko-KR" sz="1200" b="1" dirty="0"/>
          </a:p>
          <a:p>
            <a:pPr algn="ctr"/>
            <a:r>
              <a:rPr lang="ko-KR" altLang="en-US" sz="1200" b="1" dirty="0"/>
              <a:t>군집 및 개별지점 </a:t>
            </a:r>
            <a:r>
              <a:rPr lang="ko-KR" altLang="en-US" sz="1200" b="1"/>
              <a:t>기준 </a:t>
            </a:r>
            <a:r>
              <a:rPr lang="ko-KR" altLang="en-US" sz="1200" b="1" smtClean="0"/>
              <a:t>오염원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결정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(Gemini NLP/LLM </a:t>
            </a:r>
            <a:r>
              <a:rPr lang="ko-KR" altLang="en-US" sz="1000" b="1" dirty="0"/>
              <a:t>기반 자료 학습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251818" y="3228244"/>
            <a:ext cx="2739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ML/AI </a:t>
            </a:r>
            <a:r>
              <a:rPr lang="ko-KR" altLang="en-US" sz="1200" b="1" dirty="0"/>
              <a:t>기반 오염원 판별 임계치 보정 및 패턴분석을 통한 최종 오염원 판별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ko-KR" altLang="en-US" sz="1000" b="1" dirty="0"/>
              <a:t>누락 가능성 높은 핵심 오염 지점 상호보정</a:t>
            </a:r>
            <a:r>
              <a:rPr lang="en-US" altLang="ko-KR" sz="1000" b="1" dirty="0"/>
              <a:t>)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4426663" y="2321890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715721" y="3936388"/>
            <a:ext cx="31935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smtClean="0"/>
              <a:t>실측자료 </a:t>
            </a:r>
            <a:r>
              <a:rPr lang="ko-KR" altLang="en-US" sz="1400" b="1" dirty="0"/>
              <a:t>기반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오염원 </a:t>
            </a:r>
            <a:r>
              <a:rPr lang="ko-KR" altLang="en-US" sz="1400" b="1"/>
              <a:t>판별 </a:t>
            </a:r>
            <a:r>
              <a:rPr lang="ko-KR" altLang="en-US" sz="1400" b="1" smtClean="0"/>
              <a:t>시스템</a:t>
            </a:r>
            <a:endParaRPr lang="en-US" altLang="ko-KR" sz="1400" b="1" smtClean="0"/>
          </a:p>
          <a:p>
            <a:pPr algn="ctr"/>
            <a:r>
              <a:rPr lang="en-US" altLang="ko-KR" sz="1200" b="1" smtClean="0"/>
              <a:t>(</a:t>
            </a:r>
            <a:r>
              <a:rPr lang="ko-KR" altLang="en-US" sz="1200" b="1" smtClean="0"/>
              <a:t>수질</a:t>
            </a:r>
            <a:r>
              <a:rPr lang="en-US" altLang="ko-KR" sz="1200" b="1" smtClean="0"/>
              <a:t>, </a:t>
            </a:r>
            <a:r>
              <a:rPr lang="ko-KR" altLang="en-US" sz="1200" b="1" smtClean="0"/>
              <a:t>안정동위원소 기반</a:t>
            </a:r>
            <a:r>
              <a:rPr lang="en-US" altLang="ko-KR" sz="1200" b="1" smtClean="0"/>
              <a:t>)</a:t>
            </a:r>
            <a:endParaRPr lang="ko-KR" alt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256202" y="4462488"/>
            <a:ext cx="257875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입력 모니터링 데이터 및 학습용 </a:t>
            </a:r>
            <a:r>
              <a:rPr lang="ko-KR" altLang="en-US" sz="1200" b="1"/>
              <a:t>실측자료 전처리</a:t>
            </a:r>
            <a:r>
              <a:rPr lang="en-US" altLang="ko-KR" sz="1200" b="1"/>
              <a:t>, Domain </a:t>
            </a:r>
            <a:r>
              <a:rPr lang="ko-KR" altLang="en-US" sz="1200" b="1" dirty="0"/>
              <a:t>규칙 및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추론 기반 오염원 범주 </a:t>
            </a:r>
            <a:r>
              <a:rPr lang="ko-KR" altLang="en-US" sz="1200" b="1" dirty="0" err="1"/>
              <a:t>라벨링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(Gemma/Gemini API LLM)</a:t>
            </a:r>
            <a:endParaRPr lang="ko-KR" altLang="en-US" sz="1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417639" y="5450160"/>
            <a:ext cx="23038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Hybrid Ensemble Model </a:t>
            </a:r>
            <a:r>
              <a:rPr lang="ko-KR" altLang="en-US" sz="1200" b="1" dirty="0"/>
              <a:t>기반 </a:t>
            </a:r>
            <a:r>
              <a:rPr lang="en-US" altLang="ko-KR" sz="1200" b="1" dirty="0"/>
              <a:t>Soft voting </a:t>
            </a:r>
            <a:r>
              <a:rPr lang="ko-KR" altLang="en-US" sz="1200" b="1" dirty="0"/>
              <a:t>앙상블 학습</a:t>
            </a:r>
            <a:endParaRPr lang="en-US" altLang="ko-KR" sz="1200" b="1" dirty="0"/>
          </a:p>
          <a:p>
            <a:pPr algn="ctr"/>
            <a:r>
              <a:rPr lang="en-US" altLang="ko-KR" sz="1000" b="1" dirty="0"/>
              <a:t>(</a:t>
            </a:r>
            <a:r>
              <a:rPr lang="en-US" altLang="ko-KR" sz="1000" b="1" dirty="0" err="1"/>
              <a:t>XGBoost</a:t>
            </a:r>
            <a:r>
              <a:rPr lang="en-US" altLang="ko-KR" sz="1000" b="1" dirty="0"/>
              <a:t>, MLP </a:t>
            </a:r>
            <a:r>
              <a:rPr lang="ko-KR" altLang="en-US" sz="1000" b="1" dirty="0"/>
              <a:t>등 </a:t>
            </a:r>
            <a:r>
              <a:rPr lang="en-US" altLang="ko-KR" sz="1000" b="1" dirty="0"/>
              <a:t>22</a:t>
            </a:r>
            <a:r>
              <a:rPr lang="ko-KR" altLang="en-US" sz="1000" b="1" dirty="0"/>
              <a:t>종 </a:t>
            </a:r>
            <a:r>
              <a:rPr lang="en-US" altLang="ko-KR" sz="1000" b="1" dirty="0"/>
              <a:t>ML/AI </a:t>
            </a:r>
            <a:r>
              <a:rPr lang="ko-KR" altLang="en-US" sz="1000" b="1" dirty="0"/>
              <a:t>결합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260052" y="6372104"/>
            <a:ext cx="2714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연구지점 대상 최종 오염원 판별</a:t>
            </a:r>
            <a:endParaRPr lang="en-US" altLang="ko-KR" sz="1200" b="1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012" y="2992127"/>
            <a:ext cx="593680" cy="23611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31" y="5023411"/>
            <a:ext cx="847723" cy="248377"/>
          </a:xfrm>
          <a:prstGeom prst="rect">
            <a:avLst/>
          </a:prstGeom>
        </p:spPr>
      </p:pic>
      <p:sp>
        <p:nvSpPr>
          <p:cNvPr id="32" name="오른쪽 화살표 31"/>
          <p:cNvSpPr/>
          <p:nvPr/>
        </p:nvSpPr>
        <p:spPr>
          <a:xfrm rot="5400000">
            <a:off x="4458852" y="5259498"/>
            <a:ext cx="168896" cy="1934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730" y="4444656"/>
            <a:ext cx="701979" cy="499714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500" y="6153931"/>
            <a:ext cx="550191" cy="495172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43" y="4430526"/>
            <a:ext cx="739982" cy="537644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616" y="5351084"/>
            <a:ext cx="981515" cy="699996"/>
          </a:xfrm>
          <a:prstGeom prst="rect">
            <a:avLst/>
          </a:prstGeom>
        </p:spPr>
      </p:pic>
      <p:sp>
        <p:nvSpPr>
          <p:cNvPr id="40" name="모서리가 둥근 직사각형 39"/>
          <p:cNvSpPr/>
          <p:nvPr/>
        </p:nvSpPr>
        <p:spPr>
          <a:xfrm>
            <a:off x="3316450" y="1285180"/>
            <a:ext cx="4027663" cy="4283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71188" y="1940121"/>
            <a:ext cx="2620623" cy="8562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모서리가 둥근 직사각형 41"/>
          <p:cNvSpPr/>
          <p:nvPr/>
        </p:nvSpPr>
        <p:spPr>
          <a:xfrm>
            <a:off x="3316450" y="3953640"/>
            <a:ext cx="4027663" cy="4347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087001" y="1360157"/>
            <a:ext cx="3779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모델 </a:t>
            </a:r>
            <a:r>
              <a:rPr lang="ko-KR" altLang="en-US" sz="1400" b="1" dirty="0"/>
              <a:t>간 </a:t>
            </a:r>
            <a:r>
              <a:rPr lang="ko-KR" altLang="en-US" sz="1400" b="1"/>
              <a:t>교차 </a:t>
            </a:r>
            <a:r>
              <a:rPr lang="ko-KR" altLang="en-US" sz="1400" b="1" smtClean="0"/>
              <a:t>검증 기반 </a:t>
            </a:r>
            <a:endParaRPr lang="en-US" altLang="ko-KR" sz="1400" b="1" smtClean="0"/>
          </a:p>
          <a:p>
            <a:pPr algn="ctr"/>
            <a:r>
              <a:rPr lang="ko-KR" altLang="en-US" sz="1400" b="1" smtClean="0"/>
              <a:t>신속</a:t>
            </a:r>
            <a:r>
              <a:rPr lang="en-US" altLang="ko-KR" sz="1400" b="1" smtClean="0">
                <a:latin typeface="MS Gothic" panose="020B0609070205080204" pitchFamily="49" charset="-128"/>
                <a:ea typeface="MS Gothic" panose="020B0609070205080204" pitchFamily="49" charset="-128"/>
              </a:rPr>
              <a:t>‧</a:t>
            </a:r>
            <a:r>
              <a:rPr lang="ko-KR" altLang="en-US" sz="1400" b="1" smtClean="0"/>
              <a:t>간편 오염원 기여율 산정 방법 마련</a:t>
            </a:r>
            <a:endParaRPr lang="ko-KR" altLang="en-US" sz="1400" b="1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8096808" y="1317202"/>
            <a:ext cx="3794162" cy="61471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010830" y="3391369"/>
            <a:ext cx="389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Excel </a:t>
            </a:r>
            <a:r>
              <a:rPr lang="ko-KR" altLang="en-US" sz="1200" b="1" dirty="0"/>
              <a:t>기반의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현장 모델 </a:t>
            </a:r>
            <a:r>
              <a:rPr lang="en-US" altLang="ko-KR" sz="1200" b="1" dirty="0"/>
              <a:t>EMMTE </a:t>
            </a:r>
            <a:r>
              <a:rPr lang="ko-KR" altLang="en-US" sz="1200" b="1" dirty="0"/>
              <a:t>및 </a:t>
            </a:r>
            <a:r>
              <a:rPr lang="en-US" altLang="ko-KR" sz="1200" b="1" dirty="0"/>
              <a:t>R language </a:t>
            </a:r>
            <a:r>
              <a:rPr lang="ko-KR" altLang="en-US" sz="1200" b="1" dirty="0"/>
              <a:t>기반 범용 모델 </a:t>
            </a:r>
            <a:r>
              <a:rPr lang="en-US" altLang="ko-KR" sz="1200" b="1" dirty="0" err="1"/>
              <a:t>MixSIAR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간 교차 </a:t>
            </a:r>
            <a:r>
              <a:rPr lang="ko-KR" altLang="en-US" sz="1200" b="1"/>
              <a:t>검증을 </a:t>
            </a:r>
            <a:r>
              <a:rPr lang="ko-KR" altLang="en-US" sz="1200" b="1" smtClean="0"/>
              <a:t>통해 </a:t>
            </a:r>
            <a:r>
              <a:rPr lang="ko-KR" altLang="en-US" sz="1200" b="1" dirty="0"/>
              <a:t>질소 오염원 기여율 산정의 신뢰성 확보</a:t>
            </a:r>
            <a:endParaRPr lang="en-US" altLang="ko-KR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9014190" y="4718673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오염원별 </a:t>
            </a:r>
            <a:r>
              <a:rPr lang="ko-KR" altLang="en-US" sz="1400" b="1" dirty="0"/>
              <a:t>기여율 산정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890261" y="4752394"/>
            <a:ext cx="2173386" cy="24645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700146" y="5527105"/>
            <a:ext cx="239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각 오염원별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토양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화학비료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하수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분뇨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강우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 </a:t>
            </a:r>
            <a:r>
              <a:rPr lang="ko-KR" altLang="en-US" sz="1200" b="1" dirty="0"/>
              <a:t>기여율 산정 및 평가</a:t>
            </a:r>
            <a:endParaRPr lang="en-US" altLang="ko-KR" sz="12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D3A2C5-C434-05A2-4EBB-70530FC6824D}"/>
              </a:ext>
            </a:extLst>
          </p:cNvPr>
          <p:cNvSpPr/>
          <p:nvPr/>
        </p:nvSpPr>
        <p:spPr>
          <a:xfrm>
            <a:off x="3089706" y="1224566"/>
            <a:ext cx="4456103" cy="26353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50A53-28A9-EAF8-6149-40D79B376622}"/>
              </a:ext>
            </a:extLst>
          </p:cNvPr>
          <p:cNvSpPr/>
          <p:nvPr/>
        </p:nvSpPr>
        <p:spPr>
          <a:xfrm>
            <a:off x="3089706" y="3896238"/>
            <a:ext cx="4458106" cy="289726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2B04BBE-FDBF-A261-52DA-0F62A6DF06C1}"/>
              </a:ext>
            </a:extLst>
          </p:cNvPr>
          <p:cNvSpPr/>
          <p:nvPr/>
        </p:nvSpPr>
        <p:spPr>
          <a:xfrm>
            <a:off x="7811796" y="1206887"/>
            <a:ext cx="4316062" cy="558661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0799FDC7-BAB7-9701-93D8-A079C44674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47" y="2457676"/>
            <a:ext cx="1299811" cy="49808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F268058-9A64-76AE-1222-E06728BAF3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62" y="3258605"/>
            <a:ext cx="1007400" cy="55446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3D8FB746-EA16-7D16-B4E0-F076424372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006" y="1766391"/>
            <a:ext cx="1299752" cy="53470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60802F4B-160E-B355-30DE-775E795AE9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371" y="772568"/>
            <a:ext cx="328792" cy="348922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4A62318B-6183-9A7C-D7F6-86B95F74B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308" y="2128111"/>
            <a:ext cx="1253849" cy="77563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6B591A04-5680-9D52-D76F-D6D2E71A7B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027" y="2127037"/>
            <a:ext cx="1379112" cy="82363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E5542475-3F3C-F639-45F1-91D8BBACC2DB}"/>
              </a:ext>
            </a:extLst>
          </p:cNvPr>
          <p:cNvSpPr txBox="1"/>
          <p:nvPr/>
        </p:nvSpPr>
        <p:spPr>
          <a:xfrm>
            <a:off x="7975478" y="2895983"/>
            <a:ext cx="1380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EMMTE</a:t>
            </a:r>
          </a:p>
          <a:p>
            <a:pPr algn="ctr"/>
            <a:r>
              <a:rPr lang="en-US" altLang="ko-KR" sz="1200" b="1" dirty="0"/>
              <a:t>(Excel)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34AC18-29FA-BDEE-34A0-08ABB24907C9}"/>
              </a:ext>
            </a:extLst>
          </p:cNvPr>
          <p:cNvSpPr txBox="1"/>
          <p:nvPr/>
        </p:nvSpPr>
        <p:spPr>
          <a:xfrm>
            <a:off x="10330194" y="2908158"/>
            <a:ext cx="1786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/>
              <a:t>MixSIAR</a:t>
            </a:r>
            <a:endParaRPr lang="en-US" altLang="ko-KR" sz="1200" b="1" dirty="0"/>
          </a:p>
          <a:p>
            <a:pPr algn="ctr"/>
            <a:r>
              <a:rPr lang="en-US" altLang="ko-KR" sz="1200" b="1" dirty="0"/>
              <a:t>(R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with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JAGS)</a:t>
            </a:r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B35B0AF8-158F-A215-E8C9-1852BA22D809}"/>
              </a:ext>
            </a:extLst>
          </p:cNvPr>
          <p:cNvSpPr/>
          <p:nvPr/>
        </p:nvSpPr>
        <p:spPr>
          <a:xfrm>
            <a:off x="7499618" y="865867"/>
            <a:ext cx="341716" cy="162324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아래쪽 화살표 63"/>
          <p:cNvSpPr/>
          <p:nvPr/>
        </p:nvSpPr>
        <p:spPr>
          <a:xfrm>
            <a:off x="4426663" y="3047199"/>
            <a:ext cx="190574" cy="1818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왼쪽/오른쪽 57">
            <a:extLst>
              <a:ext uri="{FF2B5EF4-FFF2-40B4-BE49-F238E27FC236}">
                <a16:creationId xmlns:a16="http://schemas.microsoft.com/office/drawing/2014/main" id="{19CE8251-37B2-556C-BEB8-347A72E853D9}"/>
              </a:ext>
            </a:extLst>
          </p:cNvPr>
          <p:cNvSpPr/>
          <p:nvPr/>
        </p:nvSpPr>
        <p:spPr>
          <a:xfrm>
            <a:off x="9300675" y="2274516"/>
            <a:ext cx="1167168" cy="488282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교차 검증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2A914159-4CF3-DC9A-6415-EA460340EF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830" y="5060171"/>
            <a:ext cx="1713643" cy="1713643"/>
          </a:xfrm>
          <a:prstGeom prst="rect">
            <a:avLst/>
          </a:prstGeom>
        </p:spPr>
      </p:pic>
      <p:pic>
        <p:nvPicPr>
          <p:cNvPr id="62" name="Picture 1"/>
          <p:cNvPicPr>
            <a:picLocks noChangeAspect="1"/>
          </p:cNvPicPr>
          <p:nvPr/>
        </p:nvPicPr>
        <p:blipFill>
          <a:blip r:embed="rId15">
            <a:extLst/>
          </a:blip>
          <a:srcRect t="2866" b="1909"/>
          <a:stretch>
            <a:fillRect/>
          </a:stretch>
        </p:blipFill>
        <p:spPr>
          <a:xfrm>
            <a:off x="216028" y="3028039"/>
            <a:ext cx="2689600" cy="206697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386E9E0-13BD-5726-0A41-088EDEE425CB}"/>
              </a:ext>
            </a:extLst>
          </p:cNvPr>
          <p:cNvSpPr txBox="1"/>
          <p:nvPr/>
        </p:nvSpPr>
        <p:spPr>
          <a:xfrm>
            <a:off x="-173380" y="2003016"/>
            <a:ext cx="3309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오염원 라이브러리 </a:t>
            </a:r>
            <a:endParaRPr lang="en-US" altLang="ko-KR" sz="1400" b="1" smtClean="0"/>
          </a:p>
          <a:p>
            <a:pPr algn="ctr"/>
            <a:r>
              <a:rPr lang="ko-KR" altLang="en-US" sz="1400" b="1" smtClean="0"/>
              <a:t>이중 </a:t>
            </a:r>
            <a:r>
              <a:rPr lang="en-US" altLang="ko-KR" sz="1400" b="1" smtClean="0"/>
              <a:t>plot </a:t>
            </a:r>
            <a:r>
              <a:rPr lang="ko-KR" altLang="en-US" sz="1400" b="1" smtClean="0"/>
              <a:t>적용</a:t>
            </a:r>
            <a:endParaRPr lang="en-US" altLang="ko-KR" sz="1400" b="1" smtClean="0"/>
          </a:p>
          <a:p>
            <a:pPr algn="ctr"/>
            <a:r>
              <a:rPr lang="en-US" altLang="ko-KR" sz="1200" b="1" smtClean="0"/>
              <a:t>(</a:t>
            </a:r>
            <a:r>
              <a:rPr lang="ko-KR" altLang="en-US" sz="1200" b="1" smtClean="0"/>
              <a:t>안정동위원소 기반</a:t>
            </a:r>
            <a:r>
              <a:rPr lang="en-US" altLang="ko-KR" sz="1200" b="1" smtClean="0"/>
              <a:t>)</a:t>
            </a:r>
            <a:endParaRPr lang="en-US" altLang="ko-KR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88501D-9A39-3325-0D85-EE24A34C98CD}"/>
              </a:ext>
            </a:extLst>
          </p:cNvPr>
          <p:cNvSpPr txBox="1"/>
          <p:nvPr/>
        </p:nvSpPr>
        <p:spPr>
          <a:xfrm>
            <a:off x="41736" y="5211170"/>
            <a:ext cx="2975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Kendall </a:t>
            </a:r>
            <a:r>
              <a:rPr lang="en-US" altLang="ko-KR" sz="1200" b="1"/>
              <a:t>plot </a:t>
            </a:r>
            <a:r>
              <a:rPr lang="ko-KR" altLang="en-US" sz="1200" b="1" smtClean="0"/>
              <a:t>적용 </a:t>
            </a:r>
            <a:r>
              <a:rPr lang="ko-KR" altLang="en-US" sz="1200" b="1" dirty="0"/>
              <a:t>시 오염원 </a:t>
            </a:r>
            <a:r>
              <a:rPr lang="ko-KR" altLang="en-US" sz="1200" b="1"/>
              <a:t>중첩문제 </a:t>
            </a:r>
            <a:r>
              <a:rPr lang="ko-KR" altLang="en-US" sz="1200" b="1" smtClean="0"/>
              <a:t>해결 필요</a:t>
            </a:r>
            <a:endParaRPr lang="en-US" altLang="ko-KR" sz="1200" b="1" dirty="0"/>
          </a:p>
        </p:txBody>
      </p:sp>
      <p:sp>
        <p:nvSpPr>
          <p:cNvPr id="70" name="오른쪽 화살표 69"/>
          <p:cNvSpPr/>
          <p:nvPr/>
        </p:nvSpPr>
        <p:spPr>
          <a:xfrm rot="5400000">
            <a:off x="4438953" y="6122170"/>
            <a:ext cx="168896" cy="19347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>
            <a:off x="9714966" y="4092388"/>
            <a:ext cx="490015" cy="540903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 rot="19597344">
            <a:off x="2801445" y="3074192"/>
            <a:ext cx="620573" cy="17012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오른쪽 화살표 73"/>
          <p:cNvSpPr/>
          <p:nvPr/>
        </p:nvSpPr>
        <p:spPr>
          <a:xfrm rot="3059626">
            <a:off x="2771501" y="4221019"/>
            <a:ext cx="620573" cy="17012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62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650</Words>
  <Application>Microsoft Office PowerPoint</Application>
  <PresentationFormat>와이드스크린</PresentationFormat>
  <Paragraphs>103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MS Gothic</vt:lpstr>
      <vt:lpstr>고양덕양 B</vt:lpstr>
      <vt:lpstr>나눔바른고딕</vt:lpstr>
      <vt:lpstr>맑은 고딕</vt:lpstr>
      <vt:lpstr>Arial</vt:lpstr>
      <vt:lpstr>Gill Sans MT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Nier</dc:creator>
  <cp:lastModifiedBy>Nier</cp:lastModifiedBy>
  <cp:revision>176</cp:revision>
  <cp:lastPrinted>2026-08-11T04:06:18Z</cp:lastPrinted>
  <dcterms:created xsi:type="dcterms:W3CDTF">2026-07-28T04:37:35Z</dcterms:created>
  <dcterms:modified xsi:type="dcterms:W3CDTF">2026-08-11T08:45:21Z</dcterms:modified>
</cp:coreProperties>
</file>