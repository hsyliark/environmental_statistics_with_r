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6641" autoAdjust="0"/>
  </p:normalViewPr>
  <p:slideViewPr>
    <p:cSldViewPr snapToGrid="0">
      <p:cViewPr varScale="1">
        <p:scale>
          <a:sx n="106" d="100"/>
          <a:sy n="106" d="100"/>
        </p:scale>
        <p:origin x="732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01511-0405-4F3C-9CC7-59D2DC217B90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5D940-19D0-49D9-BB22-39878D7205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30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106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729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44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654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535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469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949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330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505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72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38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0583" y="6237696"/>
            <a:ext cx="2743200" cy="365125"/>
          </a:xfrm>
          <a:prstGeom prst="rect">
            <a:avLst/>
          </a:prstGeom>
        </p:spPr>
        <p:txBody>
          <a:bodyPr/>
          <a:lstStyle/>
          <a:p>
            <a:fld id="{CF861DB1-7CD0-4EAD-ACA9-006A4A6740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 hasCustomPrompt="1"/>
          </p:nvPr>
        </p:nvSpPr>
        <p:spPr>
          <a:xfrm>
            <a:off x="519113" y="1400175"/>
            <a:ext cx="11161712" cy="4687888"/>
          </a:xfrm>
          <a:prstGeom prst="rect">
            <a:avLst/>
          </a:prstGeom>
        </p:spPr>
        <p:txBody>
          <a:bodyPr/>
          <a:lstStyle>
            <a:lvl1pPr marL="228600" indent="-228600">
              <a:buClrTx/>
              <a:buFont typeface="Wingdings" panose="05000000000000000000" pitchFamily="2" charset="2"/>
              <a:buChar char="l"/>
              <a:defRPr>
                <a:latin typeface="고양덕양 B" pitchFamily="2" charset="-127"/>
                <a:ea typeface="고양덕양 B" pitchFamily="2" charset="-127"/>
              </a:defRPr>
            </a:lvl1pPr>
            <a:lvl2pPr marL="685800" indent="-228600">
              <a:buFont typeface="Gill Sans MT" panose="020B0502020104020203" pitchFamily="34" charset="0"/>
              <a:buChar char="–"/>
              <a:defRPr>
                <a:latin typeface="고양덕양 B" pitchFamily="2" charset="-127"/>
                <a:ea typeface="고양덕양 B" pitchFamily="2" charset="-127"/>
              </a:defRPr>
            </a:lvl2pPr>
            <a:lvl3pPr>
              <a:defRPr>
                <a:latin typeface="고양덕양 B" pitchFamily="2" charset="-127"/>
                <a:ea typeface="고양덕양 B" pitchFamily="2" charset="-127"/>
              </a:defRPr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7583B1C-0A43-4C46-B983-505CCAE49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duotone>
              <a:prstClr val="black"/>
              <a:srgbClr val="9BBB59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t="1569" b="49216"/>
          <a:stretch/>
        </p:blipFill>
        <p:spPr>
          <a:xfrm>
            <a:off x="1" y="0"/>
            <a:ext cx="12191999" cy="600331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338B28A-97DF-C745-8816-C1FDE713462C}"/>
              </a:ext>
            </a:extLst>
          </p:cNvPr>
          <p:cNvSpPr/>
          <p:nvPr userDrawn="1"/>
        </p:nvSpPr>
        <p:spPr>
          <a:xfrm>
            <a:off x="0" y="600331"/>
            <a:ext cx="12192000" cy="457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제목 1"/>
          <p:cNvSpPr>
            <a:spLocks noGrp="1"/>
          </p:cNvSpPr>
          <p:nvPr>
            <p:ph type="title"/>
          </p:nvPr>
        </p:nvSpPr>
        <p:spPr>
          <a:xfrm>
            <a:off x="1100832" y="76524"/>
            <a:ext cx="9994557" cy="676867"/>
          </a:xfrm>
          <a:prstGeom prst="rect">
            <a:avLst/>
          </a:prstGeom>
        </p:spPr>
        <p:txBody>
          <a:bodyPr/>
          <a:lstStyle>
            <a:lvl1pPr>
              <a:defRPr sz="3000" baseline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425ABE7-A16A-824D-B06C-CEFB4D1FA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20087675">
            <a:off x="269928" y="26353"/>
            <a:ext cx="693503" cy="78116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24" name="그룹 23"/>
          <p:cNvGrpSpPr>
            <a:grpSpLocks noChangeAspect="1"/>
          </p:cNvGrpSpPr>
          <p:nvPr userDrawn="1"/>
        </p:nvGrpSpPr>
        <p:grpSpPr>
          <a:xfrm>
            <a:off x="9745900" y="24691"/>
            <a:ext cx="2460615" cy="521919"/>
            <a:chOff x="2261630" y="1618848"/>
            <a:chExt cx="2964595" cy="628818"/>
          </a:xfrm>
        </p:grpSpPr>
        <p:pic>
          <p:nvPicPr>
            <p:cNvPr id="25" name="Picture 45">
              <a:extLst>
                <a:ext uri="{FF2B5EF4-FFF2-40B4-BE49-F238E27FC236}">
                  <a16:creationId xmlns:a16="http://schemas.microsoft.com/office/drawing/2014/main" id="{37AF8506-181C-B54B-8F3B-DF4C2B31D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61630" y="1707006"/>
              <a:ext cx="2821871" cy="54066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4355977" y="1618848"/>
              <a:ext cx="870248" cy="333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i="1" baseline="0" dirty="0">
                  <a:solidFill>
                    <a:srgbClr val="4472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+Pride </a:t>
              </a:r>
              <a:endParaRPr lang="ko-KR" altLang="en-US" sz="1200" b="1" i="1" baseline="0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0758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71160-8C05-4B15-8E89-7C1E92CC246B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08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21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5E1364-CEF8-DAB8-7612-2635E6993BD9}"/>
              </a:ext>
            </a:extLst>
          </p:cNvPr>
          <p:cNvSpPr txBox="1"/>
          <p:nvPr/>
        </p:nvSpPr>
        <p:spPr>
          <a:xfrm>
            <a:off x="-70314" y="26884"/>
            <a:ext cx="11053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안정동위원소 결합 오염평가 체계 고도화를 위한 국가 수질측정망 적용 연구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168442" y="826723"/>
            <a:ext cx="11839074" cy="17230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502092" y="665052"/>
            <a:ext cx="4186990" cy="441158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/>
              <a:t>Phase1: </a:t>
            </a:r>
            <a:r>
              <a:rPr lang="ko-KR" altLang="en-US" b="1"/>
              <a:t>문제점 제시</a:t>
            </a:r>
            <a:r>
              <a:rPr lang="en-US" altLang="ko-KR" b="1"/>
              <a:t>(</a:t>
            </a:r>
            <a:r>
              <a:rPr lang="ko-KR" altLang="en-US" b="1"/>
              <a:t>연구의 필요성</a:t>
            </a:r>
            <a:r>
              <a:rPr lang="en-US" altLang="ko-KR" b="1"/>
              <a:t>)</a:t>
            </a:r>
            <a:endParaRPr lang="ko-KR" altLang="en-US" b="1"/>
          </a:p>
        </p:txBody>
      </p:sp>
      <p:sp>
        <p:nvSpPr>
          <p:cNvPr id="7" name="TextBox 6"/>
          <p:cNvSpPr txBox="1"/>
          <p:nvPr/>
        </p:nvSpPr>
        <p:spPr>
          <a:xfrm>
            <a:off x="978341" y="1095222"/>
            <a:ext cx="49359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/>
              <a:t>기후</a:t>
            </a:r>
            <a:r>
              <a:rPr lang="en-US" altLang="ko-KR" sz="1600" b="1"/>
              <a:t>/</a:t>
            </a:r>
            <a:r>
              <a:rPr lang="ko-KR" altLang="en-US" sz="1600" b="1"/>
              <a:t>토지이용 변화에 따른 비점오염원 특성 복잡화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2470" y="1414629"/>
            <a:ext cx="3853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기존 농도 중심 평가</a:t>
            </a:r>
            <a:r>
              <a:rPr lang="en-US" altLang="ko-KR" sz="1400" b="1" dirty="0"/>
              <a:t>: </a:t>
            </a:r>
          </a:p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정밀한 </a:t>
            </a:r>
            <a:r>
              <a:rPr lang="ko-KR" altLang="en-US" sz="1400" b="1" dirty="0"/>
              <a:t>오염원 기원 및 기여도 규명에 한계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32470" y="1918827"/>
            <a:ext cx="3252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질소</a:t>
            </a:r>
            <a:r>
              <a:rPr lang="en-US" altLang="ko-KR" sz="1400" b="1"/>
              <a:t>(</a:t>
            </a:r>
            <a:r>
              <a:rPr lang="ko-KR" altLang="en-US" sz="1400" b="1"/>
              <a:t>담수 부영양화 </a:t>
            </a:r>
            <a:r>
              <a:rPr lang="en-US" altLang="ko-KR" sz="1400" b="1"/>
              <a:t>&amp; </a:t>
            </a:r>
            <a:r>
              <a:rPr lang="ko-KR" altLang="en-US" sz="1400" b="1"/>
              <a:t>조류 발생</a:t>
            </a:r>
            <a:r>
              <a:rPr lang="en-US" altLang="ko-KR" sz="1400" b="1"/>
              <a:t>): </a:t>
            </a:r>
          </a:p>
          <a:p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sz="1400" b="1"/>
              <a:t>관련 오염원 정량적 평가 체계 미흡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48" y="1159603"/>
            <a:ext cx="809449" cy="85320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22896" y="994630"/>
            <a:ext cx="49263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/>
              <a:t>과학적이고 선진화된 통합 오염평가 체계 구축 필요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797" y="1291139"/>
            <a:ext cx="3593253" cy="10134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79499" y="2269288"/>
            <a:ext cx="10130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수질측정망</a:t>
            </a:r>
            <a:endParaRPr lang="en-US" altLang="ko-KR" sz="1200" b="1"/>
          </a:p>
        </p:txBody>
      </p:sp>
      <p:sp>
        <p:nvSpPr>
          <p:cNvPr id="16" name="TextBox 15"/>
          <p:cNvSpPr txBox="1"/>
          <p:nvPr/>
        </p:nvSpPr>
        <p:spPr>
          <a:xfrm>
            <a:off x="8399064" y="2269288"/>
            <a:ext cx="11682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안정동위원소</a:t>
            </a:r>
            <a:endParaRPr lang="en-US" altLang="ko-KR" sz="1200" b="1"/>
          </a:p>
        </p:txBody>
      </p:sp>
      <p:sp>
        <p:nvSpPr>
          <p:cNvPr id="17" name="TextBox 16"/>
          <p:cNvSpPr txBox="1"/>
          <p:nvPr/>
        </p:nvSpPr>
        <p:spPr>
          <a:xfrm>
            <a:off x="9966112" y="2269288"/>
            <a:ext cx="896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인공지능</a:t>
            </a:r>
            <a:endParaRPr lang="en-US" altLang="ko-KR" sz="1200" b="1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21" y="1420254"/>
            <a:ext cx="1027205" cy="51632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100" y="1993791"/>
            <a:ext cx="1028451" cy="480585"/>
          </a:xfrm>
          <a:prstGeom prst="rect">
            <a:avLst/>
          </a:prstGeom>
        </p:spPr>
      </p:pic>
      <p:sp>
        <p:nvSpPr>
          <p:cNvPr id="20" name="모서리가 둥근 직사각형 19"/>
          <p:cNvSpPr/>
          <p:nvPr/>
        </p:nvSpPr>
        <p:spPr>
          <a:xfrm>
            <a:off x="168442" y="2789671"/>
            <a:ext cx="11839074" cy="17964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502092" y="2619859"/>
            <a:ext cx="5962945" cy="441158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Phase2: </a:t>
            </a:r>
            <a:r>
              <a:rPr lang="ko-KR" altLang="en-US" b="1" dirty="0"/>
              <a:t>문제점 해결방안</a:t>
            </a:r>
            <a:r>
              <a:rPr lang="en-US" altLang="ko-KR" b="1" dirty="0"/>
              <a:t>(</a:t>
            </a:r>
            <a:r>
              <a:rPr lang="ko-KR" altLang="en-US" b="1" dirty="0"/>
              <a:t>방법론 도입 및 고도화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25" y="3112957"/>
            <a:ext cx="1465030" cy="909812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589" y="3106310"/>
            <a:ext cx="1304636" cy="9098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9349" y="4000469"/>
            <a:ext cx="281038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 err="1"/>
              <a:t>고빈도</a:t>
            </a:r>
            <a:r>
              <a:rPr lang="ko-KR" altLang="en-US" sz="1200" b="1" dirty="0"/>
              <a:t> 수질</a:t>
            </a:r>
            <a:r>
              <a:rPr lang="en-US" altLang="ko-KR" sz="1200" b="1" dirty="0"/>
              <a:t>(</a:t>
            </a:r>
            <a:r>
              <a:rPr lang="ko-KR" altLang="en-US" sz="1200" b="1" dirty="0" err="1"/>
              <a:t>측정망</a:t>
            </a:r>
            <a:r>
              <a:rPr lang="ko-KR" altLang="en-US" sz="1200" b="1" dirty="0"/>
              <a:t> 연계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 및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안정동위원소</a:t>
            </a:r>
            <a:r>
              <a:rPr lang="en-US" altLang="ko-KR" sz="1200" b="1" dirty="0"/>
              <a:t>(</a:t>
            </a:r>
            <a:r>
              <a:rPr lang="ko-KR" altLang="en-US" sz="1200" b="1" dirty="0" err="1"/>
              <a:t>탈질미생물법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 모니터링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(1</a:t>
            </a:r>
            <a:r>
              <a:rPr lang="ko-KR" altLang="en-US" sz="1000" b="1" dirty="0"/>
              <a:t>회</a:t>
            </a:r>
            <a:r>
              <a:rPr lang="en-US" altLang="ko-KR" sz="1000" b="1" dirty="0"/>
              <a:t>/</a:t>
            </a:r>
            <a:r>
              <a:rPr lang="ko-KR" altLang="en-US" sz="1000" b="1" dirty="0"/>
              <a:t>주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237" y="3130002"/>
            <a:ext cx="1041784" cy="10270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862864" y="4143331"/>
            <a:ext cx="2672335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/>
              <a:t>기존 </a:t>
            </a:r>
            <a:r>
              <a:rPr lang="en-US" altLang="ko-KR" sz="1200" b="1" dirty="0"/>
              <a:t>Kendall plot </a:t>
            </a:r>
            <a:r>
              <a:rPr lang="ko-KR" altLang="en-US" sz="1200" b="1" dirty="0"/>
              <a:t>등 방법의 한계점</a:t>
            </a:r>
            <a:endParaRPr lang="en-US" altLang="ko-KR" sz="1200" b="1" dirty="0"/>
          </a:p>
          <a:p>
            <a:pPr algn="ctr"/>
            <a:r>
              <a:rPr lang="en-US" altLang="ko-KR" sz="1100" b="1" dirty="0"/>
              <a:t>(</a:t>
            </a:r>
            <a:r>
              <a:rPr lang="ko-KR" altLang="en-US" sz="1100" b="1" dirty="0"/>
              <a:t>오염원 중첩영역 등</a:t>
            </a:r>
            <a:r>
              <a:rPr lang="en-US" altLang="ko-KR" sz="1100" b="1" dirty="0"/>
              <a:t>)</a:t>
            </a:r>
          </a:p>
        </p:txBody>
      </p:sp>
      <p:sp>
        <p:nvSpPr>
          <p:cNvPr id="27" name="오른쪽 화살표 26"/>
          <p:cNvSpPr/>
          <p:nvPr/>
        </p:nvSpPr>
        <p:spPr>
          <a:xfrm>
            <a:off x="3307461" y="3530793"/>
            <a:ext cx="251794" cy="185534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오른쪽 화살표 27"/>
          <p:cNvSpPr/>
          <p:nvPr/>
        </p:nvSpPr>
        <p:spPr>
          <a:xfrm>
            <a:off x="4943005" y="3499409"/>
            <a:ext cx="593084" cy="202492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아래쪽 화살표 28"/>
          <p:cNvSpPr/>
          <p:nvPr/>
        </p:nvSpPr>
        <p:spPr>
          <a:xfrm rot="16200000">
            <a:off x="6415824" y="1314801"/>
            <a:ext cx="338554" cy="9314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5526462" y="3030353"/>
            <a:ext cx="283443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/>
              <a:t>AI </a:t>
            </a:r>
            <a:r>
              <a:rPr lang="ko-KR" altLang="en-US" sz="1400" b="1"/>
              <a:t>기반 오염원 판별 시스템 구축</a:t>
            </a:r>
            <a:endParaRPr lang="en-US" altLang="ko-KR" sz="1400" b="1"/>
          </a:p>
          <a:p>
            <a:pPr algn="ctr"/>
            <a:r>
              <a:rPr lang="en-US" altLang="ko-KR" sz="1200" b="1"/>
              <a:t>(ML/AI </a:t>
            </a:r>
            <a:r>
              <a:rPr lang="ko-KR" altLang="en-US" sz="1200" b="1"/>
              <a:t>지능형 방법론 추가 도입</a:t>
            </a:r>
            <a:r>
              <a:rPr lang="en-US" altLang="ko-KR" sz="1200" b="1"/>
              <a:t>)</a:t>
            </a:r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267" y="3493681"/>
            <a:ext cx="825434" cy="706666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445" y="3563003"/>
            <a:ext cx="506477" cy="485944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426" y="3566425"/>
            <a:ext cx="540699" cy="479100"/>
          </a:xfrm>
          <a:prstGeom prst="rect">
            <a:avLst/>
          </a:prstGeom>
        </p:spPr>
      </p:pic>
      <p:cxnSp>
        <p:nvCxnSpPr>
          <p:cNvPr id="45" name="구부러진 연결선 44"/>
          <p:cNvCxnSpPr>
            <a:stCxn id="43" idx="2"/>
            <a:endCxn id="42" idx="2"/>
          </p:cNvCxnSpPr>
          <p:nvPr/>
        </p:nvCxnSpPr>
        <p:spPr>
          <a:xfrm rot="16200000" flipH="1">
            <a:off x="6824634" y="3265997"/>
            <a:ext cx="151400" cy="1717300"/>
          </a:xfrm>
          <a:prstGeom prst="curvedConnector3">
            <a:avLst>
              <a:gd name="adj1" fmla="val 139734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6" name="구부러진 연결선 45"/>
          <p:cNvCxnSpPr>
            <a:stCxn id="44" idx="2"/>
            <a:endCxn id="42" idx="2"/>
          </p:cNvCxnSpPr>
          <p:nvPr/>
        </p:nvCxnSpPr>
        <p:spPr>
          <a:xfrm rot="16200000" flipH="1">
            <a:off x="7199469" y="3640832"/>
            <a:ext cx="154822" cy="964208"/>
          </a:xfrm>
          <a:prstGeom prst="curvedConnector3">
            <a:avLst>
              <a:gd name="adj1" fmla="val 247653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555252" y="4013788"/>
            <a:ext cx="949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학습용 문헌</a:t>
            </a:r>
            <a:endParaRPr lang="en-US" altLang="ko-KR" sz="1100" b="1"/>
          </a:p>
        </p:txBody>
      </p:sp>
      <p:sp>
        <p:nvSpPr>
          <p:cNvPr id="48" name="TextBox 47"/>
          <p:cNvSpPr txBox="1"/>
          <p:nvPr/>
        </p:nvSpPr>
        <p:spPr>
          <a:xfrm>
            <a:off x="6802724" y="4324461"/>
            <a:ext cx="1912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오염원 평가 및 결과 검토</a:t>
            </a:r>
            <a:endParaRPr lang="en-US" altLang="ko-KR" sz="1100" b="1"/>
          </a:p>
        </p:txBody>
      </p:sp>
      <p:cxnSp>
        <p:nvCxnSpPr>
          <p:cNvPr id="49" name="직선 화살표 연결선 48"/>
          <p:cNvCxnSpPr>
            <a:stCxn id="42" idx="2"/>
          </p:cNvCxnSpPr>
          <p:nvPr/>
        </p:nvCxnSpPr>
        <p:spPr>
          <a:xfrm>
            <a:off x="7758984" y="4200347"/>
            <a:ext cx="53830" cy="1860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오른쪽 화살표 66"/>
          <p:cNvSpPr/>
          <p:nvPr/>
        </p:nvSpPr>
        <p:spPr>
          <a:xfrm>
            <a:off x="8384328" y="3493681"/>
            <a:ext cx="814577" cy="293834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8940168" y="2819341"/>
            <a:ext cx="2948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/>
              <a:t>구축 지능형 시스템의 신뢰성 확보</a:t>
            </a:r>
            <a:endParaRPr lang="en-US" altLang="ko-KR" sz="1400" b="1"/>
          </a:p>
        </p:txBody>
      </p:sp>
      <p:sp>
        <p:nvSpPr>
          <p:cNvPr id="70" name="TextBox 69"/>
          <p:cNvSpPr txBox="1"/>
          <p:nvPr/>
        </p:nvSpPr>
        <p:spPr>
          <a:xfrm>
            <a:off x="6420856" y="4013788"/>
            <a:ext cx="763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실측자료</a:t>
            </a:r>
            <a:endParaRPr lang="en-US" altLang="ko-KR" sz="1100" b="1"/>
          </a:p>
        </p:txBody>
      </p:sp>
      <p:sp>
        <p:nvSpPr>
          <p:cNvPr id="71" name="TextBox 70"/>
          <p:cNvSpPr txBox="1"/>
          <p:nvPr/>
        </p:nvSpPr>
        <p:spPr>
          <a:xfrm>
            <a:off x="8465192" y="3652987"/>
            <a:ext cx="652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/>
              <a:t>Verify</a:t>
            </a:r>
          </a:p>
        </p:txBody>
      </p:sp>
      <p:pic>
        <p:nvPicPr>
          <p:cNvPr id="72" name="그림 7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1531" y="3083870"/>
            <a:ext cx="2041299" cy="1073139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824741" y="4124406"/>
            <a:ext cx="3073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/>
              <a:t>기검증 연구문헌 데이터 </a:t>
            </a:r>
            <a:r>
              <a:rPr lang="en-US" altLang="ko-KR" sz="1200" b="1"/>
              <a:t>&amp;</a:t>
            </a:r>
          </a:p>
          <a:p>
            <a:pPr algn="ctr"/>
            <a:r>
              <a:rPr lang="ko-KR" altLang="en-US" sz="1200" b="1"/>
              <a:t>오염원인이 명확한 시료 활용 정확도 검증</a:t>
            </a:r>
            <a:endParaRPr lang="en-US" altLang="ko-KR" sz="1200" b="1"/>
          </a:p>
        </p:txBody>
      </p:sp>
      <p:sp>
        <p:nvSpPr>
          <p:cNvPr id="74" name="TextBox 73"/>
          <p:cNvSpPr txBox="1"/>
          <p:nvPr/>
        </p:nvSpPr>
        <p:spPr>
          <a:xfrm>
            <a:off x="4977837" y="3620440"/>
            <a:ext cx="652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보완</a:t>
            </a:r>
            <a:endParaRPr lang="en-US" altLang="ko-KR" sz="1200" b="1"/>
          </a:p>
        </p:txBody>
      </p:sp>
      <p:sp>
        <p:nvSpPr>
          <p:cNvPr id="75" name="모서리가 둥근 직사각형 74"/>
          <p:cNvSpPr/>
          <p:nvPr/>
        </p:nvSpPr>
        <p:spPr>
          <a:xfrm>
            <a:off x="168442" y="4859821"/>
            <a:ext cx="11839074" cy="1932916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모서리가 둥근 직사각형 75"/>
          <p:cNvSpPr/>
          <p:nvPr/>
        </p:nvSpPr>
        <p:spPr>
          <a:xfrm>
            <a:off x="502091" y="4667962"/>
            <a:ext cx="5862535" cy="441158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/>
              <a:t>Phase3: </a:t>
            </a:r>
            <a:r>
              <a:rPr lang="ko-KR" altLang="en-US" b="1"/>
              <a:t>결론 도출</a:t>
            </a:r>
            <a:r>
              <a:rPr lang="en-US" altLang="ko-KR" b="1"/>
              <a:t>(</a:t>
            </a:r>
            <a:r>
              <a:rPr lang="ko-KR" altLang="en-US" b="1"/>
              <a:t>고도화된 오염평가 체계 마련</a:t>
            </a:r>
            <a:r>
              <a:rPr lang="en-US" altLang="ko-KR" b="1"/>
              <a:t>)</a:t>
            </a:r>
            <a:endParaRPr lang="ko-KR" altLang="en-US" b="1"/>
          </a:p>
        </p:txBody>
      </p:sp>
      <p:pic>
        <p:nvPicPr>
          <p:cNvPr id="77" name="그림 7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758" y="5156187"/>
            <a:ext cx="1182252" cy="1523286"/>
          </a:xfrm>
          <a:prstGeom prst="rect">
            <a:avLst/>
          </a:prstGeom>
        </p:spPr>
      </p:pic>
      <p:pic>
        <p:nvPicPr>
          <p:cNvPr id="78" name="그림 7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43" y="5382870"/>
            <a:ext cx="3313455" cy="99324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4120087" y="5106761"/>
            <a:ext cx="4501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‘</a:t>
            </a:r>
            <a:r>
              <a:rPr lang="ko-KR" altLang="en-US" sz="1400" b="1"/>
              <a:t>수질측정망</a:t>
            </a:r>
            <a:r>
              <a:rPr lang="en-US" altLang="ko-KR" sz="1400" b="1"/>
              <a:t>+</a:t>
            </a:r>
            <a:r>
              <a:rPr lang="ko-KR" altLang="en-US" sz="1400" b="1"/>
              <a:t>안정동위원소</a:t>
            </a:r>
            <a:r>
              <a:rPr lang="en-US" altLang="ko-KR" sz="1400" b="1"/>
              <a:t>+</a:t>
            </a:r>
            <a:r>
              <a:rPr lang="ko-KR" altLang="en-US" sz="1400" b="1"/>
              <a:t>인공지능</a:t>
            </a:r>
            <a:r>
              <a:rPr lang="en-US" altLang="ko-KR" sz="1400" b="1"/>
              <a:t>’ </a:t>
            </a:r>
            <a:r>
              <a:rPr lang="ko-KR" altLang="en-US" sz="1400" b="1"/>
              <a:t>결합</a:t>
            </a:r>
            <a:endParaRPr lang="en-US" altLang="ko-KR" sz="1400" b="1"/>
          </a:p>
          <a:p>
            <a:pPr algn="ctr"/>
            <a:r>
              <a:rPr lang="ko-KR" altLang="en-US" sz="1400" b="1"/>
              <a:t>통합 오염평가 체계 마련</a:t>
            </a:r>
            <a:endParaRPr lang="en-US" altLang="ko-KR" sz="1400" b="1"/>
          </a:p>
        </p:txBody>
      </p:sp>
      <p:pic>
        <p:nvPicPr>
          <p:cNvPr id="80" name="그림 7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425" y="5601583"/>
            <a:ext cx="951175" cy="875081"/>
          </a:xfrm>
          <a:prstGeom prst="rect">
            <a:avLst/>
          </a:prstGeom>
        </p:spPr>
      </p:pic>
      <p:pic>
        <p:nvPicPr>
          <p:cNvPr id="81" name="그림 8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051" y="5599719"/>
            <a:ext cx="765618" cy="8932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4815627" y="6492939"/>
            <a:ext cx="2973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/>
              <a:t>과학적 질소 오염원 기원 평가 기법 마련</a:t>
            </a:r>
            <a:endParaRPr lang="en-US" altLang="ko-KR" sz="1200" b="1"/>
          </a:p>
        </p:txBody>
      </p:sp>
      <p:pic>
        <p:nvPicPr>
          <p:cNvPr id="83" name="그림 8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890" y="4941637"/>
            <a:ext cx="1063841" cy="866271"/>
          </a:xfrm>
          <a:prstGeom prst="rect">
            <a:avLst/>
          </a:prstGeom>
        </p:spPr>
      </p:pic>
      <p:sp>
        <p:nvSpPr>
          <p:cNvPr id="84" name="아래쪽 화살표 83"/>
          <p:cNvSpPr/>
          <p:nvPr/>
        </p:nvSpPr>
        <p:spPr>
          <a:xfrm rot="14902045">
            <a:off x="7952035" y="5292969"/>
            <a:ext cx="246303" cy="5939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아래쪽 화살표 84"/>
          <p:cNvSpPr/>
          <p:nvPr/>
        </p:nvSpPr>
        <p:spPr>
          <a:xfrm rot="17125009">
            <a:off x="7954467" y="5975492"/>
            <a:ext cx="246303" cy="5939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/>
          <p:cNvSpPr txBox="1"/>
          <p:nvPr/>
        </p:nvSpPr>
        <p:spPr>
          <a:xfrm>
            <a:off x="9349504" y="4904277"/>
            <a:ext cx="1522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정책입안자 대상</a:t>
            </a:r>
            <a:endParaRPr lang="en-US" altLang="ko-KR" sz="1400" b="1"/>
          </a:p>
        </p:txBody>
      </p:sp>
      <p:sp>
        <p:nvSpPr>
          <p:cNvPr id="87" name="TextBox 86"/>
          <p:cNvSpPr txBox="1"/>
          <p:nvPr/>
        </p:nvSpPr>
        <p:spPr>
          <a:xfrm>
            <a:off x="9367124" y="5215522"/>
            <a:ext cx="2720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/>
              <a:t>질소 오염 저감 관리 방안 결정 관련 </a:t>
            </a:r>
            <a:endParaRPr lang="en-US" altLang="ko-KR" sz="1200" b="1"/>
          </a:p>
          <a:p>
            <a:r>
              <a:rPr lang="ko-KR" altLang="en-US" sz="1200" b="1"/>
              <a:t>과학적 자료 제공</a:t>
            </a:r>
            <a:endParaRPr lang="en-US" altLang="ko-KR" sz="1200" b="1"/>
          </a:p>
        </p:txBody>
      </p:sp>
      <p:pic>
        <p:nvPicPr>
          <p:cNvPr id="88" name="그림 87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160" y="5864937"/>
            <a:ext cx="768016" cy="829953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9351729" y="5814442"/>
            <a:ext cx="983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정책 제안</a:t>
            </a:r>
            <a:endParaRPr lang="en-US" altLang="ko-KR" sz="1400" b="1"/>
          </a:p>
        </p:txBody>
      </p:sp>
      <p:sp>
        <p:nvSpPr>
          <p:cNvPr id="90" name="TextBox 89"/>
          <p:cNvSpPr txBox="1"/>
          <p:nvPr/>
        </p:nvSpPr>
        <p:spPr>
          <a:xfrm>
            <a:off x="9385633" y="6122219"/>
            <a:ext cx="19960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/>
              <a:t>과학적 자료 및 체계 기반 </a:t>
            </a:r>
            <a:endParaRPr lang="en-US" altLang="ko-KR" sz="1200" b="1"/>
          </a:p>
          <a:p>
            <a:r>
              <a:rPr lang="ko-KR" altLang="en-US" sz="1200" b="1"/>
              <a:t>오염 저감 관리 방안 제시</a:t>
            </a:r>
            <a:endParaRPr lang="en-US" altLang="ko-KR" sz="1200" b="1"/>
          </a:p>
        </p:txBody>
      </p:sp>
    </p:spTree>
    <p:extLst>
      <p:ext uri="{BB962C8B-B14F-4D97-AF65-F5344CB8AC3E}">
        <p14:creationId xmlns:p14="http://schemas.microsoft.com/office/powerpoint/2010/main" val="3017144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5E1364-CEF8-DAB8-7612-2635E6993BD9}"/>
              </a:ext>
            </a:extLst>
          </p:cNvPr>
          <p:cNvSpPr txBox="1"/>
          <p:nvPr/>
        </p:nvSpPr>
        <p:spPr>
          <a:xfrm>
            <a:off x="1152922" y="26883"/>
            <a:ext cx="10036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정성적</a:t>
            </a:r>
            <a:r>
              <a:rPr lang="en-US" altLang="ko-KR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(qualitative),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정량적</a:t>
            </a:r>
            <a:r>
              <a:rPr lang="en-US" altLang="ko-KR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(quantitative)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질소 오염원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215"/>
            <a:ext cx="1215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/>
              <a:t>&lt;</a:t>
            </a:r>
            <a:r>
              <a:rPr lang="ko-KR" altLang="en-US" sz="2000" b="1"/>
              <a:t>붙임</a:t>
            </a:r>
            <a:r>
              <a:rPr lang="en-US" altLang="ko-KR" sz="2000" b="1"/>
              <a:t>1&gt;</a:t>
            </a:r>
            <a:endParaRPr lang="ko-KR" altLang="en-US" sz="2000" b="1"/>
          </a:p>
        </p:txBody>
      </p:sp>
      <p:sp>
        <p:nvSpPr>
          <p:cNvPr id="6" name="모서리가 둥근 직사각형 5"/>
          <p:cNvSpPr/>
          <p:nvPr/>
        </p:nvSpPr>
        <p:spPr>
          <a:xfrm>
            <a:off x="64142" y="659329"/>
            <a:ext cx="6513831" cy="6314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1. </a:t>
            </a:r>
            <a:r>
              <a:rPr lang="ko-KR" altLang="en-US" b="1" dirty="0">
                <a:solidFill>
                  <a:schemeClr val="tx1"/>
                </a:solidFill>
              </a:rPr>
              <a:t>연구지점 모니터링 데이터 입력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 err="1">
                <a:solidFill>
                  <a:schemeClr val="tx1"/>
                </a:solidFill>
              </a:rPr>
              <a:t>특이측정값</a:t>
            </a:r>
            <a:r>
              <a:rPr lang="ko-KR" altLang="en-US" sz="1600" b="1" dirty="0">
                <a:solidFill>
                  <a:schemeClr val="tx1"/>
                </a:solidFill>
              </a:rPr>
              <a:t> 발생 지점 포함</a:t>
            </a:r>
            <a:r>
              <a:rPr lang="en-US" altLang="ko-KR" sz="1600" b="1" dirty="0">
                <a:solidFill>
                  <a:schemeClr val="tx1"/>
                </a:solidFill>
              </a:rPr>
              <a:t>)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131" y="680594"/>
            <a:ext cx="1408734" cy="58056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72" y="682840"/>
            <a:ext cx="1063015" cy="580569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/>
        </p:nvSpPr>
        <p:spPr>
          <a:xfrm>
            <a:off x="65313" y="1501450"/>
            <a:ext cx="7919357" cy="55996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2. </a:t>
            </a:r>
            <a:r>
              <a:rPr lang="ko-KR" altLang="en-US" b="1" dirty="0">
                <a:solidFill>
                  <a:schemeClr val="tx1"/>
                </a:solidFill>
              </a:rPr>
              <a:t>정성적 질소 오염원 평가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8263752" y="1498937"/>
            <a:ext cx="3878035" cy="56792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3. </a:t>
            </a:r>
            <a:r>
              <a:rPr lang="ko-KR" altLang="en-US" b="1" dirty="0">
                <a:solidFill>
                  <a:schemeClr val="tx1"/>
                </a:solidFill>
              </a:rPr>
              <a:t>정량적 질소 오염원 평가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519" y="2173248"/>
            <a:ext cx="2964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2-1. </a:t>
            </a:r>
            <a:r>
              <a:rPr lang="ko-KR" altLang="en-US" sz="1400" b="1" dirty="0"/>
              <a:t>검증된 오염원 영역 기준 활용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32" y="2556421"/>
            <a:ext cx="2000529" cy="17623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7780" y="4382407"/>
            <a:ext cx="169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Kendall plot </a:t>
            </a:r>
            <a:r>
              <a:rPr lang="ko-KR" altLang="en-US" sz="1200" b="1" dirty="0"/>
              <a:t>등 활용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3391" y="2159255"/>
            <a:ext cx="3584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2-2. </a:t>
            </a:r>
            <a:r>
              <a:rPr lang="ko-KR" altLang="en-US" sz="1400" b="1" dirty="0"/>
              <a:t>문헌지식 기반 </a:t>
            </a:r>
            <a:r>
              <a:rPr lang="en-US" altLang="ko-KR" sz="1400" b="1" dirty="0"/>
              <a:t>AI </a:t>
            </a:r>
            <a:r>
              <a:rPr lang="ko-KR" altLang="en-US" sz="1400" b="1" dirty="0"/>
              <a:t>오염원 판별 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2283" y="2466801"/>
            <a:ext cx="35846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입력 모니터링 데이터 </a:t>
            </a:r>
            <a:r>
              <a:rPr lang="ko-KR" altLang="en-US" sz="1200" b="1" dirty="0" err="1"/>
              <a:t>전처리</a:t>
            </a:r>
            <a:r>
              <a:rPr lang="ko-KR" altLang="en-US" sz="1200" b="1" dirty="0"/>
              <a:t> 후 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연구지점 군집화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(PAM, DIANA </a:t>
            </a:r>
            <a:r>
              <a:rPr lang="ko-KR" altLang="en-US" sz="1000" b="1" dirty="0"/>
              <a:t>등 </a:t>
            </a:r>
            <a:r>
              <a:rPr lang="en-US" altLang="ko-KR" sz="1000" b="1" dirty="0"/>
              <a:t>8</a:t>
            </a:r>
            <a:r>
              <a:rPr lang="ko-KR" altLang="en-US" sz="1000" b="1" dirty="0"/>
              <a:t>종 </a:t>
            </a:r>
            <a:r>
              <a:rPr lang="en-US" altLang="ko-KR" sz="1000" b="1" dirty="0"/>
              <a:t>ML/AI </a:t>
            </a:r>
            <a:r>
              <a:rPr lang="ko-KR" altLang="en-US" sz="1000" b="1" dirty="0"/>
              <a:t>경쟁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2301293" y="3266490"/>
            <a:ext cx="361591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국내외 연구문헌 지식 기반 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군집 및 개별지점 기준 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오염원 </a:t>
            </a:r>
            <a:r>
              <a:rPr lang="en-US" altLang="ko-KR" sz="1200" b="1" dirty="0"/>
              <a:t>1</a:t>
            </a:r>
            <a:r>
              <a:rPr lang="ko-KR" altLang="en-US" sz="1200" b="1" dirty="0"/>
              <a:t>차 결정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(Gemini NLP/LLM </a:t>
            </a:r>
            <a:r>
              <a:rPr lang="ko-KR" altLang="en-US" sz="1000" b="1" dirty="0"/>
              <a:t>기반 자료 학습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2952096" y="4200380"/>
            <a:ext cx="298354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ML/AI </a:t>
            </a:r>
            <a:r>
              <a:rPr lang="ko-KR" altLang="en-US" sz="1200" b="1" dirty="0"/>
              <a:t>기반 오염원 판별 임계치 보정 및 패턴분석을 통한 최종 오염원 판별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</a:t>
            </a:r>
            <a:r>
              <a:rPr lang="ko-KR" altLang="en-US" sz="1000" b="1" dirty="0"/>
              <a:t>누락 가능성 높은 핵심 오염 지점 상호보정</a:t>
            </a:r>
            <a:r>
              <a:rPr lang="en-US" altLang="ko-KR" sz="1000" b="1" dirty="0"/>
              <a:t>)</a:t>
            </a:r>
          </a:p>
        </p:txBody>
      </p:sp>
      <p:sp>
        <p:nvSpPr>
          <p:cNvPr id="20" name="아래쪽 화살표 19"/>
          <p:cNvSpPr/>
          <p:nvPr/>
        </p:nvSpPr>
        <p:spPr>
          <a:xfrm>
            <a:off x="4148534" y="3063414"/>
            <a:ext cx="124756" cy="2315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아래쪽 화살표 20"/>
          <p:cNvSpPr/>
          <p:nvPr/>
        </p:nvSpPr>
        <p:spPr>
          <a:xfrm>
            <a:off x="4148534" y="3996163"/>
            <a:ext cx="124756" cy="2315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2230239" y="4884326"/>
            <a:ext cx="3584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2-3. </a:t>
            </a:r>
            <a:r>
              <a:rPr lang="ko-KR" altLang="en-US" sz="1400" b="1" dirty="0"/>
              <a:t>실측자료 기반 </a:t>
            </a:r>
            <a:r>
              <a:rPr lang="en-US" altLang="ko-KR" sz="1400" b="1" dirty="0"/>
              <a:t>AI </a:t>
            </a:r>
            <a:r>
              <a:rPr lang="ko-KR" altLang="en-US" sz="1400" b="1" dirty="0"/>
              <a:t>오염원 판별 시스템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38" y="6040367"/>
            <a:ext cx="307755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입력 모니터링 데이터 및 학습용 실측자료 </a:t>
            </a:r>
            <a:r>
              <a:rPr lang="ko-KR" altLang="en-US" sz="1200" b="1" dirty="0" err="1"/>
              <a:t>전처리</a:t>
            </a:r>
            <a:r>
              <a:rPr lang="ko-KR" altLang="en-US" sz="1200" b="1" dirty="0"/>
              <a:t> 후 </a:t>
            </a:r>
            <a:r>
              <a:rPr lang="en-US" altLang="ko-KR" sz="1200" b="1" dirty="0"/>
              <a:t>Domain </a:t>
            </a:r>
            <a:r>
              <a:rPr lang="ko-KR" altLang="en-US" sz="1200" b="1" dirty="0"/>
              <a:t>규칙 및 </a:t>
            </a:r>
            <a:r>
              <a:rPr lang="en-US" altLang="ko-KR" sz="1200" b="1" dirty="0"/>
              <a:t>AI </a:t>
            </a:r>
            <a:r>
              <a:rPr lang="ko-KR" altLang="en-US" sz="1200" b="1" dirty="0"/>
              <a:t>추론 기반 오염원 범주 </a:t>
            </a:r>
            <a:r>
              <a:rPr lang="ko-KR" altLang="en-US" sz="1200" b="1" dirty="0" err="1"/>
              <a:t>라벨링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(Gemma/Gemini API LLM)</a:t>
            </a:r>
            <a:endParaRPr lang="ko-KR" altLang="en-US" sz="10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3571366" y="6118436"/>
            <a:ext cx="230386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Hybrid Ensemble Model </a:t>
            </a:r>
            <a:r>
              <a:rPr lang="ko-KR" altLang="en-US" sz="1200" b="1" dirty="0"/>
              <a:t>기반 </a:t>
            </a:r>
            <a:r>
              <a:rPr lang="en-US" altLang="ko-KR" sz="1200" b="1" dirty="0"/>
              <a:t>Soft voting </a:t>
            </a:r>
            <a:r>
              <a:rPr lang="ko-KR" altLang="en-US" sz="1200" b="1" dirty="0"/>
              <a:t>앙상블 학습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</a:t>
            </a:r>
            <a:r>
              <a:rPr lang="en-US" altLang="ko-KR" sz="1000" b="1" dirty="0" err="1"/>
              <a:t>XGBoost</a:t>
            </a:r>
            <a:r>
              <a:rPr lang="en-US" altLang="ko-KR" sz="1000" b="1" dirty="0"/>
              <a:t>, MLP </a:t>
            </a:r>
            <a:r>
              <a:rPr lang="ko-KR" altLang="en-US" sz="1000" b="1" dirty="0"/>
              <a:t>등 </a:t>
            </a:r>
            <a:r>
              <a:rPr lang="en-US" altLang="ko-KR" sz="1000" b="1" dirty="0"/>
              <a:t>22</a:t>
            </a:r>
            <a:r>
              <a:rPr lang="ko-KR" altLang="en-US" sz="1000" b="1" dirty="0"/>
              <a:t>종 </a:t>
            </a:r>
            <a:r>
              <a:rPr lang="en-US" altLang="ko-KR" sz="1000" b="1" dirty="0"/>
              <a:t>ML/AI </a:t>
            </a:r>
            <a:r>
              <a:rPr lang="ko-KR" altLang="en-US" sz="1000" b="1" dirty="0"/>
              <a:t>결합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295568" y="6188620"/>
            <a:ext cx="152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각 연구지점 대상 최종 오염원 판별</a:t>
            </a:r>
            <a:endParaRPr lang="en-US" altLang="ko-KR" sz="1200" b="1" dirty="0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425" y="3331280"/>
            <a:ext cx="972088" cy="406510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54" y="5661150"/>
            <a:ext cx="1185155" cy="347242"/>
          </a:xfrm>
          <a:prstGeom prst="rect">
            <a:avLst/>
          </a:prstGeom>
        </p:spPr>
      </p:pic>
      <p:sp>
        <p:nvSpPr>
          <p:cNvPr id="32" name="오른쪽 화살표 31"/>
          <p:cNvSpPr/>
          <p:nvPr/>
        </p:nvSpPr>
        <p:spPr>
          <a:xfrm>
            <a:off x="3062235" y="6274579"/>
            <a:ext cx="356737" cy="13345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오른쪽 화살표 32"/>
          <p:cNvSpPr/>
          <p:nvPr/>
        </p:nvSpPr>
        <p:spPr>
          <a:xfrm>
            <a:off x="5896433" y="6281031"/>
            <a:ext cx="356737" cy="13345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910" y="5259684"/>
            <a:ext cx="1790950" cy="781159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94" y="4952882"/>
            <a:ext cx="925164" cy="658592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641" y="5155327"/>
            <a:ext cx="1177449" cy="1059704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929" y="5241219"/>
            <a:ext cx="1075142" cy="781159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896" y="5212053"/>
            <a:ext cx="1228896" cy="876422"/>
          </a:xfrm>
          <a:prstGeom prst="rect">
            <a:avLst/>
          </a:prstGeom>
        </p:spPr>
      </p:pic>
      <p:sp>
        <p:nvSpPr>
          <p:cNvPr id="40" name="모서리가 둥근 직사각형 39"/>
          <p:cNvSpPr/>
          <p:nvPr/>
        </p:nvSpPr>
        <p:spPr>
          <a:xfrm>
            <a:off x="3673391" y="2176809"/>
            <a:ext cx="3584636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111126" y="2188068"/>
            <a:ext cx="2801945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모서리가 둥근 직사각형 41"/>
          <p:cNvSpPr/>
          <p:nvPr/>
        </p:nvSpPr>
        <p:spPr>
          <a:xfrm>
            <a:off x="2216242" y="4904276"/>
            <a:ext cx="3584636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8380797" y="2177362"/>
            <a:ext cx="36439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3-1. </a:t>
            </a:r>
            <a:r>
              <a:rPr lang="ko-KR" altLang="en-US" sz="1400" b="1" dirty="0"/>
              <a:t>모델 간 교차 검증을 통한 신뢰성 확보</a:t>
            </a:r>
          </a:p>
        </p:txBody>
      </p:sp>
      <p:sp>
        <p:nvSpPr>
          <p:cNvPr id="45" name="모서리가 둥근 직사각형 44"/>
          <p:cNvSpPr/>
          <p:nvPr/>
        </p:nvSpPr>
        <p:spPr>
          <a:xfrm>
            <a:off x="8442213" y="2190405"/>
            <a:ext cx="3477643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8235165" y="3654681"/>
            <a:ext cx="3898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Excel </a:t>
            </a:r>
            <a:r>
              <a:rPr lang="ko-KR" altLang="en-US" sz="1200" b="1" dirty="0"/>
              <a:t>기반의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현장 모델 </a:t>
            </a:r>
            <a:r>
              <a:rPr lang="en-US" altLang="ko-KR" sz="1200" b="1" dirty="0"/>
              <a:t>EMMTE </a:t>
            </a:r>
            <a:r>
              <a:rPr lang="ko-KR" altLang="en-US" sz="1200" b="1" dirty="0"/>
              <a:t>및 </a:t>
            </a:r>
            <a:r>
              <a:rPr lang="en-US" altLang="ko-KR" sz="1200" b="1" dirty="0"/>
              <a:t>R language </a:t>
            </a:r>
            <a:r>
              <a:rPr lang="ko-KR" altLang="en-US" sz="1200" b="1" dirty="0"/>
              <a:t>기반 범용 모델 </a:t>
            </a:r>
            <a:r>
              <a:rPr lang="en-US" altLang="ko-KR" sz="1200" b="1" dirty="0" err="1"/>
              <a:t>MixSIAR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간 교차 검증을 통한 질소 오염원 기여율 산정의 신뢰성 확보</a:t>
            </a:r>
            <a:endParaRPr lang="en-US" altLang="ko-KR" sz="1200" b="1" dirty="0"/>
          </a:p>
        </p:txBody>
      </p:sp>
      <p:sp>
        <p:nvSpPr>
          <p:cNvPr id="54" name="오른쪽 화살표 53"/>
          <p:cNvSpPr/>
          <p:nvPr/>
        </p:nvSpPr>
        <p:spPr>
          <a:xfrm>
            <a:off x="10007611" y="2683488"/>
            <a:ext cx="390318" cy="22239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9044440" y="4382792"/>
            <a:ext cx="2316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3-2. </a:t>
            </a:r>
            <a:r>
              <a:rPr lang="ko-KR" altLang="en-US" sz="1400" b="1" dirty="0"/>
              <a:t>오염원별 기여율 산정</a:t>
            </a:r>
          </a:p>
        </p:txBody>
      </p:sp>
      <p:sp>
        <p:nvSpPr>
          <p:cNvPr id="58" name="모서리가 둥근 직사각형 57"/>
          <p:cNvSpPr/>
          <p:nvPr/>
        </p:nvSpPr>
        <p:spPr>
          <a:xfrm>
            <a:off x="9102926" y="4397945"/>
            <a:ext cx="2173386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502" y="4691112"/>
            <a:ext cx="2057646" cy="204991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336205" y="4664101"/>
            <a:ext cx="17916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err="1"/>
              <a:t>축산계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생활계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농업계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산림계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강우계 등 각 오염원별 기여율 산정 및 평가</a:t>
            </a:r>
            <a:endParaRPr lang="en-US" altLang="ko-KR" sz="1200" b="1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E727F9B-6A3C-C17E-917D-6F2B35593DCC}"/>
              </a:ext>
            </a:extLst>
          </p:cNvPr>
          <p:cNvSpPr/>
          <p:nvPr/>
        </p:nvSpPr>
        <p:spPr>
          <a:xfrm>
            <a:off x="7318070" y="659327"/>
            <a:ext cx="4809788" cy="44116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4. </a:t>
            </a:r>
            <a:r>
              <a:rPr lang="ko-KR" altLang="en-US" b="1" dirty="0">
                <a:solidFill>
                  <a:schemeClr val="tx1"/>
                </a:solidFill>
              </a:rPr>
              <a:t>연구결과 종합 및 오염평가 체계 고도화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734722-863F-7091-FC1A-6CF1F3E9DA6F}"/>
              </a:ext>
            </a:extLst>
          </p:cNvPr>
          <p:cNvSpPr/>
          <p:nvPr/>
        </p:nvSpPr>
        <p:spPr>
          <a:xfrm>
            <a:off x="72103" y="2139375"/>
            <a:ext cx="2879993" cy="269264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7D3A2C5-C434-05A2-4EBB-70530FC6824D}"/>
              </a:ext>
            </a:extLst>
          </p:cNvPr>
          <p:cNvSpPr/>
          <p:nvPr/>
        </p:nvSpPr>
        <p:spPr>
          <a:xfrm>
            <a:off x="3001680" y="2139004"/>
            <a:ext cx="4982990" cy="269358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A450A53-28A9-EAF8-6149-40D79B376622}"/>
              </a:ext>
            </a:extLst>
          </p:cNvPr>
          <p:cNvSpPr/>
          <p:nvPr/>
        </p:nvSpPr>
        <p:spPr>
          <a:xfrm>
            <a:off x="72103" y="4881700"/>
            <a:ext cx="7912567" cy="19117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2B04BBE-FDBF-A261-52DA-0F62A6DF06C1}"/>
              </a:ext>
            </a:extLst>
          </p:cNvPr>
          <p:cNvSpPr/>
          <p:nvPr/>
        </p:nvSpPr>
        <p:spPr>
          <a:xfrm>
            <a:off x="8251380" y="2158798"/>
            <a:ext cx="3876478" cy="213082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F880D74-74D0-E8A7-59F8-A6CAF5CC3A08}"/>
              </a:ext>
            </a:extLst>
          </p:cNvPr>
          <p:cNvSpPr/>
          <p:nvPr/>
        </p:nvSpPr>
        <p:spPr>
          <a:xfrm>
            <a:off x="8251380" y="4342103"/>
            <a:ext cx="3876478" cy="245139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0799FDC7-BAB7-9701-93D8-A079C44674B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137" y="3300005"/>
            <a:ext cx="1751294" cy="616933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E3C1F84C-4B35-1585-FB81-E0AC5C7636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467" y="2481597"/>
            <a:ext cx="1028844" cy="609685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CF268058-9A64-76AE-1222-E06728BAF3B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396" y="4012775"/>
            <a:ext cx="1396798" cy="76878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3D8FB746-EA16-7D16-B4E0-F0764243720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412" y="2485083"/>
            <a:ext cx="1505160" cy="619211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60802F4B-160E-B355-30DE-775E795AE9C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103" y="1545252"/>
            <a:ext cx="466790" cy="495369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4A62318B-6183-9A7C-D7F6-86B95F74BB5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988" y="2531646"/>
            <a:ext cx="1490420" cy="921981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6B591A04-5680-9D52-D76F-D6D2E71A7B9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3101" y="2534250"/>
            <a:ext cx="1543783" cy="921981"/>
          </a:xfrm>
          <a:prstGeom prst="rect">
            <a:avLst/>
          </a:prstGeom>
        </p:spPr>
      </p:pic>
      <p:sp>
        <p:nvSpPr>
          <p:cNvPr id="79" name="오른쪽 화살표 53">
            <a:extLst>
              <a:ext uri="{FF2B5EF4-FFF2-40B4-BE49-F238E27FC236}">
                <a16:creationId xmlns:a16="http://schemas.microsoft.com/office/drawing/2014/main" id="{B8416D5B-036B-828F-500F-860555DE5231}"/>
              </a:ext>
            </a:extLst>
          </p:cNvPr>
          <p:cNvSpPr/>
          <p:nvPr/>
        </p:nvSpPr>
        <p:spPr>
          <a:xfrm rot="10800000">
            <a:off x="10007611" y="2886098"/>
            <a:ext cx="390318" cy="22239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BEDDA51-030C-29F6-FDC8-7C0F6585C952}"/>
              </a:ext>
            </a:extLst>
          </p:cNvPr>
          <p:cNvSpPr txBox="1"/>
          <p:nvPr/>
        </p:nvSpPr>
        <p:spPr>
          <a:xfrm>
            <a:off x="9742920" y="3071791"/>
            <a:ext cx="876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교차 검증</a:t>
            </a:r>
            <a:endParaRPr lang="en-US" altLang="ko-KR" sz="12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5542475-3F3C-F639-45F1-91D8BBACC2DB}"/>
              </a:ext>
            </a:extLst>
          </p:cNvPr>
          <p:cNvSpPr txBox="1"/>
          <p:nvPr/>
        </p:nvSpPr>
        <p:spPr>
          <a:xfrm>
            <a:off x="8442213" y="3400255"/>
            <a:ext cx="13803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EMMTE(Excel)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834AC18-29FA-BDEE-34A0-08ABB24907C9}"/>
              </a:ext>
            </a:extLst>
          </p:cNvPr>
          <p:cNvSpPr txBox="1"/>
          <p:nvPr/>
        </p:nvSpPr>
        <p:spPr>
          <a:xfrm>
            <a:off x="10393653" y="3395998"/>
            <a:ext cx="1786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/>
              <a:t>MixSIAR</a:t>
            </a:r>
            <a:r>
              <a:rPr lang="en-US" altLang="ko-KR" sz="1200" b="1" dirty="0"/>
              <a:t>(R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with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JAGS)</a:t>
            </a:r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3F9C2EA2-3B05-0941-2CFE-C81F4365BD4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233" y="5424270"/>
            <a:ext cx="917651" cy="1328409"/>
          </a:xfrm>
          <a:prstGeom prst="rect">
            <a:avLst/>
          </a:prstGeom>
        </p:spPr>
      </p:pic>
      <p:sp>
        <p:nvSpPr>
          <p:cNvPr id="88" name="화살표: 오른쪽 87">
            <a:extLst>
              <a:ext uri="{FF2B5EF4-FFF2-40B4-BE49-F238E27FC236}">
                <a16:creationId xmlns:a16="http://schemas.microsoft.com/office/drawing/2014/main" id="{1B16CEBB-00EF-DA4A-A20C-ACDAB1A19BA4}"/>
              </a:ext>
            </a:extLst>
          </p:cNvPr>
          <p:cNvSpPr/>
          <p:nvPr/>
        </p:nvSpPr>
        <p:spPr>
          <a:xfrm rot="5400000">
            <a:off x="3304067" y="1342325"/>
            <a:ext cx="341716" cy="1623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화살표: 오른쪽 89">
            <a:extLst>
              <a:ext uri="{FF2B5EF4-FFF2-40B4-BE49-F238E27FC236}">
                <a16:creationId xmlns:a16="http://schemas.microsoft.com/office/drawing/2014/main" id="{B35B0AF8-158F-A215-E8C9-1852BA22D809}"/>
              </a:ext>
            </a:extLst>
          </p:cNvPr>
          <p:cNvSpPr/>
          <p:nvPr/>
        </p:nvSpPr>
        <p:spPr>
          <a:xfrm>
            <a:off x="7953353" y="1711774"/>
            <a:ext cx="341716" cy="1623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화살표: 오른쪽 91">
            <a:extLst>
              <a:ext uri="{FF2B5EF4-FFF2-40B4-BE49-F238E27FC236}">
                <a16:creationId xmlns:a16="http://schemas.microsoft.com/office/drawing/2014/main" id="{ACB529EE-9B1A-2762-B7C1-C0D3EB8A48C3}"/>
              </a:ext>
            </a:extLst>
          </p:cNvPr>
          <p:cNvSpPr/>
          <p:nvPr/>
        </p:nvSpPr>
        <p:spPr>
          <a:xfrm rot="16200000">
            <a:off x="9591111" y="1203847"/>
            <a:ext cx="559962" cy="1623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화살표: 오른쪽 93">
            <a:extLst>
              <a:ext uri="{FF2B5EF4-FFF2-40B4-BE49-F238E27FC236}">
                <a16:creationId xmlns:a16="http://schemas.microsoft.com/office/drawing/2014/main" id="{DCA2782F-2668-6498-322B-8A921B16B8E4}"/>
              </a:ext>
            </a:extLst>
          </p:cNvPr>
          <p:cNvSpPr/>
          <p:nvPr/>
        </p:nvSpPr>
        <p:spPr>
          <a:xfrm rot="10800000">
            <a:off x="6689678" y="931453"/>
            <a:ext cx="559962" cy="1623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623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1080</TotalTime>
  <Words>449</Words>
  <Application>Microsoft Office PowerPoint</Application>
  <PresentationFormat>와이드스크린</PresentationFormat>
  <Paragraphs>69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고양덕양 B</vt:lpstr>
      <vt:lpstr>나눔바른고딕</vt:lpstr>
      <vt:lpstr>맑은 고딕</vt:lpstr>
      <vt:lpstr>Arial</vt:lpstr>
      <vt:lpstr>Gill Sans MT</vt:lpstr>
      <vt:lpstr>Times New Roman</vt:lpstr>
      <vt:lpstr>Wingdings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Nier</dc:creator>
  <cp:lastModifiedBy>User</cp:lastModifiedBy>
  <cp:revision>107</cp:revision>
  <dcterms:created xsi:type="dcterms:W3CDTF">2026-07-28T04:37:35Z</dcterms:created>
  <dcterms:modified xsi:type="dcterms:W3CDTF">2026-07-30T12:18:24Z</dcterms:modified>
</cp:coreProperties>
</file>