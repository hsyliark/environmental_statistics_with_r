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1" r:id="rId2"/>
    <p:sldId id="262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6641" autoAdjust="0"/>
  </p:normalViewPr>
  <p:slideViewPr>
    <p:cSldViewPr snapToGrid="0">
      <p:cViewPr varScale="1">
        <p:scale>
          <a:sx n="106" d="100"/>
          <a:sy n="106" d="100"/>
        </p:scale>
        <p:origin x="756" y="1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01511-0405-4F3C-9CC7-59D2DC217B9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5D940-19D0-49D9-BB22-39878D7205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30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106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729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44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654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535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469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949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330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505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72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38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0583" y="6237696"/>
            <a:ext cx="2743200" cy="365125"/>
          </a:xfrm>
          <a:prstGeom prst="rect">
            <a:avLst/>
          </a:prstGeom>
        </p:spPr>
        <p:txBody>
          <a:bodyPr/>
          <a:lstStyle/>
          <a:p>
            <a:fld id="{CF861DB1-7CD0-4EAD-ACA9-006A4A6740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 hasCustomPrompt="1"/>
          </p:nvPr>
        </p:nvSpPr>
        <p:spPr>
          <a:xfrm>
            <a:off x="519113" y="1400175"/>
            <a:ext cx="11161712" cy="4687888"/>
          </a:xfrm>
          <a:prstGeom prst="rect">
            <a:avLst/>
          </a:prstGeom>
        </p:spPr>
        <p:txBody>
          <a:bodyPr/>
          <a:lstStyle>
            <a:lvl1pPr marL="228600" indent="-228600">
              <a:buClrTx/>
              <a:buFont typeface="Wingdings" panose="05000000000000000000" pitchFamily="2" charset="2"/>
              <a:buChar char="l"/>
              <a:defRPr>
                <a:latin typeface="고양덕양 B" pitchFamily="2" charset="-127"/>
                <a:ea typeface="고양덕양 B" pitchFamily="2" charset="-127"/>
              </a:defRPr>
            </a:lvl1pPr>
            <a:lvl2pPr marL="685800" indent="-228600">
              <a:buFont typeface="Gill Sans MT" panose="020B0502020104020203" pitchFamily="34" charset="0"/>
              <a:buChar char="–"/>
              <a:defRPr>
                <a:latin typeface="고양덕양 B" pitchFamily="2" charset="-127"/>
                <a:ea typeface="고양덕양 B" pitchFamily="2" charset="-127"/>
              </a:defRPr>
            </a:lvl2pPr>
            <a:lvl3pPr>
              <a:defRPr>
                <a:latin typeface="고양덕양 B" pitchFamily="2" charset="-127"/>
                <a:ea typeface="고양덕양 B" pitchFamily="2" charset="-127"/>
              </a:defRPr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7583B1C-0A43-4C46-B983-505CCAE49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duotone>
              <a:prstClr val="black"/>
              <a:srgbClr val="9BBB59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t="1569" b="49216"/>
          <a:stretch/>
        </p:blipFill>
        <p:spPr>
          <a:xfrm>
            <a:off x="1" y="0"/>
            <a:ext cx="12191999" cy="600331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338B28A-97DF-C745-8816-C1FDE713462C}"/>
              </a:ext>
            </a:extLst>
          </p:cNvPr>
          <p:cNvSpPr/>
          <p:nvPr userDrawn="1"/>
        </p:nvSpPr>
        <p:spPr>
          <a:xfrm>
            <a:off x="0" y="600331"/>
            <a:ext cx="12192000" cy="457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제목 1"/>
          <p:cNvSpPr>
            <a:spLocks noGrp="1"/>
          </p:cNvSpPr>
          <p:nvPr>
            <p:ph type="title"/>
          </p:nvPr>
        </p:nvSpPr>
        <p:spPr>
          <a:xfrm>
            <a:off x="1100832" y="76524"/>
            <a:ext cx="9994557" cy="676867"/>
          </a:xfrm>
          <a:prstGeom prst="rect">
            <a:avLst/>
          </a:prstGeom>
        </p:spPr>
        <p:txBody>
          <a:bodyPr/>
          <a:lstStyle>
            <a:lvl1pPr>
              <a:defRPr sz="3000" baseline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425ABE7-A16A-824D-B06C-CEFB4D1FA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20087675">
            <a:off x="269928" y="26353"/>
            <a:ext cx="693503" cy="78116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24" name="그룹 23"/>
          <p:cNvGrpSpPr>
            <a:grpSpLocks noChangeAspect="1"/>
          </p:cNvGrpSpPr>
          <p:nvPr userDrawn="1"/>
        </p:nvGrpSpPr>
        <p:grpSpPr>
          <a:xfrm>
            <a:off x="9745900" y="24691"/>
            <a:ext cx="2460615" cy="521919"/>
            <a:chOff x="2261630" y="1618848"/>
            <a:chExt cx="2964595" cy="628818"/>
          </a:xfrm>
        </p:grpSpPr>
        <p:pic>
          <p:nvPicPr>
            <p:cNvPr id="25" name="Picture 45">
              <a:extLst>
                <a:ext uri="{FF2B5EF4-FFF2-40B4-BE49-F238E27FC236}">
                  <a16:creationId xmlns:a16="http://schemas.microsoft.com/office/drawing/2014/main" id="{37AF8506-181C-B54B-8F3B-DF4C2B31D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61630" y="1707006"/>
              <a:ext cx="2821871" cy="54066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4355977" y="1618848"/>
              <a:ext cx="870248" cy="333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i="1" baseline="0" dirty="0">
                  <a:solidFill>
                    <a:srgbClr val="4472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+Pride </a:t>
              </a:r>
              <a:endParaRPr lang="ko-KR" altLang="en-US" sz="1200" b="1" i="1" baseline="0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0758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71160-8C05-4B15-8E89-7C1E92CC246B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08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B06D27-EE42-AFDF-ED4A-D7AF291FE5B1}"/>
              </a:ext>
            </a:extLst>
          </p:cNvPr>
          <p:cNvSpPr txBox="1"/>
          <p:nvPr/>
        </p:nvSpPr>
        <p:spPr>
          <a:xfrm>
            <a:off x="-70314" y="26884"/>
            <a:ext cx="1105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안정동위원소 결합 오염평가 체계 고도화를 위한 국가 수질측정망 적용 연구</a:t>
            </a:r>
          </a:p>
        </p:txBody>
      </p:sp>
      <p:sp>
        <p:nvSpPr>
          <p:cNvPr id="7" name="모서리가 둥근 직사각형 4">
            <a:extLst>
              <a:ext uri="{FF2B5EF4-FFF2-40B4-BE49-F238E27FC236}">
                <a16:creationId xmlns:a16="http://schemas.microsoft.com/office/drawing/2014/main" id="{25AA0834-9862-7E81-DEB9-8131FFE1A7D7}"/>
              </a:ext>
            </a:extLst>
          </p:cNvPr>
          <p:cNvSpPr/>
          <p:nvPr/>
        </p:nvSpPr>
        <p:spPr>
          <a:xfrm>
            <a:off x="168442" y="826723"/>
            <a:ext cx="5372736" cy="163014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5">
            <a:extLst>
              <a:ext uri="{FF2B5EF4-FFF2-40B4-BE49-F238E27FC236}">
                <a16:creationId xmlns:a16="http://schemas.microsoft.com/office/drawing/2014/main" id="{F864FCD2-9023-7F68-C269-CE868DCBF9A9}"/>
              </a:ext>
            </a:extLst>
          </p:cNvPr>
          <p:cNvSpPr/>
          <p:nvPr/>
        </p:nvSpPr>
        <p:spPr>
          <a:xfrm>
            <a:off x="502092" y="665052"/>
            <a:ext cx="1688847" cy="33932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연구의 필요성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FAEBDA-8B1E-AE0B-83F9-EA6363290E25}"/>
              </a:ext>
            </a:extLst>
          </p:cNvPr>
          <p:cNvSpPr txBox="1"/>
          <p:nvPr/>
        </p:nvSpPr>
        <p:spPr>
          <a:xfrm>
            <a:off x="389175" y="1030050"/>
            <a:ext cx="5024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기후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토지이용 변화에 따른 비점오염원 특성 복잡화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6F6360-BDD5-E6BF-56EB-B19EE08049DD}"/>
              </a:ext>
            </a:extLst>
          </p:cNvPr>
          <p:cNvSpPr txBox="1"/>
          <p:nvPr/>
        </p:nvSpPr>
        <p:spPr>
          <a:xfrm>
            <a:off x="1314006" y="1368604"/>
            <a:ext cx="3853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기존 농도 중심 평가</a:t>
            </a:r>
            <a:r>
              <a:rPr lang="en-US" altLang="ko-KR" sz="1400" b="1" dirty="0"/>
              <a:t>: </a:t>
            </a:r>
          </a:p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정밀한 </a:t>
            </a:r>
            <a:r>
              <a:rPr lang="ko-KR" altLang="en-US" sz="1400" b="1" dirty="0"/>
              <a:t>오염원 기원 및 기여도 규명에 한계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DC9680-DEE1-00B5-3759-FF46599A9960}"/>
              </a:ext>
            </a:extLst>
          </p:cNvPr>
          <p:cNvSpPr txBox="1"/>
          <p:nvPr/>
        </p:nvSpPr>
        <p:spPr>
          <a:xfrm>
            <a:off x="1314006" y="1897088"/>
            <a:ext cx="3252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질소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담수 부영양화 </a:t>
            </a:r>
            <a:r>
              <a:rPr lang="en-US" altLang="ko-KR" sz="1400" b="1" dirty="0"/>
              <a:t>&amp; </a:t>
            </a:r>
            <a:r>
              <a:rPr lang="ko-KR" altLang="en-US" sz="1400" b="1" dirty="0"/>
              <a:t>조류 발생</a:t>
            </a:r>
            <a:r>
              <a:rPr lang="en-US" altLang="ko-KR" sz="1400" b="1" dirty="0"/>
              <a:t>): </a:t>
            </a:r>
          </a:p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sz="1400" b="1" dirty="0"/>
              <a:t>관련 오염원 정량적 평가 체계 미흡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0C0A3E71-0CC1-B740-A131-D315E5D0A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08" y="1451538"/>
            <a:ext cx="792364" cy="39827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28DC3D1E-D6E5-B1A4-8375-6E3B9068CF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17" y="1968666"/>
            <a:ext cx="790419" cy="369355"/>
          </a:xfrm>
          <a:prstGeom prst="rect">
            <a:avLst/>
          </a:prstGeom>
        </p:spPr>
      </p:pic>
      <p:sp>
        <p:nvSpPr>
          <p:cNvPr id="35" name="모서리가 둥근 직사각형 4">
            <a:extLst>
              <a:ext uri="{FF2B5EF4-FFF2-40B4-BE49-F238E27FC236}">
                <a16:creationId xmlns:a16="http://schemas.microsoft.com/office/drawing/2014/main" id="{F1E17719-543D-3C6F-41B0-AB78F3EB2A3E}"/>
              </a:ext>
            </a:extLst>
          </p:cNvPr>
          <p:cNvSpPr/>
          <p:nvPr/>
        </p:nvSpPr>
        <p:spPr>
          <a:xfrm>
            <a:off x="7052650" y="834155"/>
            <a:ext cx="4970908" cy="1630149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5">
            <a:extLst>
              <a:ext uri="{FF2B5EF4-FFF2-40B4-BE49-F238E27FC236}">
                <a16:creationId xmlns:a16="http://schemas.microsoft.com/office/drawing/2014/main" id="{23BF809B-DC08-16F8-74F5-282CBED89979}"/>
              </a:ext>
            </a:extLst>
          </p:cNvPr>
          <p:cNvSpPr/>
          <p:nvPr/>
        </p:nvSpPr>
        <p:spPr>
          <a:xfrm>
            <a:off x="7379901" y="665052"/>
            <a:ext cx="3012162" cy="339324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1. </a:t>
            </a:r>
            <a:r>
              <a:rPr lang="ko-KR" altLang="en-US" b="1" dirty="0"/>
              <a:t>오염원 라이브러리 구축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1F753A-06EC-7093-6C43-B0ABCC3B076B}"/>
              </a:ext>
            </a:extLst>
          </p:cNvPr>
          <p:cNvSpPr txBox="1"/>
          <p:nvPr/>
        </p:nvSpPr>
        <p:spPr>
          <a:xfrm>
            <a:off x="8073949" y="1941084"/>
            <a:ext cx="3260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오염원별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토양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화학비료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하수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분뇨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강우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 </a:t>
            </a:r>
            <a:r>
              <a:rPr lang="ko-KR" altLang="en-US" sz="1400" b="1" dirty="0"/>
              <a:t>질산염 안정동위원소비 대푯값 결정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003EC041-3F91-B259-6003-95761C35AB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503" y="1134622"/>
            <a:ext cx="1133633" cy="695422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A06865EB-F7FF-405B-3C13-1BFEDB2306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427" y="1110806"/>
            <a:ext cx="600159" cy="743054"/>
          </a:xfrm>
          <a:prstGeom prst="rect">
            <a:avLst/>
          </a:prstGeom>
        </p:spPr>
      </p:pic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F6857483-4552-6B9F-6011-8D6B340B40E1}"/>
              </a:ext>
            </a:extLst>
          </p:cNvPr>
          <p:cNvSpPr/>
          <p:nvPr/>
        </p:nvSpPr>
        <p:spPr>
          <a:xfrm>
            <a:off x="5445194" y="1185272"/>
            <a:ext cx="1865315" cy="259567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모서리가 둥근 직사각형 4">
            <a:extLst>
              <a:ext uri="{FF2B5EF4-FFF2-40B4-BE49-F238E27FC236}">
                <a16:creationId xmlns:a16="http://schemas.microsoft.com/office/drawing/2014/main" id="{2CB2CAE5-99DE-01C1-F67D-D13292A2CADE}"/>
              </a:ext>
            </a:extLst>
          </p:cNvPr>
          <p:cNvSpPr/>
          <p:nvPr/>
        </p:nvSpPr>
        <p:spPr>
          <a:xfrm>
            <a:off x="168443" y="2789506"/>
            <a:ext cx="3776804" cy="3828577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모서리가 둥근 직사각형 5">
            <a:extLst>
              <a:ext uri="{FF2B5EF4-FFF2-40B4-BE49-F238E27FC236}">
                <a16:creationId xmlns:a16="http://schemas.microsoft.com/office/drawing/2014/main" id="{1EB431DC-147A-5847-B854-7FDEAA75BF45}"/>
              </a:ext>
            </a:extLst>
          </p:cNvPr>
          <p:cNvSpPr/>
          <p:nvPr/>
        </p:nvSpPr>
        <p:spPr>
          <a:xfrm>
            <a:off x="502092" y="2681001"/>
            <a:ext cx="3012162" cy="339324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2. </a:t>
            </a:r>
            <a:r>
              <a:rPr lang="ko-KR" altLang="en-US" b="1" dirty="0"/>
              <a:t>시료 </a:t>
            </a:r>
            <a:r>
              <a:rPr lang="ko-KR" altLang="en-US" b="1" dirty="0" err="1"/>
              <a:t>채수</a:t>
            </a:r>
            <a:r>
              <a:rPr lang="ko-KR" altLang="en-US" b="1" dirty="0"/>
              <a:t> 및 분석</a:t>
            </a:r>
          </a:p>
        </p:txBody>
      </p: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7F4C5A18-7EDE-F538-B2AD-95CA39A29260}"/>
              </a:ext>
            </a:extLst>
          </p:cNvPr>
          <p:cNvSpPr/>
          <p:nvPr/>
        </p:nvSpPr>
        <p:spPr>
          <a:xfrm rot="9662770">
            <a:off x="3560026" y="2204517"/>
            <a:ext cx="3785006" cy="259567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A85CE2-2AE7-B4AB-6BA2-035F64519A1A}"/>
              </a:ext>
            </a:extLst>
          </p:cNvPr>
          <p:cNvSpPr txBox="1"/>
          <p:nvPr/>
        </p:nvSpPr>
        <p:spPr>
          <a:xfrm>
            <a:off x="2104176" y="3497877"/>
            <a:ext cx="19335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- </a:t>
            </a:r>
            <a:r>
              <a:rPr lang="ko-KR" altLang="en-US" sz="1400" b="1" dirty="0"/>
              <a:t>오염원 주변 지류 및 본류의 혼합지점에서 시료 </a:t>
            </a:r>
            <a:r>
              <a:rPr lang="ko-KR" altLang="en-US" sz="1400" b="1" dirty="0" err="1"/>
              <a:t>채수</a:t>
            </a:r>
            <a:r>
              <a:rPr lang="ko-KR" altLang="en-US" sz="1400" b="1" dirty="0"/>
              <a:t> 및 안정동위원소비 분석</a:t>
            </a:r>
            <a:endParaRPr lang="en-US" altLang="ko-KR" sz="14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5693247-B7C5-F725-A64F-9ADCB75E9C95}"/>
              </a:ext>
            </a:extLst>
          </p:cNvPr>
          <p:cNvSpPr txBox="1"/>
          <p:nvPr/>
        </p:nvSpPr>
        <p:spPr>
          <a:xfrm>
            <a:off x="2097944" y="4784618"/>
            <a:ext cx="18473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- </a:t>
            </a:r>
            <a:r>
              <a:rPr lang="ko-KR" altLang="en-US" sz="1400" b="1" dirty="0"/>
              <a:t>국가 수질측정망 지점의 수질 및 안정동위원소비 </a:t>
            </a:r>
            <a:r>
              <a:rPr lang="ko-KR" altLang="en-US" sz="1400" b="1" dirty="0" err="1"/>
              <a:t>고빈도</a:t>
            </a:r>
            <a:r>
              <a:rPr lang="ko-KR" altLang="en-US" sz="1400" b="1" dirty="0"/>
              <a:t> 모니터링</a:t>
            </a:r>
            <a:r>
              <a:rPr lang="en-US" altLang="ko-KR" sz="1200" b="1" dirty="0"/>
              <a:t>(1</a:t>
            </a:r>
            <a:r>
              <a:rPr lang="ko-KR" altLang="en-US" sz="1200" b="1" dirty="0"/>
              <a:t>회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주</a:t>
            </a:r>
            <a:r>
              <a:rPr lang="en-US" altLang="ko-KR" sz="1200" b="1" dirty="0"/>
              <a:t>)</a:t>
            </a:r>
          </a:p>
        </p:txBody>
      </p:sp>
      <p:sp>
        <p:nvSpPr>
          <p:cNvPr id="68" name="모서리가 둥근 직사각형 4">
            <a:extLst>
              <a:ext uri="{FF2B5EF4-FFF2-40B4-BE49-F238E27FC236}">
                <a16:creationId xmlns:a16="http://schemas.microsoft.com/office/drawing/2014/main" id="{0020A303-81E3-D843-F7E5-1AD50A65C7D9}"/>
              </a:ext>
            </a:extLst>
          </p:cNvPr>
          <p:cNvSpPr/>
          <p:nvPr/>
        </p:nvSpPr>
        <p:spPr>
          <a:xfrm>
            <a:off x="4370088" y="2845617"/>
            <a:ext cx="3776804" cy="3772466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모서리가 둥근 직사각형 5">
            <a:extLst>
              <a:ext uri="{FF2B5EF4-FFF2-40B4-BE49-F238E27FC236}">
                <a16:creationId xmlns:a16="http://schemas.microsoft.com/office/drawing/2014/main" id="{C4491E74-0B7C-E52F-A5B6-6D164479FDCE}"/>
              </a:ext>
            </a:extLst>
          </p:cNvPr>
          <p:cNvSpPr/>
          <p:nvPr/>
        </p:nvSpPr>
        <p:spPr>
          <a:xfrm>
            <a:off x="4606886" y="2731703"/>
            <a:ext cx="3260045" cy="339324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3. </a:t>
            </a:r>
            <a:r>
              <a:rPr lang="ko-KR" altLang="en-US" b="1" dirty="0"/>
              <a:t>신속한 원인진단</a:t>
            </a:r>
            <a:r>
              <a:rPr lang="en-US" altLang="ko-KR" b="1" dirty="0"/>
              <a:t>(</a:t>
            </a:r>
            <a:r>
              <a:rPr lang="ko-KR" altLang="en-US" b="1" dirty="0"/>
              <a:t>정성적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386E9E0-13BD-5726-0A41-088EDEE425CB}"/>
              </a:ext>
            </a:extLst>
          </p:cNvPr>
          <p:cNvSpPr txBox="1"/>
          <p:nvPr/>
        </p:nvSpPr>
        <p:spPr>
          <a:xfrm>
            <a:off x="4507083" y="5336717"/>
            <a:ext cx="34596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- </a:t>
            </a:r>
            <a:r>
              <a:rPr lang="ko-KR" altLang="en-US" sz="1400" b="1" dirty="0"/>
              <a:t>지점별 실측 안정동위원소비를 오염원 라이브러리 이중 플롯에 적용하여 신속한 오염원인 진단</a:t>
            </a:r>
            <a:endParaRPr lang="en-US" altLang="ko-KR" sz="1200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C88501D-9A39-3325-0D85-EE24A34C98CD}"/>
              </a:ext>
            </a:extLst>
          </p:cNvPr>
          <p:cNvSpPr txBox="1"/>
          <p:nvPr/>
        </p:nvSpPr>
        <p:spPr>
          <a:xfrm>
            <a:off x="4500137" y="6013775"/>
            <a:ext cx="36226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- Kendall plot </a:t>
            </a:r>
            <a:r>
              <a:rPr lang="ko-KR" altLang="en-US" sz="1400" b="1" dirty="0"/>
              <a:t>등 활용 시 오염원 중첩문제 해결을 위해 </a:t>
            </a:r>
            <a:r>
              <a:rPr lang="en-US" altLang="ko-KR" sz="1400" b="1" dirty="0"/>
              <a:t>AI </a:t>
            </a:r>
            <a:r>
              <a:rPr lang="ko-KR" altLang="en-US" sz="1400" b="1" dirty="0"/>
              <a:t>기법 도입</a:t>
            </a:r>
            <a:endParaRPr lang="en-US" altLang="ko-KR" sz="1200" b="1" dirty="0"/>
          </a:p>
        </p:txBody>
      </p:sp>
      <p:sp>
        <p:nvSpPr>
          <p:cNvPr id="76" name="모서리가 둥근 직사각형 4">
            <a:extLst>
              <a:ext uri="{FF2B5EF4-FFF2-40B4-BE49-F238E27FC236}">
                <a16:creationId xmlns:a16="http://schemas.microsoft.com/office/drawing/2014/main" id="{3E6AF02E-029E-2835-F346-2D50C44F6C7D}"/>
              </a:ext>
            </a:extLst>
          </p:cNvPr>
          <p:cNvSpPr/>
          <p:nvPr/>
        </p:nvSpPr>
        <p:spPr>
          <a:xfrm>
            <a:off x="8262274" y="2789505"/>
            <a:ext cx="3776804" cy="3828578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모서리가 둥근 직사각형 5">
            <a:extLst>
              <a:ext uri="{FF2B5EF4-FFF2-40B4-BE49-F238E27FC236}">
                <a16:creationId xmlns:a16="http://schemas.microsoft.com/office/drawing/2014/main" id="{F030EA8D-F9F2-A75B-1779-7D9EF39CBFDD}"/>
              </a:ext>
            </a:extLst>
          </p:cNvPr>
          <p:cNvSpPr/>
          <p:nvPr/>
        </p:nvSpPr>
        <p:spPr>
          <a:xfrm>
            <a:off x="8480541" y="2731703"/>
            <a:ext cx="3260045" cy="339324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4. </a:t>
            </a:r>
            <a:r>
              <a:rPr lang="ko-KR" altLang="en-US" b="1" dirty="0"/>
              <a:t>오염원 기여율 산정</a:t>
            </a:r>
            <a:r>
              <a:rPr lang="en-US" altLang="ko-KR" b="1" dirty="0"/>
              <a:t>(</a:t>
            </a:r>
            <a:r>
              <a:rPr lang="ko-KR" altLang="en-US" b="1" dirty="0"/>
              <a:t>정량적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4D4E969-52AC-926A-D990-33D7517C059D}"/>
              </a:ext>
            </a:extLst>
          </p:cNvPr>
          <p:cNvSpPr txBox="1"/>
          <p:nvPr/>
        </p:nvSpPr>
        <p:spPr>
          <a:xfrm>
            <a:off x="8479266" y="5629931"/>
            <a:ext cx="3658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지점별 실측 안정동위원소비와 오염원별</a:t>
            </a:r>
            <a:r>
              <a:rPr lang="en-US" altLang="ko-KR" sz="1400" b="1" dirty="0"/>
              <a:t> 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토양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화학비료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하수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분뇨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강우</a:t>
            </a:r>
            <a:r>
              <a:rPr lang="en-US" altLang="ko-KR" sz="1200" b="1" dirty="0"/>
              <a:t>) </a:t>
            </a:r>
            <a:r>
              <a:rPr lang="ko-KR" altLang="en-US" sz="1400" b="1" dirty="0"/>
              <a:t>대푯값 적용 후 기여율 산정</a:t>
            </a:r>
            <a:endParaRPr lang="en-US" altLang="ko-KR" sz="1200" b="1" dirty="0"/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029B512C-3A18-E130-F438-FBE5F30222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2" y="3120953"/>
            <a:ext cx="1728571" cy="3182649"/>
          </a:xfrm>
          <a:prstGeom prst="rect">
            <a:avLst/>
          </a:prstGeom>
        </p:spPr>
      </p:pic>
      <p:pic>
        <p:nvPicPr>
          <p:cNvPr id="84" name="그림 83">
            <a:extLst>
              <a:ext uri="{FF2B5EF4-FFF2-40B4-BE49-F238E27FC236}">
                <a16:creationId xmlns:a16="http://schemas.microsoft.com/office/drawing/2014/main" id="{C601FBAF-6B4E-4CD2-5292-1F6683B26A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244" y="3437185"/>
            <a:ext cx="1485820" cy="2029599"/>
          </a:xfrm>
          <a:prstGeom prst="rect">
            <a:avLst/>
          </a:prstGeom>
        </p:spPr>
      </p:pic>
      <p:sp>
        <p:nvSpPr>
          <p:cNvPr id="85" name="화살표: 오른쪽 84">
            <a:extLst>
              <a:ext uri="{FF2B5EF4-FFF2-40B4-BE49-F238E27FC236}">
                <a16:creationId xmlns:a16="http://schemas.microsoft.com/office/drawing/2014/main" id="{27F10F5F-61C6-8908-44B4-C13D90EDDAFE}"/>
              </a:ext>
            </a:extLst>
          </p:cNvPr>
          <p:cNvSpPr/>
          <p:nvPr/>
        </p:nvSpPr>
        <p:spPr>
          <a:xfrm>
            <a:off x="9899644" y="4146209"/>
            <a:ext cx="523786" cy="523220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2A914159-4CF3-DC9A-6415-EA460340EF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276" y="3698774"/>
            <a:ext cx="1605956" cy="1605956"/>
          </a:xfrm>
          <a:prstGeom prst="rect">
            <a:avLst/>
          </a:prstGeom>
        </p:spPr>
      </p:pic>
      <p:pic>
        <p:nvPicPr>
          <p:cNvPr id="89" name="그림 88">
            <a:extLst>
              <a:ext uri="{FF2B5EF4-FFF2-40B4-BE49-F238E27FC236}">
                <a16:creationId xmlns:a16="http://schemas.microsoft.com/office/drawing/2014/main" id="{B175C92C-2333-575F-D9F2-F959D2B4B4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1100" y="3194641"/>
            <a:ext cx="3032866" cy="2151730"/>
          </a:xfrm>
          <a:prstGeom prst="rect">
            <a:avLst/>
          </a:prstGeom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C0399E85-BEDC-C899-C138-D2126B9263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1981" y="1105704"/>
            <a:ext cx="2146600" cy="743054"/>
          </a:xfrm>
          <a:prstGeom prst="rect">
            <a:avLst/>
          </a:prstGeom>
        </p:spPr>
      </p:pic>
      <p:sp>
        <p:nvSpPr>
          <p:cNvPr id="93" name="화살표: 오른쪽 92">
            <a:extLst>
              <a:ext uri="{FF2B5EF4-FFF2-40B4-BE49-F238E27FC236}">
                <a16:creationId xmlns:a16="http://schemas.microsoft.com/office/drawing/2014/main" id="{71628C38-E3D4-7AD6-833B-14185F69F662}"/>
              </a:ext>
            </a:extLst>
          </p:cNvPr>
          <p:cNvSpPr/>
          <p:nvPr/>
        </p:nvSpPr>
        <p:spPr>
          <a:xfrm rot="3585785">
            <a:off x="7637576" y="2716270"/>
            <a:ext cx="1158683" cy="259567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화살표: 오른쪽 94">
            <a:extLst>
              <a:ext uri="{FF2B5EF4-FFF2-40B4-BE49-F238E27FC236}">
                <a16:creationId xmlns:a16="http://schemas.microsoft.com/office/drawing/2014/main" id="{0301381D-82F0-AA17-2BA2-E2029D0A4281}"/>
              </a:ext>
            </a:extLst>
          </p:cNvPr>
          <p:cNvSpPr/>
          <p:nvPr/>
        </p:nvSpPr>
        <p:spPr>
          <a:xfrm rot="7626787">
            <a:off x="6862672" y="2214499"/>
            <a:ext cx="790684" cy="259567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348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50A9BA3B-6EBD-53FC-ABDE-06817651DF62}"/>
              </a:ext>
            </a:extLst>
          </p:cNvPr>
          <p:cNvSpPr/>
          <p:nvPr/>
        </p:nvSpPr>
        <p:spPr>
          <a:xfrm>
            <a:off x="2914201" y="5024791"/>
            <a:ext cx="4174661" cy="155600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5BB12185-2F07-5DFE-071E-0FA3F5447BB1}"/>
              </a:ext>
            </a:extLst>
          </p:cNvPr>
          <p:cNvSpPr/>
          <p:nvPr/>
        </p:nvSpPr>
        <p:spPr>
          <a:xfrm>
            <a:off x="155491" y="3379094"/>
            <a:ext cx="2696099" cy="232705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6FE3DDC-BB0C-77F3-9611-8252997D2072}"/>
              </a:ext>
            </a:extLst>
          </p:cNvPr>
          <p:cNvSpPr/>
          <p:nvPr/>
        </p:nvSpPr>
        <p:spPr>
          <a:xfrm>
            <a:off x="3446428" y="1455482"/>
            <a:ext cx="2630186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5627E-3ECE-72D7-59FF-EF5A1D5F29E6}"/>
              </a:ext>
            </a:extLst>
          </p:cNvPr>
          <p:cNvSpPr txBox="1"/>
          <p:nvPr/>
        </p:nvSpPr>
        <p:spPr>
          <a:xfrm>
            <a:off x="0" y="119215"/>
            <a:ext cx="1215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&lt;</a:t>
            </a:r>
            <a:r>
              <a:rPr lang="ko-KR" altLang="en-US" sz="2000" b="1" dirty="0"/>
              <a:t>붙임</a:t>
            </a:r>
            <a:r>
              <a:rPr lang="en-US" altLang="ko-KR" sz="2000" b="1" dirty="0"/>
              <a:t>1&gt;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7F8725-D258-94B6-B37A-50BF2507BD9E}"/>
              </a:ext>
            </a:extLst>
          </p:cNvPr>
          <p:cNvSpPr txBox="1"/>
          <p:nvPr/>
        </p:nvSpPr>
        <p:spPr>
          <a:xfrm>
            <a:off x="1005744" y="26788"/>
            <a:ext cx="1105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오염원 라이브러리 구축</a:t>
            </a:r>
            <a:r>
              <a:rPr lang="en-US" altLang="ko-KR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참고자료</a:t>
            </a:r>
            <a:r>
              <a:rPr lang="en-US" altLang="ko-KR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기술 검토용 세부 프로세스</a:t>
            </a:r>
            <a:r>
              <a:rPr lang="en-US" altLang="ko-KR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endParaRPr lang="ko-KR" altLang="en-US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34E2B27-E429-49FF-1250-3B11280F3E79}"/>
              </a:ext>
            </a:extLst>
          </p:cNvPr>
          <p:cNvSpPr/>
          <p:nvPr/>
        </p:nvSpPr>
        <p:spPr>
          <a:xfrm>
            <a:off x="95808" y="850782"/>
            <a:ext cx="2778487" cy="232705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ABC294-CDB9-17AC-61DA-7123C8195542}"/>
              </a:ext>
            </a:extLst>
          </p:cNvPr>
          <p:cNvSpPr txBox="1"/>
          <p:nvPr/>
        </p:nvSpPr>
        <p:spPr>
          <a:xfrm>
            <a:off x="95808" y="991477"/>
            <a:ext cx="2820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선행연구 데이터 취합 및 데이터베이스 구축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91D61D-4DDF-1FA6-327C-AD64F3D233E4}"/>
              </a:ext>
            </a:extLst>
          </p:cNvPr>
          <p:cNvSpPr txBox="1"/>
          <p:nvPr/>
        </p:nvSpPr>
        <p:spPr>
          <a:xfrm>
            <a:off x="135881" y="1711998"/>
            <a:ext cx="17528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기존 연구과제 및 논문 리뷰</a:t>
            </a:r>
            <a:r>
              <a:rPr lang="en-US" altLang="ko-KR" sz="1600" b="1" dirty="0"/>
              <a:t>(2019~2025)</a:t>
            </a:r>
            <a:endParaRPr lang="ko-KR" altLang="en-US" sz="1600" b="1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46705EA-24F7-3C66-A345-7A054262E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084" y="1687451"/>
            <a:ext cx="934936" cy="64789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B4C314C-AF4B-6E98-6A13-C821FF952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026" y="2350940"/>
            <a:ext cx="1056026" cy="724899"/>
          </a:xfrm>
          <a:prstGeom prst="rect">
            <a:avLst/>
          </a:prstGeom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10A5B068-8B4F-EA2A-6D77-1AF706A53461}"/>
              </a:ext>
            </a:extLst>
          </p:cNvPr>
          <p:cNvSpPr/>
          <p:nvPr/>
        </p:nvSpPr>
        <p:spPr>
          <a:xfrm>
            <a:off x="2831980" y="1892057"/>
            <a:ext cx="963390" cy="31142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E52099-2F2F-511E-10B0-BD1E417AD230}"/>
              </a:ext>
            </a:extLst>
          </p:cNvPr>
          <p:cNvSpPr txBox="1"/>
          <p:nvPr/>
        </p:nvSpPr>
        <p:spPr>
          <a:xfrm>
            <a:off x="3381128" y="1499955"/>
            <a:ext cx="282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오염원 시료 정보 취합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27597-E9F4-04B1-80CB-9A5C3F9AD72C}"/>
              </a:ext>
            </a:extLst>
          </p:cNvPr>
          <p:cNvSpPr txBox="1"/>
          <p:nvPr/>
        </p:nvSpPr>
        <p:spPr>
          <a:xfrm>
            <a:off x="4198103" y="1783432"/>
            <a:ext cx="1752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(</a:t>
            </a:r>
            <a:r>
              <a:rPr lang="ko-KR" altLang="en-US" sz="1600" b="1" dirty="0"/>
              <a:t>총 </a:t>
            </a:r>
            <a:r>
              <a:rPr lang="en-US" altLang="ko-KR" sz="1600" b="1" dirty="0"/>
              <a:t>380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CBA30D9-B714-2BAD-9D7C-B41CA82F06EB}"/>
              </a:ext>
            </a:extLst>
          </p:cNvPr>
          <p:cNvSpPr/>
          <p:nvPr/>
        </p:nvSpPr>
        <p:spPr>
          <a:xfrm>
            <a:off x="7288040" y="859704"/>
            <a:ext cx="1469969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477E7A-DEFF-FA37-7CBD-BDB0EC5D8EA7}"/>
              </a:ext>
            </a:extLst>
          </p:cNvPr>
          <p:cNvSpPr txBox="1"/>
          <p:nvPr/>
        </p:nvSpPr>
        <p:spPr>
          <a:xfrm>
            <a:off x="7877874" y="956282"/>
            <a:ext cx="809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토양계</a:t>
            </a:r>
            <a:endParaRPr lang="en-US" altLang="ko-KR" sz="1600" b="1" dirty="0"/>
          </a:p>
          <a:p>
            <a:r>
              <a:rPr lang="en-US" altLang="ko-KR" sz="1600" b="1" dirty="0"/>
              <a:t>(27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6D5306E-3608-4E15-50EB-45A8E1FE824D}"/>
              </a:ext>
            </a:extLst>
          </p:cNvPr>
          <p:cNvSpPr/>
          <p:nvPr/>
        </p:nvSpPr>
        <p:spPr>
          <a:xfrm>
            <a:off x="7288040" y="1893125"/>
            <a:ext cx="1501134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EC68AAB-0FD3-56FB-3A2E-D6DD2A99AF29}"/>
              </a:ext>
            </a:extLst>
          </p:cNvPr>
          <p:cNvSpPr/>
          <p:nvPr/>
        </p:nvSpPr>
        <p:spPr>
          <a:xfrm>
            <a:off x="7288040" y="2951526"/>
            <a:ext cx="1492002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FFEC22B-2ABB-DD61-B6C6-8C5CBD285FE3}"/>
              </a:ext>
            </a:extLst>
          </p:cNvPr>
          <p:cNvSpPr/>
          <p:nvPr/>
        </p:nvSpPr>
        <p:spPr>
          <a:xfrm>
            <a:off x="7288040" y="3998040"/>
            <a:ext cx="1496864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43F83DD-F209-0AF4-5AD0-8815FC3A3A87}"/>
              </a:ext>
            </a:extLst>
          </p:cNvPr>
          <p:cNvSpPr/>
          <p:nvPr/>
        </p:nvSpPr>
        <p:spPr>
          <a:xfrm>
            <a:off x="7288040" y="5024791"/>
            <a:ext cx="1496864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024ABC-46C5-E827-0121-C8A0A919145D}"/>
              </a:ext>
            </a:extLst>
          </p:cNvPr>
          <p:cNvSpPr txBox="1"/>
          <p:nvPr/>
        </p:nvSpPr>
        <p:spPr>
          <a:xfrm>
            <a:off x="7905555" y="1995539"/>
            <a:ext cx="809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강우계</a:t>
            </a:r>
            <a:endParaRPr lang="en-US" altLang="ko-KR" sz="1600" b="1" dirty="0"/>
          </a:p>
          <a:p>
            <a:r>
              <a:rPr lang="en-US" altLang="ko-KR" sz="1600" b="1" dirty="0"/>
              <a:t>(13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9CF3A6-C21C-AB4D-DABB-11060E573D57}"/>
              </a:ext>
            </a:extLst>
          </p:cNvPr>
          <p:cNvSpPr txBox="1"/>
          <p:nvPr/>
        </p:nvSpPr>
        <p:spPr>
          <a:xfrm>
            <a:off x="7907435" y="3028869"/>
            <a:ext cx="809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생활계</a:t>
            </a:r>
            <a:endParaRPr lang="en-US" altLang="ko-KR" sz="1600" b="1" dirty="0"/>
          </a:p>
          <a:p>
            <a:r>
              <a:rPr lang="en-US" altLang="ko-KR" sz="1600" b="1" dirty="0"/>
              <a:t>(77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1B0922-BF8A-09C0-DAF5-22C4EB3AD2B9}"/>
              </a:ext>
            </a:extLst>
          </p:cNvPr>
          <p:cNvSpPr txBox="1"/>
          <p:nvPr/>
        </p:nvSpPr>
        <p:spPr>
          <a:xfrm>
            <a:off x="7930225" y="4087147"/>
            <a:ext cx="809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축산계</a:t>
            </a:r>
            <a:endParaRPr lang="en-US" altLang="ko-KR" sz="1600" b="1" dirty="0"/>
          </a:p>
          <a:p>
            <a:r>
              <a:rPr lang="en-US" altLang="ko-KR" sz="1600" b="1" dirty="0"/>
              <a:t>(47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FD8E72-044D-D13F-1FB6-F0DBEE304A73}"/>
              </a:ext>
            </a:extLst>
          </p:cNvPr>
          <p:cNvSpPr txBox="1"/>
          <p:nvPr/>
        </p:nvSpPr>
        <p:spPr>
          <a:xfrm>
            <a:off x="7877874" y="5100816"/>
            <a:ext cx="873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농업계</a:t>
            </a:r>
            <a:endParaRPr lang="en-US" altLang="ko-KR" sz="1600" b="1" dirty="0"/>
          </a:p>
          <a:p>
            <a:r>
              <a:rPr lang="en-US" altLang="ko-KR" sz="1600" b="1" dirty="0"/>
              <a:t>(216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0BBD2F8A-3DBA-2A36-1281-0DAF923C2E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645" y="986626"/>
            <a:ext cx="571580" cy="54300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93F3D592-CA1D-52FD-B2AD-DCBB6C6367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804" y="2012016"/>
            <a:ext cx="571580" cy="552527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A34360BC-2A9D-40F5-0681-0423833AE9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804" y="3040921"/>
            <a:ext cx="590632" cy="552527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B74C930A-DB3C-E080-00F1-26B0A9F84B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041" y="4109915"/>
            <a:ext cx="581106" cy="533474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16AAFBFD-586F-C92F-07D0-1CC1979BD2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041" y="5116709"/>
            <a:ext cx="581106" cy="543001"/>
          </a:xfrm>
          <a:prstGeom prst="rect">
            <a:avLst/>
          </a:prstGeom>
        </p:spPr>
      </p:pic>
      <p:sp>
        <p:nvSpPr>
          <p:cNvPr id="55" name="화살표: 오른쪽 54">
            <a:extLst>
              <a:ext uri="{FF2B5EF4-FFF2-40B4-BE49-F238E27FC236}">
                <a16:creationId xmlns:a16="http://schemas.microsoft.com/office/drawing/2014/main" id="{4347ACF2-5191-BA89-6C5D-14B41B1D297A}"/>
              </a:ext>
            </a:extLst>
          </p:cNvPr>
          <p:cNvSpPr/>
          <p:nvPr/>
        </p:nvSpPr>
        <p:spPr>
          <a:xfrm rot="20131930">
            <a:off x="6066663" y="1373213"/>
            <a:ext cx="1324700" cy="189100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8B75E920-2FAF-BBAB-BAC9-2B9C43806F27}"/>
              </a:ext>
            </a:extLst>
          </p:cNvPr>
          <p:cNvSpPr/>
          <p:nvPr/>
        </p:nvSpPr>
        <p:spPr>
          <a:xfrm rot="663466">
            <a:off x="6097351" y="2010301"/>
            <a:ext cx="1263213" cy="19432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B160BF70-F207-11B1-5380-76C6452BBBEB}"/>
              </a:ext>
            </a:extLst>
          </p:cNvPr>
          <p:cNvSpPr/>
          <p:nvPr/>
        </p:nvSpPr>
        <p:spPr>
          <a:xfrm rot="2576145">
            <a:off x="5798982" y="2591153"/>
            <a:ext cx="1751731" cy="23070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화살표: 오른쪽 60">
            <a:extLst>
              <a:ext uri="{FF2B5EF4-FFF2-40B4-BE49-F238E27FC236}">
                <a16:creationId xmlns:a16="http://schemas.microsoft.com/office/drawing/2014/main" id="{084A9E99-62A1-C376-4A21-193BEF5CC1AB}"/>
              </a:ext>
            </a:extLst>
          </p:cNvPr>
          <p:cNvSpPr/>
          <p:nvPr/>
        </p:nvSpPr>
        <p:spPr>
          <a:xfrm rot="3382056">
            <a:off x="5399250" y="3200334"/>
            <a:ext cx="2483194" cy="202686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화살표: 오른쪽 62">
            <a:extLst>
              <a:ext uri="{FF2B5EF4-FFF2-40B4-BE49-F238E27FC236}">
                <a16:creationId xmlns:a16="http://schemas.microsoft.com/office/drawing/2014/main" id="{9494BF3D-8BF7-B46D-0D30-4291423D4FAB}"/>
              </a:ext>
            </a:extLst>
          </p:cNvPr>
          <p:cNvSpPr/>
          <p:nvPr/>
        </p:nvSpPr>
        <p:spPr>
          <a:xfrm rot="3666719">
            <a:off x="4880328" y="3616549"/>
            <a:ext cx="3321429" cy="162672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7328D3DB-11ED-BB7D-BF8E-472B22E452B5}"/>
              </a:ext>
            </a:extLst>
          </p:cNvPr>
          <p:cNvSpPr/>
          <p:nvPr/>
        </p:nvSpPr>
        <p:spPr>
          <a:xfrm>
            <a:off x="8827481" y="864073"/>
            <a:ext cx="3074806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C64698A1-02B4-DDF5-66D1-D120554F3B63}"/>
              </a:ext>
            </a:extLst>
          </p:cNvPr>
          <p:cNvSpPr/>
          <p:nvPr/>
        </p:nvSpPr>
        <p:spPr>
          <a:xfrm>
            <a:off x="8861469" y="1890964"/>
            <a:ext cx="3040818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EA574581-2ED3-A283-719E-EDE310D17109}"/>
              </a:ext>
            </a:extLst>
          </p:cNvPr>
          <p:cNvSpPr/>
          <p:nvPr/>
        </p:nvSpPr>
        <p:spPr>
          <a:xfrm>
            <a:off x="8861469" y="2940855"/>
            <a:ext cx="3040818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D2E3559F-540C-6AA0-0898-91DD16D205FB}"/>
              </a:ext>
            </a:extLst>
          </p:cNvPr>
          <p:cNvSpPr/>
          <p:nvPr/>
        </p:nvSpPr>
        <p:spPr>
          <a:xfrm>
            <a:off x="8861469" y="3990746"/>
            <a:ext cx="3040818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5C9069BD-75CB-51C7-4A8D-71EECE0F46A7}"/>
              </a:ext>
            </a:extLst>
          </p:cNvPr>
          <p:cNvSpPr/>
          <p:nvPr/>
        </p:nvSpPr>
        <p:spPr>
          <a:xfrm>
            <a:off x="8861469" y="5024791"/>
            <a:ext cx="3040818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9752A41-B485-FD70-374A-D61096FB92B3}"/>
              </a:ext>
            </a:extLst>
          </p:cNvPr>
          <p:cNvSpPr txBox="1"/>
          <p:nvPr/>
        </p:nvSpPr>
        <p:spPr>
          <a:xfrm>
            <a:off x="8936651" y="1033352"/>
            <a:ext cx="2543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토양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산림유출수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산림토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대나무</a:t>
            </a:r>
            <a:r>
              <a:rPr lang="en-US" altLang="ko-KR" sz="1200" b="1" dirty="0"/>
              <a:t>), </a:t>
            </a:r>
            <a:r>
              <a:rPr lang="ko-KR" altLang="en-US" sz="1200" b="1" dirty="0"/>
              <a:t>하천 및 호소 상류 </a:t>
            </a:r>
            <a:r>
              <a:rPr lang="ko-KR" altLang="en-US" sz="1200" b="1" dirty="0" err="1"/>
              <a:t>유출수</a:t>
            </a:r>
            <a:r>
              <a:rPr lang="ko-KR" altLang="en-US" sz="1200" b="1" dirty="0"/>
              <a:t> 등 취합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8928965" y="2113588"/>
            <a:ext cx="2665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강우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옥상 </a:t>
            </a:r>
            <a:r>
              <a:rPr lang="ko-KR" altLang="en-US" sz="1200" b="1" dirty="0" err="1"/>
              <a:t>채수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순수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빗물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 등 취합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CCBF17E-0A38-04BC-6BA5-EBCED904520E}"/>
              </a:ext>
            </a:extLst>
          </p:cNvPr>
          <p:cNvSpPr txBox="1"/>
          <p:nvPr/>
        </p:nvSpPr>
        <p:spPr>
          <a:xfrm>
            <a:off x="8969959" y="3028869"/>
            <a:ext cx="2862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하수처리장 </a:t>
            </a:r>
            <a:r>
              <a:rPr lang="ko-KR" altLang="en-US" sz="1200" b="1" dirty="0" err="1"/>
              <a:t>유입수</a:t>
            </a:r>
            <a:r>
              <a:rPr lang="ko-KR" altLang="en-US" sz="1200" b="1" dirty="0"/>
              <a:t> 및 </a:t>
            </a:r>
            <a:r>
              <a:rPr lang="ko-KR" altLang="en-US" sz="1200" b="1" dirty="0" err="1"/>
              <a:t>방류수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오염원 주변 지류 및 본류 </a:t>
            </a:r>
            <a:r>
              <a:rPr lang="ko-KR" altLang="en-US" sz="1200" b="1" dirty="0" err="1"/>
              <a:t>유입수</a:t>
            </a:r>
            <a:r>
              <a:rPr lang="ko-KR" altLang="en-US" sz="1200" b="1" dirty="0"/>
              <a:t> 및 </a:t>
            </a:r>
            <a:r>
              <a:rPr lang="ko-KR" altLang="en-US" sz="1200" b="1" dirty="0" err="1"/>
              <a:t>방류수</a:t>
            </a:r>
            <a:r>
              <a:rPr lang="ko-KR" altLang="en-US" sz="1200" b="1" dirty="0"/>
              <a:t> 등 취합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20B2AF-98D8-5D19-AE15-238B16544784}"/>
              </a:ext>
            </a:extLst>
          </p:cNvPr>
          <p:cNvSpPr txBox="1"/>
          <p:nvPr/>
        </p:nvSpPr>
        <p:spPr>
          <a:xfrm>
            <a:off x="8949462" y="4071997"/>
            <a:ext cx="2862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퇴비</a:t>
            </a:r>
            <a:r>
              <a:rPr lang="en-US" altLang="ko-KR" sz="1200" b="1" dirty="0"/>
              <a:t>(</a:t>
            </a:r>
            <a:r>
              <a:rPr lang="ko-KR" altLang="en-US" sz="1200" b="1" dirty="0" err="1"/>
              <a:t>부숙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적치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시판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우분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돈분</a:t>
            </a:r>
            <a:r>
              <a:rPr lang="ko-KR" altLang="en-US" sz="1200" b="1" dirty="0"/>
              <a:t> 등</a:t>
            </a:r>
            <a:r>
              <a:rPr lang="en-US" altLang="ko-KR" sz="1200" b="1" dirty="0"/>
              <a:t>), </a:t>
            </a:r>
            <a:r>
              <a:rPr lang="ko-KR" altLang="en-US" sz="1200" b="1" dirty="0"/>
              <a:t>가축분뇨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퇴비 </a:t>
            </a:r>
            <a:r>
              <a:rPr lang="ko-KR" altLang="en-US" sz="1200" b="1" dirty="0" err="1"/>
              <a:t>유출수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가축처리수</a:t>
            </a:r>
            <a:r>
              <a:rPr lang="ko-KR" altLang="en-US" sz="1200" b="1" dirty="0"/>
              <a:t> 등 취합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7FDF7B-D64B-DD48-C810-78E6B0161097}"/>
              </a:ext>
            </a:extLst>
          </p:cNvPr>
          <p:cNvSpPr txBox="1"/>
          <p:nvPr/>
        </p:nvSpPr>
        <p:spPr>
          <a:xfrm>
            <a:off x="8928965" y="5111478"/>
            <a:ext cx="2903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/>
              <a:t>유출수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밭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퇴비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과수원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논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배수로 등</a:t>
            </a:r>
            <a:r>
              <a:rPr lang="en-US" altLang="ko-KR" sz="1200" b="1" dirty="0"/>
              <a:t>), </a:t>
            </a:r>
            <a:r>
              <a:rPr lang="ko-KR" altLang="en-US" sz="1200" b="1" dirty="0"/>
              <a:t>토양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밭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논 등</a:t>
            </a:r>
            <a:r>
              <a:rPr lang="en-US" altLang="ko-KR" sz="1200" b="1" dirty="0"/>
              <a:t>), </a:t>
            </a:r>
            <a:r>
              <a:rPr lang="ko-KR" altLang="en-US" sz="1200" b="1" dirty="0"/>
              <a:t>비닐하우스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비료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화학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복합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시판 등</a:t>
            </a:r>
            <a:r>
              <a:rPr lang="en-US" altLang="ko-KR" sz="1200" b="1" dirty="0"/>
              <a:t>) </a:t>
            </a:r>
            <a:r>
              <a:rPr lang="ko-KR" altLang="en-US" sz="1200" b="1" dirty="0"/>
              <a:t>등 취합</a:t>
            </a:r>
          </a:p>
        </p:txBody>
      </p:sp>
      <p:sp>
        <p:nvSpPr>
          <p:cNvPr id="84" name="화살표: 오른쪽 83">
            <a:extLst>
              <a:ext uri="{FF2B5EF4-FFF2-40B4-BE49-F238E27FC236}">
                <a16:creationId xmlns:a16="http://schemas.microsoft.com/office/drawing/2014/main" id="{5AD7AB68-9B71-E63C-4484-BF20F2A2506E}"/>
              </a:ext>
            </a:extLst>
          </p:cNvPr>
          <p:cNvSpPr/>
          <p:nvPr/>
        </p:nvSpPr>
        <p:spPr>
          <a:xfrm>
            <a:off x="8635833" y="1146999"/>
            <a:ext cx="344365" cy="22969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4" name="화살표: 오른쪽 93">
            <a:extLst>
              <a:ext uri="{FF2B5EF4-FFF2-40B4-BE49-F238E27FC236}">
                <a16:creationId xmlns:a16="http://schemas.microsoft.com/office/drawing/2014/main" id="{A934D374-8811-5D91-AC89-5497152E45D5}"/>
              </a:ext>
            </a:extLst>
          </p:cNvPr>
          <p:cNvSpPr/>
          <p:nvPr/>
        </p:nvSpPr>
        <p:spPr>
          <a:xfrm rot="7679255">
            <a:off x="2198600" y="2761172"/>
            <a:ext cx="2350515" cy="31142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9CBDD45-A345-F7BF-A76B-2C2F92AF1C89}"/>
              </a:ext>
            </a:extLst>
          </p:cNvPr>
          <p:cNvSpPr txBox="1"/>
          <p:nvPr/>
        </p:nvSpPr>
        <p:spPr>
          <a:xfrm>
            <a:off x="171366" y="3458787"/>
            <a:ext cx="2500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오염원별 대표 시료 선별 및 검증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4BF8F91-4B57-F7BA-D5FF-2009F9AED806}"/>
              </a:ext>
            </a:extLst>
          </p:cNvPr>
          <p:cNvSpPr txBox="1"/>
          <p:nvPr/>
        </p:nvSpPr>
        <p:spPr>
          <a:xfrm>
            <a:off x="195572" y="4173066"/>
            <a:ext cx="17181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통계적 기법</a:t>
            </a:r>
            <a:r>
              <a:rPr lang="en-US" altLang="ko-KR" sz="1600" b="1" dirty="0"/>
              <a:t>, Kendall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plot</a:t>
            </a:r>
            <a:r>
              <a:rPr lang="ko-KR" altLang="en-US" sz="1600" b="1" dirty="0"/>
              <a:t> 등 검증된 오염원 영역 정보 활용</a:t>
            </a: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36A14463-D81B-4E1E-4F07-D0A47319FD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124" y="4017065"/>
            <a:ext cx="970379" cy="654857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3E98121B-A6CD-887B-3951-C849F02F6D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124" y="4807817"/>
            <a:ext cx="790685" cy="676369"/>
          </a:xfrm>
          <a:prstGeom prst="rect">
            <a:avLst/>
          </a:prstGeom>
        </p:spPr>
      </p:pic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B8DE79AF-E212-C357-77D3-0C6866245AB5}"/>
              </a:ext>
            </a:extLst>
          </p:cNvPr>
          <p:cNvSpPr/>
          <p:nvPr/>
        </p:nvSpPr>
        <p:spPr>
          <a:xfrm rot="2384157">
            <a:off x="2634392" y="4963814"/>
            <a:ext cx="841372" cy="31142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89AAC6D-FF19-53B1-403C-D40DDD9CDC60}"/>
              </a:ext>
            </a:extLst>
          </p:cNvPr>
          <p:cNvSpPr txBox="1"/>
          <p:nvPr/>
        </p:nvSpPr>
        <p:spPr>
          <a:xfrm>
            <a:off x="3429141" y="5039260"/>
            <a:ext cx="3641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오염원별 질산염 </a:t>
            </a:r>
            <a:endParaRPr lang="en-US" altLang="ko-KR" b="1" dirty="0"/>
          </a:p>
          <a:p>
            <a:r>
              <a:rPr lang="ko-KR" altLang="en-US" b="1" dirty="0"/>
              <a:t>안정동위원소비 대푯값 결정</a:t>
            </a: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15F3B3D0-8C46-A1F0-99A1-EF188C7E83C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129" y="5758361"/>
            <a:ext cx="4009529" cy="641454"/>
          </a:xfrm>
          <a:prstGeom prst="rect">
            <a:avLst/>
          </a:prstGeom>
        </p:spPr>
      </p:pic>
      <p:sp>
        <p:nvSpPr>
          <p:cNvPr id="122" name="화살표: 오른쪽 121">
            <a:extLst>
              <a:ext uri="{FF2B5EF4-FFF2-40B4-BE49-F238E27FC236}">
                <a16:creationId xmlns:a16="http://schemas.microsoft.com/office/drawing/2014/main" id="{9A366C93-69A7-01ED-9122-1E8D33725FAB}"/>
              </a:ext>
            </a:extLst>
          </p:cNvPr>
          <p:cNvSpPr/>
          <p:nvPr/>
        </p:nvSpPr>
        <p:spPr>
          <a:xfrm>
            <a:off x="8635481" y="2160893"/>
            <a:ext cx="344365" cy="22969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4" name="화살표: 오른쪽 123">
            <a:extLst>
              <a:ext uri="{FF2B5EF4-FFF2-40B4-BE49-F238E27FC236}">
                <a16:creationId xmlns:a16="http://schemas.microsoft.com/office/drawing/2014/main" id="{18A16148-BBDE-1898-3EFF-B2F8D82D2552}"/>
              </a:ext>
            </a:extLst>
          </p:cNvPr>
          <p:cNvSpPr/>
          <p:nvPr/>
        </p:nvSpPr>
        <p:spPr>
          <a:xfrm>
            <a:off x="8643945" y="3199306"/>
            <a:ext cx="344365" cy="22969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6" name="화살표: 오른쪽 125">
            <a:extLst>
              <a:ext uri="{FF2B5EF4-FFF2-40B4-BE49-F238E27FC236}">
                <a16:creationId xmlns:a16="http://schemas.microsoft.com/office/drawing/2014/main" id="{3D743A34-7267-A8CA-7794-735C5FBCBCBE}"/>
              </a:ext>
            </a:extLst>
          </p:cNvPr>
          <p:cNvSpPr/>
          <p:nvPr/>
        </p:nvSpPr>
        <p:spPr>
          <a:xfrm>
            <a:off x="8648583" y="4229646"/>
            <a:ext cx="344365" cy="22969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8" name="화살표: 오른쪽 127">
            <a:extLst>
              <a:ext uri="{FF2B5EF4-FFF2-40B4-BE49-F238E27FC236}">
                <a16:creationId xmlns:a16="http://schemas.microsoft.com/office/drawing/2014/main" id="{1E72F3E9-0901-6EFA-662F-37E8756BAC2F}"/>
              </a:ext>
            </a:extLst>
          </p:cNvPr>
          <p:cNvSpPr/>
          <p:nvPr/>
        </p:nvSpPr>
        <p:spPr>
          <a:xfrm>
            <a:off x="8637729" y="5298910"/>
            <a:ext cx="344365" cy="22969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678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5E1364-CEF8-DAB8-7612-2635E6993BD9}"/>
              </a:ext>
            </a:extLst>
          </p:cNvPr>
          <p:cNvSpPr txBox="1"/>
          <p:nvPr/>
        </p:nvSpPr>
        <p:spPr>
          <a:xfrm>
            <a:off x="1152922" y="26883"/>
            <a:ext cx="1003621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정성적</a:t>
            </a:r>
            <a:r>
              <a:rPr lang="en-US" altLang="ko-KR" sz="26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6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정량적</a:t>
            </a:r>
            <a:r>
              <a:rPr lang="en-US" altLang="ko-KR" sz="26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질소 </a:t>
            </a:r>
            <a:r>
              <a:rPr lang="ko-KR" altLang="en-US" sz="26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오염원 평가</a:t>
            </a:r>
            <a:r>
              <a:rPr lang="en-US" altLang="ko-KR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참고자료</a:t>
            </a:r>
            <a:r>
              <a:rPr lang="en-US" altLang="ko-KR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기술 검토용 세부 프로세스</a:t>
            </a:r>
            <a:r>
              <a:rPr lang="en-US" altLang="ko-KR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endParaRPr lang="ko-KR" altLang="en-US" b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ko-KR" altLang="en-US" sz="2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215"/>
            <a:ext cx="1215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&lt;</a:t>
            </a:r>
            <a:r>
              <a:rPr lang="ko-KR" altLang="en-US" sz="2000" b="1" dirty="0"/>
              <a:t>붙임</a:t>
            </a:r>
            <a:r>
              <a:rPr lang="en-US" altLang="ko-KR" sz="2000" b="1" dirty="0"/>
              <a:t>2&gt;</a:t>
            </a:r>
            <a:endParaRPr lang="ko-KR" altLang="en-US" sz="2000" b="1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64142" y="659330"/>
            <a:ext cx="6513831" cy="4340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1. </a:t>
            </a:r>
            <a:r>
              <a:rPr lang="ko-KR" altLang="en-US" b="1" dirty="0">
                <a:solidFill>
                  <a:schemeClr val="tx1"/>
                </a:solidFill>
              </a:rPr>
              <a:t>연구지점 모니터링 데이터 입력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613" y="675526"/>
            <a:ext cx="974698" cy="40169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31" y="682005"/>
            <a:ext cx="711771" cy="388736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/>
        </p:nvSpPr>
        <p:spPr>
          <a:xfrm>
            <a:off x="72103" y="1252294"/>
            <a:ext cx="7473705" cy="44184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2. </a:t>
            </a:r>
            <a:r>
              <a:rPr lang="ko-KR" altLang="en-US" b="1" dirty="0">
                <a:solidFill>
                  <a:schemeClr val="tx1"/>
                </a:solidFill>
              </a:rPr>
              <a:t>정성적 질소 오염원 평가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811797" y="1242631"/>
            <a:ext cx="4316062" cy="43813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3. </a:t>
            </a:r>
            <a:r>
              <a:rPr lang="ko-KR" altLang="en-US" b="1" dirty="0">
                <a:solidFill>
                  <a:schemeClr val="tx1"/>
                </a:solidFill>
              </a:rPr>
              <a:t>정량적 질소 오염원 평가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7003" y="1792482"/>
            <a:ext cx="23791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2-1. </a:t>
            </a:r>
            <a:r>
              <a:rPr lang="ko-KR" altLang="en-US" sz="1400" b="1" dirty="0"/>
              <a:t>검증된 기준 활용 평가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2528" y="4459531"/>
            <a:ext cx="169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Kendall plot </a:t>
            </a:r>
            <a:r>
              <a:rPr lang="ko-KR" altLang="en-US" sz="1200" b="1" dirty="0"/>
              <a:t>등 활용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5186" y="1781904"/>
            <a:ext cx="3584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2-2. </a:t>
            </a:r>
            <a:r>
              <a:rPr lang="ko-KR" altLang="en-US" sz="1400" b="1" dirty="0"/>
              <a:t>문헌지식 기반 </a:t>
            </a:r>
            <a:r>
              <a:rPr lang="en-US" altLang="ko-KR" sz="1400" b="1" dirty="0"/>
              <a:t>AI </a:t>
            </a:r>
            <a:r>
              <a:rPr lang="ko-KR" altLang="en-US" sz="1400" b="1" dirty="0"/>
              <a:t>오염원 판별 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5329" y="2163107"/>
            <a:ext cx="35846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입력 모니터링 데이터 </a:t>
            </a:r>
            <a:r>
              <a:rPr lang="ko-KR" altLang="en-US" sz="1200" b="1" dirty="0" err="1"/>
              <a:t>전처리</a:t>
            </a:r>
            <a:r>
              <a:rPr lang="ko-KR" altLang="en-US" sz="1200" b="1" dirty="0"/>
              <a:t> 후 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연구지점 군집화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(PAM, DIANA </a:t>
            </a:r>
            <a:r>
              <a:rPr lang="ko-KR" altLang="en-US" sz="1000" b="1" dirty="0"/>
              <a:t>등 </a:t>
            </a:r>
            <a:r>
              <a:rPr lang="en-US" altLang="ko-KR" sz="1000" b="1" dirty="0"/>
              <a:t>8</a:t>
            </a:r>
            <a:r>
              <a:rPr lang="ko-KR" altLang="en-US" sz="1000" b="1" dirty="0"/>
              <a:t>종 </a:t>
            </a:r>
            <a:r>
              <a:rPr lang="en-US" altLang="ko-KR" sz="1000" b="1" dirty="0"/>
              <a:t>ML/AI </a:t>
            </a:r>
            <a:r>
              <a:rPr lang="ko-KR" altLang="en-US" sz="1000" b="1" dirty="0"/>
              <a:t>경쟁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3195335" y="2987976"/>
            <a:ext cx="361591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국내외 연구문헌 지식 기반 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군집 및 개별지점 기준 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오염원 </a:t>
            </a:r>
            <a:r>
              <a:rPr lang="en-US" altLang="ko-KR" sz="1200" b="1" dirty="0"/>
              <a:t>1</a:t>
            </a:r>
            <a:r>
              <a:rPr lang="ko-KR" altLang="en-US" sz="1200" b="1" dirty="0"/>
              <a:t>차 결정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(Gemini NLP/LLM </a:t>
            </a:r>
            <a:r>
              <a:rPr lang="ko-KR" altLang="en-US" sz="1000" b="1" dirty="0"/>
              <a:t>기반 자료 학습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3612895" y="4013158"/>
            <a:ext cx="28327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ML/AI </a:t>
            </a:r>
            <a:r>
              <a:rPr lang="ko-KR" altLang="en-US" sz="1200" b="1" dirty="0"/>
              <a:t>기반 오염원 판별 임계치 보정 및 패턴분석을 통한 최종 오염원 판별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</a:t>
            </a:r>
            <a:r>
              <a:rPr lang="ko-KR" altLang="en-US" sz="1000" b="1" dirty="0"/>
              <a:t>누락 가능성 높은 핵심 오염 지점 상호보정</a:t>
            </a:r>
            <a:r>
              <a:rPr lang="en-US" altLang="ko-KR" sz="1000" b="1" dirty="0"/>
              <a:t>)</a:t>
            </a:r>
          </a:p>
        </p:txBody>
      </p:sp>
      <p:sp>
        <p:nvSpPr>
          <p:cNvPr id="20" name="아래쪽 화살표 19"/>
          <p:cNvSpPr/>
          <p:nvPr/>
        </p:nvSpPr>
        <p:spPr>
          <a:xfrm>
            <a:off x="4874412" y="2805943"/>
            <a:ext cx="190574" cy="1818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2166443" y="4798763"/>
            <a:ext cx="3584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2-3. </a:t>
            </a:r>
            <a:r>
              <a:rPr lang="ko-KR" altLang="en-US" sz="1400" b="1" dirty="0"/>
              <a:t>실측자료 기반 </a:t>
            </a:r>
            <a:r>
              <a:rPr lang="en-US" altLang="ko-KR" sz="1400" b="1" dirty="0"/>
              <a:t>AI </a:t>
            </a:r>
            <a:r>
              <a:rPr lang="ko-KR" altLang="en-US" sz="1400" b="1" dirty="0"/>
              <a:t>오염원 판별 시스템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03" y="5981148"/>
            <a:ext cx="257875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입력 모니터링 데이터 및 학습용 </a:t>
            </a:r>
            <a:r>
              <a:rPr lang="ko-KR" altLang="en-US" sz="1200" b="1"/>
              <a:t>실측자료 전처리</a:t>
            </a:r>
            <a:r>
              <a:rPr lang="en-US" altLang="ko-KR" sz="1200" b="1"/>
              <a:t>, Domain </a:t>
            </a:r>
            <a:r>
              <a:rPr lang="ko-KR" altLang="en-US" sz="1200" b="1" dirty="0"/>
              <a:t>규칙 및 </a:t>
            </a:r>
            <a:r>
              <a:rPr lang="en-US" altLang="ko-KR" sz="1200" b="1" dirty="0"/>
              <a:t>AI </a:t>
            </a:r>
            <a:r>
              <a:rPr lang="ko-KR" altLang="en-US" sz="1200" b="1" dirty="0"/>
              <a:t>추론 기반 오염원 범주 </a:t>
            </a:r>
            <a:r>
              <a:rPr lang="ko-KR" altLang="en-US" sz="1200" b="1" dirty="0" err="1"/>
              <a:t>라벨링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(Gemma/Gemini API LLM)</a:t>
            </a:r>
            <a:endParaRPr lang="ko-KR" altLang="en-US" sz="10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3216290" y="6030236"/>
            <a:ext cx="230386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Hybrid Ensemble Model </a:t>
            </a:r>
            <a:r>
              <a:rPr lang="ko-KR" altLang="en-US" sz="1200" b="1" dirty="0"/>
              <a:t>기반 </a:t>
            </a:r>
            <a:r>
              <a:rPr lang="en-US" altLang="ko-KR" sz="1200" b="1" dirty="0"/>
              <a:t>Soft voting </a:t>
            </a:r>
            <a:r>
              <a:rPr lang="ko-KR" altLang="en-US" sz="1200" b="1" dirty="0"/>
              <a:t>앙상블 학습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</a:t>
            </a:r>
            <a:r>
              <a:rPr lang="en-US" altLang="ko-KR" sz="1000" b="1" dirty="0" err="1"/>
              <a:t>XGBoost</a:t>
            </a:r>
            <a:r>
              <a:rPr lang="en-US" altLang="ko-KR" sz="1000" b="1" dirty="0"/>
              <a:t>, MLP </a:t>
            </a:r>
            <a:r>
              <a:rPr lang="ko-KR" altLang="en-US" sz="1000" b="1" dirty="0"/>
              <a:t>등 </a:t>
            </a:r>
            <a:r>
              <a:rPr lang="en-US" altLang="ko-KR" sz="1000" b="1" dirty="0"/>
              <a:t>22</a:t>
            </a:r>
            <a:r>
              <a:rPr lang="ko-KR" altLang="en-US" sz="1000" b="1" dirty="0"/>
              <a:t>종 </a:t>
            </a:r>
            <a:r>
              <a:rPr lang="en-US" altLang="ko-KR" sz="1000" b="1" dirty="0"/>
              <a:t>ML/AI </a:t>
            </a:r>
            <a:r>
              <a:rPr lang="ko-KR" altLang="en-US" sz="1000" b="1" dirty="0"/>
              <a:t>결합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078895" y="6107179"/>
            <a:ext cx="152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각 연구지점 대상 최종 오염원 판별</a:t>
            </a:r>
            <a:endParaRPr lang="en-US" altLang="ko-KR" sz="1200" b="1" dirty="0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944" y="3528259"/>
            <a:ext cx="593680" cy="248266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44" y="5617189"/>
            <a:ext cx="933350" cy="273465"/>
          </a:xfrm>
          <a:prstGeom prst="rect">
            <a:avLst/>
          </a:prstGeom>
        </p:spPr>
      </p:pic>
      <p:sp>
        <p:nvSpPr>
          <p:cNvPr id="32" name="오른쪽 화살표 31"/>
          <p:cNvSpPr/>
          <p:nvPr/>
        </p:nvSpPr>
        <p:spPr>
          <a:xfrm>
            <a:off x="2731539" y="6247293"/>
            <a:ext cx="356737" cy="13345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오른쪽 화살표 32"/>
          <p:cNvSpPr/>
          <p:nvPr/>
        </p:nvSpPr>
        <p:spPr>
          <a:xfrm>
            <a:off x="5711283" y="6246186"/>
            <a:ext cx="356737" cy="13345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455" y="5245554"/>
            <a:ext cx="1562707" cy="681606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44" y="5009967"/>
            <a:ext cx="778919" cy="554485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872" y="5229029"/>
            <a:ext cx="899304" cy="809373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200" y="5172418"/>
            <a:ext cx="837215" cy="608290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555" y="5229029"/>
            <a:ext cx="1014997" cy="723874"/>
          </a:xfrm>
          <a:prstGeom prst="rect">
            <a:avLst/>
          </a:prstGeom>
        </p:spPr>
      </p:pic>
      <p:sp>
        <p:nvSpPr>
          <p:cNvPr id="40" name="모서리가 둥근 직사각형 39"/>
          <p:cNvSpPr/>
          <p:nvPr/>
        </p:nvSpPr>
        <p:spPr>
          <a:xfrm>
            <a:off x="3825606" y="1806928"/>
            <a:ext cx="3584636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722881" y="1806928"/>
            <a:ext cx="2264374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모서리가 둥근 직사각형 41"/>
          <p:cNvSpPr/>
          <p:nvPr/>
        </p:nvSpPr>
        <p:spPr>
          <a:xfrm>
            <a:off x="2146962" y="4831609"/>
            <a:ext cx="3584636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8101937" y="1798880"/>
            <a:ext cx="3643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3-1. </a:t>
            </a:r>
            <a:r>
              <a:rPr lang="ko-KR" altLang="en-US" sz="1400" b="1" dirty="0"/>
              <a:t>모델 간 교차 검증을 통한 신뢰성 확보</a:t>
            </a:r>
          </a:p>
        </p:txBody>
      </p:sp>
      <p:sp>
        <p:nvSpPr>
          <p:cNvPr id="45" name="모서리가 둥근 직사각형 44"/>
          <p:cNvSpPr/>
          <p:nvPr/>
        </p:nvSpPr>
        <p:spPr>
          <a:xfrm>
            <a:off x="8185089" y="1818971"/>
            <a:ext cx="3477643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8081661" y="4037538"/>
            <a:ext cx="3898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Excel </a:t>
            </a:r>
            <a:r>
              <a:rPr lang="ko-KR" altLang="en-US" sz="1200" b="1" dirty="0"/>
              <a:t>기반의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현장 모델 </a:t>
            </a:r>
            <a:r>
              <a:rPr lang="en-US" altLang="ko-KR" sz="1200" b="1" dirty="0"/>
              <a:t>EMMTE </a:t>
            </a:r>
            <a:r>
              <a:rPr lang="ko-KR" altLang="en-US" sz="1200" b="1" dirty="0"/>
              <a:t>및 </a:t>
            </a:r>
            <a:r>
              <a:rPr lang="en-US" altLang="ko-KR" sz="1200" b="1" dirty="0"/>
              <a:t>R language </a:t>
            </a:r>
            <a:r>
              <a:rPr lang="ko-KR" altLang="en-US" sz="1200" b="1" dirty="0"/>
              <a:t>기반 범용 모델 </a:t>
            </a:r>
            <a:r>
              <a:rPr lang="en-US" altLang="ko-KR" sz="1200" b="1" dirty="0" err="1"/>
              <a:t>MixSIAR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간 교차 검증을 통한 질소 오염원 기여율 산정의 신뢰성 확보</a:t>
            </a:r>
            <a:endParaRPr lang="en-US" altLang="ko-KR" sz="12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8811497" y="4845598"/>
            <a:ext cx="2316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3-2. </a:t>
            </a:r>
            <a:r>
              <a:rPr lang="ko-KR" altLang="en-US" sz="1400" b="1" dirty="0"/>
              <a:t>오염원별 기여율 산정</a:t>
            </a:r>
          </a:p>
        </p:txBody>
      </p:sp>
      <p:sp>
        <p:nvSpPr>
          <p:cNvPr id="58" name="모서리가 둥근 직사각형 57"/>
          <p:cNvSpPr/>
          <p:nvPr/>
        </p:nvSpPr>
        <p:spPr>
          <a:xfrm>
            <a:off x="8883134" y="4846321"/>
            <a:ext cx="2173386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8140230" y="5575882"/>
            <a:ext cx="2010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각 오염원별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토양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화학비료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하수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분뇨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강우</a:t>
            </a:r>
            <a:r>
              <a:rPr lang="en-US" altLang="ko-KR" sz="1000" b="1" dirty="0"/>
              <a:t>)</a:t>
            </a:r>
            <a:r>
              <a:rPr lang="ko-KR" altLang="en-US" sz="1000" b="1" dirty="0"/>
              <a:t> </a:t>
            </a:r>
            <a:r>
              <a:rPr lang="ko-KR" altLang="en-US" sz="1200" b="1" dirty="0"/>
              <a:t>기여율 산정 및 평가</a:t>
            </a:r>
            <a:endParaRPr lang="en-US" altLang="ko-KR" sz="1200" b="1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E727F9B-6A3C-C17E-917D-6F2B35593DCC}"/>
              </a:ext>
            </a:extLst>
          </p:cNvPr>
          <p:cNvSpPr/>
          <p:nvPr/>
        </p:nvSpPr>
        <p:spPr>
          <a:xfrm>
            <a:off x="7318070" y="659327"/>
            <a:ext cx="4809788" cy="44116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4. </a:t>
            </a:r>
            <a:r>
              <a:rPr lang="ko-KR" altLang="en-US" b="1" dirty="0">
                <a:solidFill>
                  <a:schemeClr val="tx1"/>
                </a:solidFill>
              </a:rPr>
              <a:t>연구결과 종합 및 오염평가 체계 고도화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734722-863F-7091-FC1A-6CF1F3E9DA6F}"/>
              </a:ext>
            </a:extLst>
          </p:cNvPr>
          <p:cNvSpPr/>
          <p:nvPr/>
        </p:nvSpPr>
        <p:spPr>
          <a:xfrm>
            <a:off x="72102" y="1759905"/>
            <a:ext cx="3565933" cy="297858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7D3A2C5-C434-05A2-4EBB-70530FC6824D}"/>
              </a:ext>
            </a:extLst>
          </p:cNvPr>
          <p:cNvSpPr/>
          <p:nvPr/>
        </p:nvSpPr>
        <p:spPr>
          <a:xfrm>
            <a:off x="3680226" y="1759904"/>
            <a:ext cx="3865582" cy="297858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A450A53-28A9-EAF8-6149-40D79B376622}"/>
              </a:ext>
            </a:extLst>
          </p:cNvPr>
          <p:cNvSpPr/>
          <p:nvPr/>
        </p:nvSpPr>
        <p:spPr>
          <a:xfrm>
            <a:off x="72104" y="4769526"/>
            <a:ext cx="7475708" cy="202397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2B04BBE-FDBF-A261-52DA-0F62A6DF06C1}"/>
              </a:ext>
            </a:extLst>
          </p:cNvPr>
          <p:cNvSpPr/>
          <p:nvPr/>
        </p:nvSpPr>
        <p:spPr>
          <a:xfrm>
            <a:off x="7811796" y="1759904"/>
            <a:ext cx="4316062" cy="297662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F880D74-74D0-E8A7-59F8-A6CAF5CC3A08}"/>
              </a:ext>
            </a:extLst>
          </p:cNvPr>
          <p:cNvSpPr/>
          <p:nvPr/>
        </p:nvSpPr>
        <p:spPr>
          <a:xfrm>
            <a:off x="7811796" y="4798762"/>
            <a:ext cx="4316062" cy="199473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0799FDC7-BAB7-9701-93D8-A079C44674B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880" y="2961308"/>
            <a:ext cx="1413922" cy="498086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CF268058-9A64-76AE-1222-E06728BAF3B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163" y="4074251"/>
            <a:ext cx="1007400" cy="55446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3D8FB746-EA16-7D16-B4E0-F0764243720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996" y="2212170"/>
            <a:ext cx="1299752" cy="534708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60802F4B-160E-B355-30DE-775E795AE9C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267" y="1300835"/>
            <a:ext cx="328792" cy="348922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4A62318B-6183-9A7C-D7F6-86B95F74BB5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308" y="2497813"/>
            <a:ext cx="1253849" cy="775637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6B591A04-5680-9D52-D76F-D6D2E71A7B9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837" y="2486904"/>
            <a:ext cx="1379112" cy="823636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E5542475-3F3C-F639-45F1-91D8BBACC2DB}"/>
              </a:ext>
            </a:extLst>
          </p:cNvPr>
          <p:cNvSpPr txBox="1"/>
          <p:nvPr/>
        </p:nvSpPr>
        <p:spPr>
          <a:xfrm>
            <a:off x="7980645" y="3351769"/>
            <a:ext cx="1380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EMMTE</a:t>
            </a:r>
          </a:p>
          <a:p>
            <a:pPr algn="ctr"/>
            <a:r>
              <a:rPr lang="en-US" altLang="ko-KR" sz="1200" b="1" dirty="0"/>
              <a:t>(Excel)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834AC18-29FA-BDEE-34A0-08ABB24907C9}"/>
              </a:ext>
            </a:extLst>
          </p:cNvPr>
          <p:cNvSpPr txBox="1"/>
          <p:nvPr/>
        </p:nvSpPr>
        <p:spPr>
          <a:xfrm>
            <a:off x="10396987" y="3351769"/>
            <a:ext cx="1786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/>
              <a:t>MixSIAR</a:t>
            </a:r>
            <a:endParaRPr lang="en-US" altLang="ko-KR" sz="1200" b="1" dirty="0"/>
          </a:p>
          <a:p>
            <a:pPr algn="ctr"/>
            <a:r>
              <a:rPr lang="en-US" altLang="ko-KR" sz="1200" b="1" dirty="0"/>
              <a:t>(R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with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JAGS)</a:t>
            </a:r>
          </a:p>
        </p:txBody>
      </p:sp>
      <p:sp>
        <p:nvSpPr>
          <p:cNvPr id="88" name="화살표: 오른쪽 87">
            <a:extLst>
              <a:ext uri="{FF2B5EF4-FFF2-40B4-BE49-F238E27FC236}">
                <a16:creationId xmlns:a16="http://schemas.microsoft.com/office/drawing/2014/main" id="{1B16CEBB-00EF-DA4A-A20C-ACDAB1A19BA4}"/>
              </a:ext>
            </a:extLst>
          </p:cNvPr>
          <p:cNvSpPr/>
          <p:nvPr/>
        </p:nvSpPr>
        <p:spPr>
          <a:xfrm rot="5400000">
            <a:off x="3268330" y="1112338"/>
            <a:ext cx="310410" cy="1321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화살표: 오른쪽 89">
            <a:extLst>
              <a:ext uri="{FF2B5EF4-FFF2-40B4-BE49-F238E27FC236}">
                <a16:creationId xmlns:a16="http://schemas.microsoft.com/office/drawing/2014/main" id="{B35B0AF8-158F-A215-E8C9-1852BA22D809}"/>
              </a:ext>
            </a:extLst>
          </p:cNvPr>
          <p:cNvSpPr/>
          <p:nvPr/>
        </p:nvSpPr>
        <p:spPr>
          <a:xfrm>
            <a:off x="7507945" y="1400881"/>
            <a:ext cx="341716" cy="1623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화살표: 오른쪽 91">
            <a:extLst>
              <a:ext uri="{FF2B5EF4-FFF2-40B4-BE49-F238E27FC236}">
                <a16:creationId xmlns:a16="http://schemas.microsoft.com/office/drawing/2014/main" id="{ACB529EE-9B1A-2762-B7C1-C0D3EB8A48C3}"/>
              </a:ext>
            </a:extLst>
          </p:cNvPr>
          <p:cNvSpPr/>
          <p:nvPr/>
        </p:nvSpPr>
        <p:spPr>
          <a:xfrm rot="16200000">
            <a:off x="9696756" y="1115208"/>
            <a:ext cx="322878" cy="1139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아래쪽 화살표 63"/>
          <p:cNvSpPr/>
          <p:nvPr/>
        </p:nvSpPr>
        <p:spPr>
          <a:xfrm>
            <a:off x="4984778" y="3800446"/>
            <a:ext cx="190574" cy="1818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화살표: 왼쪽/오른쪽 57">
            <a:extLst>
              <a:ext uri="{FF2B5EF4-FFF2-40B4-BE49-F238E27FC236}">
                <a16:creationId xmlns:a16="http://schemas.microsoft.com/office/drawing/2014/main" id="{19CE8251-37B2-556C-BEB8-347A72E853D9}"/>
              </a:ext>
            </a:extLst>
          </p:cNvPr>
          <p:cNvSpPr/>
          <p:nvPr/>
        </p:nvSpPr>
        <p:spPr>
          <a:xfrm>
            <a:off x="9322669" y="2660547"/>
            <a:ext cx="1167168" cy="488282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교차 검증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FA48D80-2C27-0F15-5C85-D727BBDF1E6C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74520" y="2090676"/>
            <a:ext cx="3361095" cy="2412826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D204A824-AC5E-DD04-B788-899C024500B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9253" y="5122220"/>
            <a:ext cx="1659147" cy="165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623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1371</TotalTime>
  <Words>601</Words>
  <Application>Microsoft Office PowerPoint</Application>
  <PresentationFormat>와이드스크린</PresentationFormat>
  <Paragraphs>75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고양덕양 B</vt:lpstr>
      <vt:lpstr>Arial</vt:lpstr>
      <vt:lpstr>Gill Sans MT</vt:lpstr>
      <vt:lpstr>Times New Roman</vt:lpstr>
      <vt:lpstr>Wingdings</vt:lpstr>
      <vt:lpstr>나눔바른고딕</vt:lpstr>
      <vt:lpstr>맑은 고딕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Nier</dc:creator>
  <cp:lastModifiedBy>User</cp:lastModifiedBy>
  <cp:revision>143</cp:revision>
  <dcterms:created xsi:type="dcterms:W3CDTF">2026-07-28T04:37:35Z</dcterms:created>
  <dcterms:modified xsi:type="dcterms:W3CDTF">2026-08-10T13:35:37Z</dcterms:modified>
</cp:coreProperties>
</file>