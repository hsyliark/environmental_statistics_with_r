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6641" autoAdjust="0"/>
  </p:normalViewPr>
  <p:slideViewPr>
    <p:cSldViewPr snapToGrid="0">
      <p:cViewPr varScale="1">
        <p:scale>
          <a:sx n="119" d="100"/>
          <a:sy n="119" d="100"/>
        </p:scale>
        <p:origin x="564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01511-0405-4F3C-9CC7-59D2DC217B90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5D940-19D0-49D9-BB22-39878D720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3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0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72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4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6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4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3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50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0583" y="6237696"/>
            <a:ext cx="2743200" cy="365125"/>
          </a:xfrm>
          <a:prstGeom prst="rect">
            <a:avLst/>
          </a:prstGeom>
        </p:spPr>
        <p:txBody>
          <a:bodyPr/>
          <a:lstStyle/>
          <a:p>
            <a:fld id="{CF861DB1-7CD0-4EAD-ACA9-006A4A674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519113" y="1400175"/>
            <a:ext cx="11161712" cy="4687888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Font typeface="Wingdings" panose="05000000000000000000" pitchFamily="2" charset="2"/>
              <a:buChar char="l"/>
              <a:defRPr>
                <a:latin typeface="고양덕양 B" pitchFamily="2" charset="-127"/>
                <a:ea typeface="고양덕양 B" pitchFamily="2" charset="-127"/>
              </a:defRPr>
            </a:lvl1pPr>
            <a:lvl2pPr marL="685800" indent="-228600">
              <a:buFont typeface="Gill Sans MT" panose="020B0502020104020203" pitchFamily="34" charset="0"/>
              <a:buChar char="–"/>
              <a:defRPr>
                <a:latin typeface="고양덕양 B" pitchFamily="2" charset="-127"/>
                <a:ea typeface="고양덕양 B" pitchFamily="2" charset="-127"/>
              </a:defRPr>
            </a:lvl2pPr>
            <a:lvl3pPr>
              <a:defRPr>
                <a:latin typeface="고양덕양 B" pitchFamily="2" charset="-127"/>
                <a:ea typeface="고양덕양 B" pitchFamily="2" charset="-127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7583B1C-0A43-4C46-B983-505CCAE49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rgbClr val="9BBB5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569" b="49216"/>
          <a:stretch/>
        </p:blipFill>
        <p:spPr>
          <a:xfrm>
            <a:off x="1" y="0"/>
            <a:ext cx="12191999" cy="60033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38B28A-97DF-C745-8816-C1FDE713462C}"/>
              </a:ext>
            </a:extLst>
          </p:cNvPr>
          <p:cNvSpPr/>
          <p:nvPr userDrawn="1"/>
        </p:nvSpPr>
        <p:spPr>
          <a:xfrm>
            <a:off x="0" y="600331"/>
            <a:ext cx="12192000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100832" y="76524"/>
            <a:ext cx="9994557" cy="676867"/>
          </a:xfrm>
          <a:prstGeom prst="rect">
            <a:avLst/>
          </a:prstGeom>
        </p:spPr>
        <p:txBody>
          <a:bodyPr/>
          <a:lstStyle>
            <a:lvl1pPr>
              <a:defRPr sz="30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25ABE7-A16A-824D-B06C-CEFB4D1FA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0087675">
            <a:off x="269928" y="26353"/>
            <a:ext cx="693503" cy="7811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그룹 23"/>
          <p:cNvGrpSpPr>
            <a:grpSpLocks noChangeAspect="1"/>
          </p:cNvGrpSpPr>
          <p:nvPr userDrawn="1"/>
        </p:nvGrpSpPr>
        <p:grpSpPr>
          <a:xfrm>
            <a:off x="9745900" y="24691"/>
            <a:ext cx="2460615" cy="521919"/>
            <a:chOff x="2261630" y="1618848"/>
            <a:chExt cx="2964595" cy="628818"/>
          </a:xfrm>
        </p:grpSpPr>
        <p:pic>
          <p:nvPicPr>
            <p:cNvPr id="25" name="Picture 45">
              <a:extLst>
                <a:ext uri="{FF2B5EF4-FFF2-40B4-BE49-F238E27FC236}">
                  <a16:creationId xmlns:a16="http://schemas.microsoft.com/office/drawing/2014/main" id="{37AF8506-181C-B54B-8F3B-DF4C2B31D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1630" y="1707006"/>
              <a:ext cx="2821871" cy="54066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355977" y="1618848"/>
              <a:ext cx="870248" cy="333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baseline="0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+Pride </a:t>
              </a:r>
              <a:endParaRPr lang="ko-KR" altLang="en-US" sz="1200" b="1" i="1" baseline="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5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1160-8C05-4B15-8E89-7C1E92CC246B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0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A8B2B-FF3A-6DFF-0D6E-EB1D33D6024A}"/>
              </a:ext>
            </a:extLst>
          </p:cNvPr>
          <p:cNvSpPr txBox="1"/>
          <p:nvPr/>
        </p:nvSpPr>
        <p:spPr>
          <a:xfrm>
            <a:off x="-70314" y="26884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안정동위원소 결합 오염평가 체계 고도화를 위한 국가 수질측정망 적용 연구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BAA1A0-2B58-9134-0C7B-A56268DAA014}"/>
              </a:ext>
            </a:extLst>
          </p:cNvPr>
          <p:cNvSpPr/>
          <p:nvPr/>
        </p:nvSpPr>
        <p:spPr>
          <a:xfrm>
            <a:off x="217283" y="660082"/>
            <a:ext cx="11715184" cy="196460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CBC67B-F2C9-7F6F-AB38-40A23DEC133A}"/>
              </a:ext>
            </a:extLst>
          </p:cNvPr>
          <p:cNvSpPr/>
          <p:nvPr/>
        </p:nvSpPr>
        <p:spPr>
          <a:xfrm>
            <a:off x="217283" y="2768921"/>
            <a:ext cx="11715184" cy="196460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D50C55-FE70-AF70-E22F-C1E450A91CF3}"/>
              </a:ext>
            </a:extLst>
          </p:cNvPr>
          <p:cNvSpPr/>
          <p:nvPr/>
        </p:nvSpPr>
        <p:spPr>
          <a:xfrm>
            <a:off x="217283" y="4837296"/>
            <a:ext cx="11715184" cy="1964602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E41775-57DD-ADCE-F3F2-FAD55DE1F4A5}"/>
              </a:ext>
            </a:extLst>
          </p:cNvPr>
          <p:cNvSpPr/>
          <p:nvPr/>
        </p:nvSpPr>
        <p:spPr>
          <a:xfrm>
            <a:off x="380246" y="805758"/>
            <a:ext cx="1910281" cy="168394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Step 1</a:t>
            </a:r>
          </a:p>
          <a:p>
            <a:pPr algn="ctr"/>
            <a:r>
              <a:rPr lang="ko-KR" altLang="en-US" b="1" dirty="0"/>
              <a:t>모니터링 데이터 확보 및 오염원 라이브러리</a:t>
            </a:r>
            <a:r>
              <a:rPr lang="en-US" altLang="ko-KR" b="1" dirty="0"/>
              <a:t> </a:t>
            </a:r>
            <a:r>
              <a:rPr lang="ko-KR" altLang="en-US" b="1" dirty="0"/>
              <a:t>구축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929BE3-24F8-EB84-BE01-66BA105652C3}"/>
              </a:ext>
            </a:extLst>
          </p:cNvPr>
          <p:cNvSpPr/>
          <p:nvPr/>
        </p:nvSpPr>
        <p:spPr>
          <a:xfrm>
            <a:off x="380245" y="2909249"/>
            <a:ext cx="1910281" cy="168394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Step 2</a:t>
            </a:r>
          </a:p>
          <a:p>
            <a:pPr algn="ctr"/>
            <a:r>
              <a:rPr lang="ko-KR" altLang="en-US" b="1" dirty="0"/>
              <a:t>고도화된 </a:t>
            </a:r>
            <a:endParaRPr lang="en-US" altLang="ko-KR" b="1" dirty="0"/>
          </a:p>
          <a:p>
            <a:pPr algn="ctr"/>
            <a:r>
              <a:rPr lang="ko-KR" altLang="en-US" b="1" dirty="0"/>
              <a:t>통합 오염평가 체계 구축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C863C5-32F7-76FC-E5BB-6B2D749A08BD}"/>
              </a:ext>
            </a:extLst>
          </p:cNvPr>
          <p:cNvSpPr/>
          <p:nvPr/>
        </p:nvSpPr>
        <p:spPr>
          <a:xfrm>
            <a:off x="380244" y="4977624"/>
            <a:ext cx="1910281" cy="168394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Step 3</a:t>
            </a:r>
          </a:p>
          <a:p>
            <a:pPr algn="ctr"/>
            <a:r>
              <a:rPr lang="ko-KR" altLang="en-US" b="1" dirty="0"/>
              <a:t>연구성과 및 </a:t>
            </a:r>
            <a:endParaRPr lang="en-US" altLang="ko-KR" b="1" dirty="0"/>
          </a:p>
          <a:p>
            <a:pPr algn="ctr"/>
            <a:r>
              <a:rPr lang="ko-KR" altLang="en-US" b="1" dirty="0"/>
              <a:t>활용 계획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B86393-A25B-F76F-99BB-2DCE384AF730}"/>
              </a:ext>
            </a:extLst>
          </p:cNvPr>
          <p:cNvSpPr/>
          <p:nvPr/>
        </p:nvSpPr>
        <p:spPr>
          <a:xfrm>
            <a:off x="2480649" y="805757"/>
            <a:ext cx="4544839" cy="16839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C1F059B-6F86-C1A2-CC75-352FBD13FCAC}"/>
              </a:ext>
            </a:extLst>
          </p:cNvPr>
          <p:cNvSpPr/>
          <p:nvPr/>
        </p:nvSpPr>
        <p:spPr>
          <a:xfrm>
            <a:off x="7215610" y="805757"/>
            <a:ext cx="4544839" cy="16839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98813-5AEF-2C82-8EB8-F3A2AC492AAE}"/>
              </a:ext>
            </a:extLst>
          </p:cNvPr>
          <p:cNvSpPr txBox="1"/>
          <p:nvPr/>
        </p:nvSpPr>
        <p:spPr>
          <a:xfrm>
            <a:off x="2491871" y="813127"/>
            <a:ext cx="4522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국가 수질측정망 자료 기반 연구지점 선정 및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수질 및 안정동위원소 </a:t>
            </a:r>
            <a:r>
              <a:rPr lang="ko-KR" altLang="en-US" sz="1600" b="1" dirty="0" err="1"/>
              <a:t>고빈도</a:t>
            </a:r>
            <a:r>
              <a:rPr lang="ko-KR" altLang="en-US" sz="1600" b="1" dirty="0"/>
              <a:t> 모니터링</a:t>
            </a:r>
            <a:r>
              <a:rPr lang="en-US" altLang="ko-KR" sz="1400" b="1" dirty="0"/>
              <a:t>(1</a:t>
            </a:r>
            <a:r>
              <a:rPr lang="ko-KR" altLang="en-US" sz="1400" b="1" dirty="0"/>
              <a:t>회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주</a:t>
            </a:r>
            <a:r>
              <a:rPr lang="en-US" altLang="ko-KR" sz="1400" b="1" dirty="0"/>
              <a:t>)</a:t>
            </a:r>
          </a:p>
          <a:p>
            <a:pPr algn="ctr"/>
            <a:r>
              <a:rPr lang="en-US" altLang="ko-KR" sz="1400" b="1" dirty="0"/>
              <a:t>(Z-score </a:t>
            </a:r>
            <a:r>
              <a:rPr lang="ko-KR" altLang="en-US" sz="1400" b="1" dirty="0"/>
              <a:t>종합지수 기반 우심 지점</a:t>
            </a:r>
            <a:r>
              <a:rPr lang="en-US" altLang="ko-KR" sz="1400" b="1" dirty="0"/>
              <a:t>)</a:t>
            </a: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125B95A0-176A-FDF6-DA30-13DA95431EEA}"/>
              </a:ext>
            </a:extLst>
          </p:cNvPr>
          <p:cNvSpPr/>
          <p:nvPr/>
        </p:nvSpPr>
        <p:spPr>
          <a:xfrm>
            <a:off x="4590107" y="1644124"/>
            <a:ext cx="344032" cy="465333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C38B9-C6F9-F618-810A-B354A30B978E}"/>
              </a:ext>
            </a:extLst>
          </p:cNvPr>
          <p:cNvSpPr txBox="1"/>
          <p:nvPr/>
        </p:nvSpPr>
        <p:spPr>
          <a:xfrm>
            <a:off x="2656178" y="2181925"/>
            <a:ext cx="4193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/>
              <a:t>영산강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섬진강</a:t>
            </a:r>
            <a:r>
              <a:rPr lang="en-US" altLang="ko-KR" sz="1400" b="1" dirty="0"/>
              <a:t>(`26) -&gt; </a:t>
            </a:r>
            <a:r>
              <a:rPr lang="ko-KR" altLang="en-US" sz="1400" b="1" dirty="0"/>
              <a:t>한강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낙동강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금강</a:t>
            </a:r>
            <a:r>
              <a:rPr lang="en-US" altLang="ko-KR" sz="1400" b="1" dirty="0"/>
              <a:t>(`27) </a:t>
            </a:r>
            <a:r>
              <a:rPr lang="ko-KR" altLang="en-US" sz="1400" b="1" dirty="0"/>
              <a:t>확대</a:t>
            </a:r>
            <a:endParaRPr lang="en-US" altLang="ko-KR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DA21B4-7F83-410A-E292-FF57CEFCFB2B}"/>
              </a:ext>
            </a:extLst>
          </p:cNvPr>
          <p:cNvSpPr txBox="1"/>
          <p:nvPr/>
        </p:nvSpPr>
        <p:spPr>
          <a:xfrm>
            <a:off x="7357480" y="813127"/>
            <a:ext cx="42386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선행연구 기반 질소 오염원 라이브러리 검증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(Kendall plot </a:t>
            </a:r>
            <a:r>
              <a:rPr lang="ko-KR" altLang="en-US" sz="1400" b="1" dirty="0"/>
              <a:t>등 검증된 기준 활용</a:t>
            </a:r>
            <a:r>
              <a:rPr lang="en-US" altLang="ko-KR" sz="1400" b="1" dirty="0"/>
              <a:t>)</a:t>
            </a:r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5F6E92D1-C8A1-6136-C8A2-1F0B2CE50057}"/>
              </a:ext>
            </a:extLst>
          </p:cNvPr>
          <p:cNvSpPr/>
          <p:nvPr/>
        </p:nvSpPr>
        <p:spPr>
          <a:xfrm>
            <a:off x="9316013" y="1470898"/>
            <a:ext cx="344032" cy="465333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192BC-0E3D-C496-4EC5-0B939EFECD2B}"/>
              </a:ext>
            </a:extLst>
          </p:cNvPr>
          <p:cNvSpPr txBox="1"/>
          <p:nvPr/>
        </p:nvSpPr>
        <p:spPr>
          <a:xfrm>
            <a:off x="8573054" y="2109457"/>
            <a:ext cx="1925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/>
              <a:t>오염원별 대푯값 선정</a:t>
            </a:r>
            <a:endParaRPr lang="en-US" altLang="ko-KR" sz="1400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CC6A4AE-2C1F-3DDE-48E1-600B26DB8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973" y="1613934"/>
            <a:ext cx="843232" cy="61555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DFB0EC0-2C6C-4A3F-B984-4564D9E8F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352" y="1579257"/>
            <a:ext cx="661234" cy="63406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8B2F5BB-2E77-78E7-CAF4-38DAA7D4D3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916" y="1390580"/>
            <a:ext cx="1133633" cy="69542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153D532-DD29-02DC-D859-008174FB4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167" y="1386849"/>
            <a:ext cx="600159" cy="74305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099F18F-B2CB-FB58-7947-646B26B6B61B}"/>
              </a:ext>
            </a:extLst>
          </p:cNvPr>
          <p:cNvSpPr txBox="1"/>
          <p:nvPr/>
        </p:nvSpPr>
        <p:spPr>
          <a:xfrm>
            <a:off x="4393997" y="2768921"/>
            <a:ext cx="4911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주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회 </a:t>
            </a:r>
            <a:r>
              <a:rPr lang="ko-KR" altLang="en-US" sz="1600" b="1" dirty="0" err="1"/>
              <a:t>고빈도</a:t>
            </a:r>
            <a:r>
              <a:rPr lang="ko-KR" altLang="en-US" sz="1600" b="1" dirty="0"/>
              <a:t> 질산염 안정동위원소비 분석 및 결합</a:t>
            </a:r>
            <a:endParaRPr lang="en-US" altLang="ko-KR" sz="1600" b="1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BF9ACCF-7535-9EB7-8A4A-D18EF446DB82}"/>
              </a:ext>
            </a:extLst>
          </p:cNvPr>
          <p:cNvSpPr/>
          <p:nvPr/>
        </p:nvSpPr>
        <p:spPr>
          <a:xfrm>
            <a:off x="2491871" y="3146514"/>
            <a:ext cx="4544839" cy="148571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99C35B0-AB30-1548-C1E3-3B80A36249FD}"/>
              </a:ext>
            </a:extLst>
          </p:cNvPr>
          <p:cNvSpPr/>
          <p:nvPr/>
        </p:nvSpPr>
        <p:spPr>
          <a:xfrm>
            <a:off x="7215610" y="3146513"/>
            <a:ext cx="4544839" cy="148571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3181F70-6B94-90E9-CCC9-440FC91C03D2}"/>
              </a:ext>
            </a:extLst>
          </p:cNvPr>
          <p:cNvSpPr/>
          <p:nvPr/>
        </p:nvSpPr>
        <p:spPr>
          <a:xfrm>
            <a:off x="2860895" y="3190569"/>
            <a:ext cx="3657600" cy="3259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정성적 오염원 판별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431FFF-3E28-7C21-82D1-E1AC0C639CF7}"/>
              </a:ext>
            </a:extLst>
          </p:cNvPr>
          <p:cNvSpPr/>
          <p:nvPr/>
        </p:nvSpPr>
        <p:spPr>
          <a:xfrm>
            <a:off x="7648010" y="3184330"/>
            <a:ext cx="3657600" cy="3259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정량적 오염원 기여율 산정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A15B4E-91DF-8914-088C-00BAB77216AA}"/>
              </a:ext>
            </a:extLst>
          </p:cNvPr>
          <p:cNvSpPr txBox="1"/>
          <p:nvPr/>
        </p:nvSpPr>
        <p:spPr>
          <a:xfrm>
            <a:off x="3568490" y="3570051"/>
            <a:ext cx="2242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Kendall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plot</a:t>
            </a:r>
            <a:r>
              <a:rPr lang="ko-KR" altLang="en-US" sz="1400" b="1" dirty="0"/>
              <a:t>의 한계 극복</a:t>
            </a:r>
            <a:endParaRPr lang="en-US" altLang="ko-KR" sz="1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D1ACE1-0CDF-D970-BAC8-AD88C4041838}"/>
              </a:ext>
            </a:extLst>
          </p:cNvPr>
          <p:cNvSpPr txBox="1"/>
          <p:nvPr/>
        </p:nvSpPr>
        <p:spPr>
          <a:xfrm>
            <a:off x="3134112" y="3901535"/>
            <a:ext cx="32560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AI </a:t>
            </a:r>
            <a:r>
              <a:rPr lang="ko-KR" altLang="en-US" sz="1600" b="1" dirty="0"/>
              <a:t>기반 오염원 판별 시스템 구축</a:t>
            </a:r>
            <a:endParaRPr lang="en-US" altLang="ko-KR" sz="1600" b="1" dirty="0"/>
          </a:p>
          <a:p>
            <a:pPr algn="ctr"/>
            <a:r>
              <a:rPr lang="en-US" altLang="ko-KR" sz="1400" b="1" dirty="0"/>
              <a:t>(</a:t>
            </a:r>
            <a:r>
              <a:rPr lang="ko-KR" altLang="en-US" sz="1400" b="1" dirty="0"/>
              <a:t>검증된 문헌지식 또는 실측자료 학습</a:t>
            </a:r>
            <a:r>
              <a:rPr lang="en-US" altLang="ko-KR" sz="1400" b="1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CB2388-BF65-921D-C92B-008C490D299D}"/>
              </a:ext>
            </a:extLst>
          </p:cNvPr>
          <p:cNvSpPr txBox="1"/>
          <p:nvPr/>
        </p:nvSpPr>
        <p:spPr>
          <a:xfrm>
            <a:off x="7124266" y="3654490"/>
            <a:ext cx="19053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현장 </a:t>
            </a:r>
            <a:r>
              <a:rPr lang="en-US" altLang="ko-KR" sz="1400" b="1" dirty="0"/>
              <a:t>EMMTE </a:t>
            </a:r>
            <a:r>
              <a:rPr lang="ko-KR" altLang="en-US" sz="1400" b="1" dirty="0"/>
              <a:t>모델</a:t>
            </a:r>
            <a:endParaRPr lang="en-US" altLang="ko-KR" sz="1400" b="1" dirty="0"/>
          </a:p>
          <a:p>
            <a:pPr algn="ctr"/>
            <a:r>
              <a:rPr lang="en-US" altLang="ko-KR" sz="1200" b="1" dirty="0"/>
              <a:t>(Excel </a:t>
            </a:r>
            <a:r>
              <a:rPr lang="ko-KR" altLang="en-US" sz="1200" b="1" dirty="0"/>
              <a:t>기반</a:t>
            </a:r>
            <a:r>
              <a:rPr lang="en-US" altLang="ko-KR" sz="1200" b="1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AB747-E1A4-EC34-09E8-BC85D0BD179F}"/>
              </a:ext>
            </a:extLst>
          </p:cNvPr>
          <p:cNvSpPr txBox="1"/>
          <p:nvPr/>
        </p:nvSpPr>
        <p:spPr>
          <a:xfrm>
            <a:off x="9855096" y="3654490"/>
            <a:ext cx="19053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범용 </a:t>
            </a:r>
            <a:r>
              <a:rPr lang="en-US" altLang="ko-KR" sz="1400" b="1" dirty="0" err="1"/>
              <a:t>MixSIAR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모델</a:t>
            </a:r>
            <a:endParaRPr lang="en-US" altLang="ko-KR" sz="1400" b="1" dirty="0"/>
          </a:p>
          <a:p>
            <a:pPr algn="ctr"/>
            <a:r>
              <a:rPr lang="en-US" altLang="ko-KR" sz="1200" b="1" dirty="0"/>
              <a:t>(R language </a:t>
            </a:r>
            <a:r>
              <a:rPr lang="ko-KR" altLang="en-US" sz="1200" b="1" dirty="0"/>
              <a:t>기반</a:t>
            </a:r>
            <a:r>
              <a:rPr lang="en-US" altLang="ko-KR" sz="1200" b="1" dirty="0"/>
              <a:t>)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F696954-B01A-129E-9F80-3463795C10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260" y="2786554"/>
            <a:ext cx="266737" cy="32865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22B9D3A-102E-0E8F-CF5A-47908F25D0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755" y="2808168"/>
            <a:ext cx="670618" cy="324493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14CD636-E983-B4D9-3969-E139DF6B86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052" y="3610338"/>
            <a:ext cx="609685" cy="85737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508869F3-B808-6592-2EDE-A020CCD400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12" y="3601622"/>
            <a:ext cx="552527" cy="847843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71BC1405-06FF-D9E3-2F3A-BC4B215026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073" y="4147614"/>
            <a:ext cx="447737" cy="40963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0A12EEC-98A9-A7AF-64B7-E0599AC8C5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666" y="4140188"/>
            <a:ext cx="438211" cy="400106"/>
          </a:xfrm>
          <a:prstGeom prst="rect">
            <a:avLst/>
          </a:prstGeom>
        </p:spPr>
      </p:pic>
      <p:sp>
        <p:nvSpPr>
          <p:cNvPr id="58" name="화살표: 왼쪽/오른쪽 57">
            <a:extLst>
              <a:ext uri="{FF2B5EF4-FFF2-40B4-BE49-F238E27FC236}">
                <a16:creationId xmlns:a16="http://schemas.microsoft.com/office/drawing/2014/main" id="{19CE8251-37B2-556C-BEB8-347A72E853D9}"/>
              </a:ext>
            </a:extLst>
          </p:cNvPr>
          <p:cNvSpPr/>
          <p:nvPr/>
        </p:nvSpPr>
        <p:spPr>
          <a:xfrm>
            <a:off x="8669615" y="3816223"/>
            <a:ext cx="1437399" cy="689124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교차 검증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274EBDA-7BA5-509B-FE14-C465DE51166A}"/>
              </a:ext>
            </a:extLst>
          </p:cNvPr>
          <p:cNvSpPr/>
          <p:nvPr/>
        </p:nvSpPr>
        <p:spPr>
          <a:xfrm>
            <a:off x="2489702" y="5002294"/>
            <a:ext cx="4544839" cy="16592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6EACBC7-45FD-AE08-A61B-7E6B56AF51E4}"/>
              </a:ext>
            </a:extLst>
          </p:cNvPr>
          <p:cNvSpPr/>
          <p:nvPr/>
        </p:nvSpPr>
        <p:spPr>
          <a:xfrm>
            <a:off x="7233718" y="5007074"/>
            <a:ext cx="4544839" cy="16592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5888E0-6D0F-11F1-0135-F16DCC54D593}"/>
              </a:ext>
            </a:extLst>
          </p:cNvPr>
          <p:cNvSpPr txBox="1"/>
          <p:nvPr/>
        </p:nvSpPr>
        <p:spPr>
          <a:xfrm>
            <a:off x="2556052" y="5033436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★ 기술적 측면</a:t>
            </a:r>
            <a:endParaRPr lang="en-US" altLang="ko-KR" sz="16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4C0E20-4FCA-B299-B0BC-9D417D49A3CB}"/>
              </a:ext>
            </a:extLst>
          </p:cNvPr>
          <p:cNvSpPr txBox="1"/>
          <p:nvPr/>
        </p:nvSpPr>
        <p:spPr>
          <a:xfrm>
            <a:off x="7296920" y="5033436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/>
              <a:t>★ 정책적 측면</a:t>
            </a:r>
            <a:endParaRPr lang="en-US" altLang="ko-KR" sz="16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245E29-164C-C6F5-4780-D4E61AC74B5B}"/>
              </a:ext>
            </a:extLst>
          </p:cNvPr>
          <p:cNvSpPr txBox="1"/>
          <p:nvPr/>
        </p:nvSpPr>
        <p:spPr>
          <a:xfrm>
            <a:off x="2602594" y="5462599"/>
            <a:ext cx="31825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질소 오염원 기원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축산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생활하수 등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및 기원변형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탈질작용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내생부하 등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정밀 진단 기술 확보</a:t>
            </a:r>
            <a:endParaRPr lang="en-US" altLang="ko-KR" sz="1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5BBF47-B3D9-0CA4-331B-054CFA8BF131}"/>
              </a:ext>
            </a:extLst>
          </p:cNvPr>
          <p:cNvSpPr txBox="1"/>
          <p:nvPr/>
        </p:nvSpPr>
        <p:spPr>
          <a:xfrm>
            <a:off x="7025488" y="5462599"/>
            <a:ext cx="3944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신뢰성 확보된 오염원 추적 결과 및 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오염원별 기여율 산정 결과 제공</a:t>
            </a:r>
            <a:endParaRPr lang="en-US" altLang="ko-KR" sz="1400" b="1" dirty="0"/>
          </a:p>
          <a:p>
            <a:pPr algn="ctr"/>
            <a:r>
              <a:rPr lang="en-US" altLang="ko-KR" sz="1200" b="1" dirty="0"/>
              <a:t>-&gt; </a:t>
            </a:r>
            <a:r>
              <a:rPr lang="ko-KR" altLang="en-US" sz="1200" b="1" dirty="0"/>
              <a:t>유역 맞춤형 저감 대책 수립의 과학적 근거</a:t>
            </a:r>
            <a:endParaRPr lang="en-US" altLang="ko-KR" sz="1200" b="1" dirty="0"/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2F248964-2CBD-A295-9BB9-3C1D2D6B91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11" y="5345653"/>
            <a:ext cx="952633" cy="924054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879DF4D0-7F6E-03BD-95BA-BAE351121F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789" y="5275450"/>
            <a:ext cx="724001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4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005744" y="26788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연구과제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세밀 </a:t>
            </a:r>
            <a:r>
              <a:rPr lang="ko-KR" altLang="en-US" sz="2600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흐름도</a:t>
            </a:r>
            <a:r>
              <a:rPr lang="en-US" altLang="ko-KR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68442" y="826723"/>
            <a:ext cx="11839074" cy="16301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502092" y="665052"/>
            <a:ext cx="4186990" cy="33932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Phase1: </a:t>
            </a:r>
            <a:r>
              <a:rPr lang="ko-KR" altLang="en-US" b="1"/>
              <a:t>문제점 제시</a:t>
            </a:r>
            <a:r>
              <a:rPr lang="en-US" altLang="ko-KR" b="1"/>
              <a:t>(</a:t>
            </a:r>
            <a:r>
              <a:rPr lang="ko-KR" altLang="en-US" b="1"/>
              <a:t>연구의 필요성</a:t>
            </a:r>
            <a:r>
              <a:rPr lang="en-US" altLang="ko-KR" b="1"/>
              <a:t>)</a:t>
            </a:r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1033182" y="1038071"/>
            <a:ext cx="4935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기후</a:t>
            </a:r>
            <a:r>
              <a:rPr lang="en-US" altLang="ko-KR" sz="1600" b="1"/>
              <a:t>/</a:t>
            </a:r>
            <a:r>
              <a:rPr lang="ko-KR" altLang="en-US" sz="1600" b="1"/>
              <a:t>토지이용 변화에 따른 비점오염원 특성 복잡화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1101" y="1407907"/>
            <a:ext cx="3853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 농도 중심 평가</a:t>
            </a:r>
            <a:r>
              <a:rPr lang="en-US" altLang="ko-KR" sz="1400" b="1" dirty="0"/>
              <a:t>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정밀한 </a:t>
            </a:r>
            <a:r>
              <a:rPr lang="ko-KR" altLang="en-US" sz="1400" b="1" dirty="0"/>
              <a:t>오염원 기원 및 기여도 규명에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2328" y="1918150"/>
            <a:ext cx="3252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질소</a:t>
            </a:r>
            <a:r>
              <a:rPr lang="en-US" altLang="ko-KR" sz="1400" b="1"/>
              <a:t>(</a:t>
            </a:r>
            <a:r>
              <a:rPr lang="ko-KR" altLang="en-US" sz="1400" b="1"/>
              <a:t>담수 부영양화 </a:t>
            </a:r>
            <a:r>
              <a:rPr lang="en-US" altLang="ko-KR" sz="1400" b="1"/>
              <a:t>&amp; </a:t>
            </a:r>
            <a:r>
              <a:rPr lang="ko-KR" altLang="en-US" sz="1400" b="1"/>
              <a:t>조류 발생</a:t>
            </a:r>
            <a:r>
              <a:rPr lang="en-US" altLang="ko-KR" sz="1400" b="1"/>
              <a:t>): </a:t>
            </a:r>
          </a:p>
          <a:p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/>
              <a:t>관련 오염원 정량적 평가 체계 미흡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25" y="1336512"/>
            <a:ext cx="619570" cy="6530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2896" y="994630"/>
            <a:ext cx="4926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과학적이고 선진화된 통합 오염평가 체계 구축 필요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851" y="1348754"/>
            <a:ext cx="2933798" cy="8274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79378" y="2124230"/>
            <a:ext cx="1013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수질측정망</a:t>
            </a:r>
            <a:endParaRPr lang="en-US" altLang="ko-KR" sz="1200" b="1"/>
          </a:p>
        </p:txBody>
      </p:sp>
      <p:sp>
        <p:nvSpPr>
          <p:cNvPr id="16" name="TextBox 15"/>
          <p:cNvSpPr txBox="1"/>
          <p:nvPr/>
        </p:nvSpPr>
        <p:spPr>
          <a:xfrm>
            <a:off x="8502574" y="2125964"/>
            <a:ext cx="1168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안정동위원소</a:t>
            </a:r>
            <a:endParaRPr lang="en-US" altLang="ko-KR" sz="1200" b="1"/>
          </a:p>
        </p:txBody>
      </p:sp>
      <p:sp>
        <p:nvSpPr>
          <p:cNvPr id="17" name="TextBox 16"/>
          <p:cNvSpPr txBox="1"/>
          <p:nvPr/>
        </p:nvSpPr>
        <p:spPr>
          <a:xfrm>
            <a:off x="9762292" y="2124278"/>
            <a:ext cx="896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인공지능</a:t>
            </a:r>
            <a:endParaRPr lang="en-US" altLang="ko-KR" sz="1200" b="1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06" y="1466827"/>
            <a:ext cx="792364" cy="39827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55" y="2022926"/>
            <a:ext cx="790419" cy="369355"/>
          </a:xfrm>
          <a:prstGeom prst="rect">
            <a:avLst/>
          </a:prstGeom>
        </p:spPr>
      </p:pic>
      <p:sp>
        <p:nvSpPr>
          <p:cNvPr id="20" name="모서리가 둥근 직사각형 19"/>
          <p:cNvSpPr/>
          <p:nvPr/>
        </p:nvSpPr>
        <p:spPr>
          <a:xfrm>
            <a:off x="168442" y="2671057"/>
            <a:ext cx="11839074" cy="185395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502091" y="2516960"/>
            <a:ext cx="5962945" cy="34169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Phase2: </a:t>
            </a:r>
            <a:r>
              <a:rPr lang="ko-KR" altLang="en-US" b="1" dirty="0"/>
              <a:t>문제점 해결방안</a:t>
            </a:r>
            <a:r>
              <a:rPr lang="en-US" altLang="ko-KR" b="1" dirty="0"/>
              <a:t>(</a:t>
            </a:r>
            <a:r>
              <a:rPr lang="ko-KR" altLang="en-US" b="1" dirty="0"/>
              <a:t>방법론 도입 및 고도화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54" y="3028734"/>
            <a:ext cx="1302281" cy="80874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009" y="3010685"/>
            <a:ext cx="1026766" cy="7160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5813" y="3827643"/>
            <a:ext cx="213333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/>
              <a:t>고빈도</a:t>
            </a:r>
            <a:r>
              <a:rPr lang="ko-KR" altLang="en-US" sz="1200" b="1" dirty="0"/>
              <a:t> 수질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측정망</a:t>
            </a:r>
            <a:r>
              <a:rPr lang="ko-KR" altLang="en-US" sz="1200" b="1" dirty="0"/>
              <a:t> 연계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및</a:t>
            </a:r>
            <a:endParaRPr lang="en-US" altLang="ko-KR" sz="1200" b="1" dirty="0"/>
          </a:p>
          <a:p>
            <a:pPr algn="ctr"/>
            <a:r>
              <a:rPr lang="ko-KR" altLang="en-US" sz="1200" b="1" smtClean="0"/>
              <a:t>안정동위원소 </a:t>
            </a:r>
            <a:r>
              <a:rPr lang="ko-KR" altLang="en-US" sz="1200" b="1" dirty="0"/>
              <a:t>모니터링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(1</a:t>
            </a:r>
            <a:r>
              <a:rPr lang="ko-KR" altLang="en-US" sz="1000" b="1" dirty="0"/>
              <a:t>회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563" y="3060735"/>
            <a:ext cx="808581" cy="7971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916894" y="3915035"/>
            <a:ext cx="214037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기존 </a:t>
            </a:r>
            <a:r>
              <a:rPr lang="en-US" altLang="ko-KR" sz="1200" b="1" dirty="0"/>
              <a:t>Kendall plot </a:t>
            </a:r>
            <a:r>
              <a:rPr lang="ko-KR" altLang="en-US" sz="1200" b="1" dirty="0"/>
              <a:t>등 </a:t>
            </a:r>
            <a:r>
              <a:rPr lang="ko-KR" altLang="en-US" sz="1200" b="1"/>
              <a:t>방법의 </a:t>
            </a:r>
            <a:r>
              <a:rPr lang="ko-KR" altLang="en-US" sz="1200" b="1" smtClean="0"/>
              <a:t>한계점 보완</a:t>
            </a:r>
            <a:endParaRPr lang="en-US" altLang="ko-KR" sz="1200" b="1" dirty="0"/>
          </a:p>
          <a:p>
            <a:pPr algn="ctr"/>
            <a:r>
              <a:rPr lang="en-US" altLang="ko-KR" sz="1100" b="1" dirty="0"/>
              <a:t>(</a:t>
            </a:r>
            <a:r>
              <a:rPr lang="ko-KR" altLang="en-US" sz="1100" b="1" dirty="0"/>
              <a:t>오염원 중첩영역 등</a:t>
            </a:r>
            <a:r>
              <a:rPr lang="en-US" altLang="ko-KR" sz="1100" b="1" dirty="0"/>
              <a:t>)</a:t>
            </a:r>
          </a:p>
        </p:txBody>
      </p:sp>
      <p:sp>
        <p:nvSpPr>
          <p:cNvPr id="27" name="오른쪽 화살표 26"/>
          <p:cNvSpPr/>
          <p:nvPr/>
        </p:nvSpPr>
        <p:spPr>
          <a:xfrm>
            <a:off x="2994999" y="3400914"/>
            <a:ext cx="251794" cy="185534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27"/>
          <p:cNvSpPr/>
          <p:nvPr/>
        </p:nvSpPr>
        <p:spPr>
          <a:xfrm>
            <a:off x="4846184" y="3459291"/>
            <a:ext cx="593084" cy="202492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아래쪽 화살표 28"/>
          <p:cNvSpPr/>
          <p:nvPr/>
        </p:nvSpPr>
        <p:spPr>
          <a:xfrm rot="16200000">
            <a:off x="6529534" y="1258666"/>
            <a:ext cx="338554" cy="9314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487622" y="2869098"/>
            <a:ext cx="28344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/>
              <a:t>AI </a:t>
            </a:r>
            <a:r>
              <a:rPr lang="ko-KR" altLang="en-US" sz="1400" b="1"/>
              <a:t>기반 오염원 판별 시스템 구축</a:t>
            </a:r>
            <a:endParaRPr lang="en-US" altLang="ko-KR" sz="1400" b="1"/>
          </a:p>
          <a:p>
            <a:pPr algn="ctr"/>
            <a:r>
              <a:rPr lang="en-US" altLang="ko-KR" sz="1200" b="1"/>
              <a:t>(ML/AI </a:t>
            </a:r>
            <a:r>
              <a:rPr lang="ko-KR" altLang="en-US" sz="1200" b="1"/>
              <a:t>지능형 방법론 추가 도입</a:t>
            </a:r>
            <a:r>
              <a:rPr lang="en-US" altLang="ko-KR" sz="1200" b="1"/>
              <a:t>)</a:t>
            </a: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482" y="3384339"/>
            <a:ext cx="627139" cy="536903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715" y="3408331"/>
            <a:ext cx="459077" cy="440466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79" y="3403333"/>
            <a:ext cx="479888" cy="425217"/>
          </a:xfrm>
          <a:prstGeom prst="rect">
            <a:avLst/>
          </a:prstGeom>
        </p:spPr>
      </p:pic>
      <p:cxnSp>
        <p:nvCxnSpPr>
          <p:cNvPr id="45" name="구부러진 연결선 44"/>
          <p:cNvCxnSpPr>
            <a:stCxn id="43" idx="2"/>
            <a:endCxn id="42" idx="2"/>
          </p:cNvCxnSpPr>
          <p:nvPr/>
        </p:nvCxnSpPr>
        <p:spPr>
          <a:xfrm rot="16200000" flipH="1">
            <a:off x="6753431" y="3073620"/>
            <a:ext cx="72445" cy="1622798"/>
          </a:xfrm>
          <a:prstGeom prst="curvedConnector3">
            <a:avLst>
              <a:gd name="adj1" fmla="val 41555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구부러진 연결선 45"/>
          <p:cNvCxnSpPr>
            <a:stCxn id="44" idx="2"/>
            <a:endCxn id="42" idx="2"/>
          </p:cNvCxnSpPr>
          <p:nvPr/>
        </p:nvCxnSpPr>
        <p:spPr>
          <a:xfrm rot="16200000" flipH="1">
            <a:off x="7110441" y="3430631"/>
            <a:ext cx="92692" cy="888529"/>
          </a:xfrm>
          <a:prstGeom prst="curvedConnector3">
            <a:avLst>
              <a:gd name="adj1" fmla="val 346623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55252" y="4013788"/>
            <a:ext cx="949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학습용 문헌</a:t>
            </a:r>
            <a:endParaRPr lang="en-US" altLang="ko-KR" sz="1100" b="1"/>
          </a:p>
        </p:txBody>
      </p:sp>
      <p:sp>
        <p:nvSpPr>
          <p:cNvPr id="48" name="TextBox 47"/>
          <p:cNvSpPr txBox="1"/>
          <p:nvPr/>
        </p:nvSpPr>
        <p:spPr>
          <a:xfrm>
            <a:off x="7002353" y="4099764"/>
            <a:ext cx="1192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오염원 평가 및 </a:t>
            </a:r>
            <a:endParaRPr lang="en-US" altLang="ko-KR" sz="1100" b="1" smtClean="0"/>
          </a:p>
          <a:p>
            <a:pPr algn="ctr"/>
            <a:r>
              <a:rPr lang="ko-KR" altLang="en-US" sz="1100" b="1" smtClean="0"/>
              <a:t>결과 </a:t>
            </a:r>
            <a:r>
              <a:rPr lang="ko-KR" altLang="en-US" sz="1100" b="1"/>
              <a:t>검토</a:t>
            </a:r>
            <a:endParaRPr lang="en-US" altLang="ko-KR" sz="1100" b="1"/>
          </a:p>
        </p:txBody>
      </p:sp>
      <p:cxnSp>
        <p:nvCxnSpPr>
          <p:cNvPr id="49" name="직선 화살표 연결선 48"/>
          <p:cNvCxnSpPr>
            <a:stCxn id="42" idx="2"/>
            <a:endCxn id="48" idx="0"/>
          </p:cNvCxnSpPr>
          <p:nvPr/>
        </p:nvCxnSpPr>
        <p:spPr>
          <a:xfrm flipH="1">
            <a:off x="7598381" y="3921242"/>
            <a:ext cx="2671" cy="1785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오른쪽 화살표 66"/>
          <p:cNvSpPr/>
          <p:nvPr/>
        </p:nvSpPr>
        <p:spPr>
          <a:xfrm>
            <a:off x="8214431" y="3461564"/>
            <a:ext cx="814577" cy="29383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8861360" y="2772826"/>
            <a:ext cx="2948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/>
              <a:t>구축 지능형 시스템의 신뢰성 확보</a:t>
            </a:r>
            <a:endParaRPr lang="en-US" altLang="ko-KR" sz="1400" b="1"/>
          </a:p>
        </p:txBody>
      </p:sp>
      <p:sp>
        <p:nvSpPr>
          <p:cNvPr id="70" name="TextBox 69"/>
          <p:cNvSpPr txBox="1"/>
          <p:nvPr/>
        </p:nvSpPr>
        <p:spPr>
          <a:xfrm>
            <a:off x="6420856" y="4013788"/>
            <a:ext cx="763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실측자료</a:t>
            </a:r>
            <a:endParaRPr lang="en-US" altLang="ko-KR" sz="1100" b="1"/>
          </a:p>
        </p:txBody>
      </p:sp>
      <p:sp>
        <p:nvSpPr>
          <p:cNvPr id="71" name="TextBox 70"/>
          <p:cNvSpPr txBox="1"/>
          <p:nvPr/>
        </p:nvSpPr>
        <p:spPr>
          <a:xfrm>
            <a:off x="8322052" y="3635291"/>
            <a:ext cx="795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Verify</a:t>
            </a: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884" y="3112098"/>
            <a:ext cx="1735506" cy="91237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775906" y="4012182"/>
            <a:ext cx="307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기검증 연구문헌 데이터 </a:t>
            </a:r>
            <a:r>
              <a:rPr lang="en-US" altLang="ko-KR" sz="1200" b="1"/>
              <a:t>&amp;</a:t>
            </a:r>
          </a:p>
          <a:p>
            <a:pPr algn="ctr"/>
            <a:r>
              <a:rPr lang="ko-KR" altLang="en-US" sz="1200" b="1"/>
              <a:t>오염원인이 명확한 시료 활용 정확도 검증</a:t>
            </a:r>
            <a:endParaRPr lang="en-US" altLang="ko-KR" sz="1200" b="1"/>
          </a:p>
        </p:txBody>
      </p:sp>
      <p:sp>
        <p:nvSpPr>
          <p:cNvPr id="74" name="TextBox 73"/>
          <p:cNvSpPr txBox="1"/>
          <p:nvPr/>
        </p:nvSpPr>
        <p:spPr>
          <a:xfrm>
            <a:off x="4883275" y="3580471"/>
            <a:ext cx="49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보완</a:t>
            </a:r>
            <a:endParaRPr lang="en-US" altLang="ko-KR" sz="1200" b="1"/>
          </a:p>
        </p:txBody>
      </p:sp>
      <p:sp>
        <p:nvSpPr>
          <p:cNvPr id="75" name="모서리가 둥근 직사각형 74"/>
          <p:cNvSpPr/>
          <p:nvPr/>
        </p:nvSpPr>
        <p:spPr>
          <a:xfrm>
            <a:off x="168442" y="4748881"/>
            <a:ext cx="11839074" cy="204385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508368" y="4595403"/>
            <a:ext cx="5862535" cy="35953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Phase3: </a:t>
            </a:r>
            <a:r>
              <a:rPr lang="ko-KR" altLang="en-US" b="1"/>
              <a:t>결론 도출</a:t>
            </a:r>
            <a:r>
              <a:rPr lang="en-US" altLang="ko-KR" b="1"/>
              <a:t>(</a:t>
            </a:r>
            <a:r>
              <a:rPr lang="ko-KR" altLang="en-US" b="1"/>
              <a:t>고도화된 오염평가 체계 마련</a:t>
            </a:r>
            <a:r>
              <a:rPr lang="en-US" altLang="ko-KR" b="1"/>
              <a:t>)</a:t>
            </a:r>
            <a:endParaRPr lang="ko-KR" altLang="en-US" b="1"/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791" y="5189832"/>
            <a:ext cx="969544" cy="1249220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1" y="5281547"/>
            <a:ext cx="2639711" cy="79128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705406" y="5048829"/>
            <a:ext cx="450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/>
              <a:t>‘</a:t>
            </a:r>
            <a:r>
              <a:rPr lang="ko-KR" altLang="en-US" sz="1400" b="1"/>
              <a:t>수질측정망</a:t>
            </a:r>
            <a:r>
              <a:rPr lang="en-US" altLang="ko-KR" sz="1400" b="1"/>
              <a:t>+</a:t>
            </a:r>
            <a:r>
              <a:rPr lang="ko-KR" altLang="en-US" sz="1400" b="1"/>
              <a:t>안정동위원소</a:t>
            </a:r>
            <a:r>
              <a:rPr lang="en-US" altLang="ko-KR" sz="1400" b="1"/>
              <a:t>+</a:t>
            </a:r>
            <a:r>
              <a:rPr lang="ko-KR" altLang="en-US" sz="1400" b="1"/>
              <a:t>인공지능</a:t>
            </a:r>
            <a:r>
              <a:rPr lang="en-US" altLang="ko-KR" sz="1400" b="1"/>
              <a:t>’ </a:t>
            </a:r>
            <a:r>
              <a:rPr lang="ko-KR" altLang="en-US" sz="1400" b="1"/>
              <a:t>결합</a:t>
            </a:r>
            <a:endParaRPr lang="en-US" altLang="ko-KR" sz="1400" b="1"/>
          </a:p>
          <a:p>
            <a:pPr algn="ctr"/>
            <a:r>
              <a:rPr lang="ko-KR" altLang="en-US" sz="1400" b="1"/>
              <a:t>통합 오염평가 체계 마련</a:t>
            </a:r>
            <a:endParaRPr lang="en-US" altLang="ko-KR" sz="1400" b="1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079" y="5628717"/>
            <a:ext cx="746071" cy="686385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345" y="5589948"/>
            <a:ext cx="657782" cy="76741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491307" y="6405573"/>
            <a:ext cx="2973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과학적 질소 오염원 기원 평가 기법 마련</a:t>
            </a:r>
            <a:endParaRPr lang="en-US" altLang="ko-KR" sz="1200" b="1"/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868" y="4954942"/>
            <a:ext cx="932202" cy="759079"/>
          </a:xfrm>
          <a:prstGeom prst="rect">
            <a:avLst/>
          </a:prstGeom>
        </p:spPr>
      </p:pic>
      <p:sp>
        <p:nvSpPr>
          <p:cNvPr id="84" name="아래쪽 화살표 83"/>
          <p:cNvSpPr/>
          <p:nvPr/>
        </p:nvSpPr>
        <p:spPr>
          <a:xfrm rot="15372742">
            <a:off x="7505957" y="5102722"/>
            <a:ext cx="246303" cy="9535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아래쪽 화살표 84"/>
          <p:cNvSpPr/>
          <p:nvPr/>
        </p:nvSpPr>
        <p:spPr>
          <a:xfrm rot="16635174">
            <a:off x="7517993" y="5719013"/>
            <a:ext cx="246303" cy="975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9857831" y="4836913"/>
            <a:ext cx="152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정책입안자 대상</a:t>
            </a:r>
            <a:endParaRPr lang="en-US" altLang="ko-KR" sz="1400" b="1"/>
          </a:p>
        </p:txBody>
      </p:sp>
      <p:sp>
        <p:nvSpPr>
          <p:cNvPr id="87" name="TextBox 86"/>
          <p:cNvSpPr txBox="1"/>
          <p:nvPr/>
        </p:nvSpPr>
        <p:spPr>
          <a:xfrm>
            <a:off x="9248141" y="5206556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/>
              <a:t>질소 오염 저감 관리 방안 결정 관련 </a:t>
            </a:r>
            <a:endParaRPr lang="en-US" altLang="ko-KR" sz="1200" b="1"/>
          </a:p>
          <a:p>
            <a:pPr algn="ctr"/>
            <a:r>
              <a:rPr lang="ko-KR" altLang="en-US" sz="1200" b="1"/>
              <a:t>과학적 자료 제공</a:t>
            </a:r>
            <a:endParaRPr lang="en-US" altLang="ko-KR" sz="1200" b="1"/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991" y="5882271"/>
            <a:ext cx="705725" cy="76263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116572" y="5773841"/>
            <a:ext cx="983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정책 제안</a:t>
            </a:r>
            <a:endParaRPr lang="en-US" altLang="ko-KR" sz="1400" b="1"/>
          </a:p>
        </p:txBody>
      </p:sp>
      <p:sp>
        <p:nvSpPr>
          <p:cNvPr id="90" name="TextBox 89"/>
          <p:cNvSpPr txBox="1"/>
          <p:nvPr/>
        </p:nvSpPr>
        <p:spPr>
          <a:xfrm>
            <a:off x="9588836" y="6122253"/>
            <a:ext cx="2060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과학적 자료 및 체계 기반 </a:t>
            </a:r>
            <a:r>
              <a:rPr lang="ko-KR" altLang="en-US" sz="1200" b="1" smtClean="0"/>
              <a:t>오염 </a:t>
            </a:r>
            <a:r>
              <a:rPr lang="ko-KR" altLang="en-US" sz="1200" b="1"/>
              <a:t>저감 관리 방안 제시</a:t>
            </a:r>
            <a:endParaRPr lang="en-US" altLang="ko-KR" sz="1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05133-7131-C7C4-04D3-1F4E79AA1E0C}"/>
              </a:ext>
            </a:extLst>
          </p:cNvPr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1&gt;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1714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152922" y="26883"/>
            <a:ext cx="100362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정성적</a:t>
            </a:r>
            <a:r>
              <a:rPr lang="en-US" altLang="ko-KR" sz="2600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600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정량적</a:t>
            </a:r>
            <a:r>
              <a:rPr lang="en-US" altLang="ko-KR" sz="2600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질소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</a:t>
            </a:r>
            <a:r>
              <a:rPr lang="ko-KR" altLang="en-US" sz="2600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sz="2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2&gt;</a:t>
            </a:r>
            <a:endParaRPr lang="ko-KR" altLang="en-US" sz="2000" b="1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4142" y="659330"/>
            <a:ext cx="6513831" cy="434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 </a:t>
            </a:r>
            <a:r>
              <a:rPr lang="ko-KR" altLang="en-US" b="1" dirty="0">
                <a:solidFill>
                  <a:schemeClr val="tx1"/>
                </a:solidFill>
              </a:rPr>
              <a:t>연구지점 모니터링 </a:t>
            </a:r>
            <a:r>
              <a:rPr lang="ko-KR" altLang="en-US" b="1">
                <a:solidFill>
                  <a:schemeClr val="tx1"/>
                </a:solidFill>
              </a:rPr>
              <a:t>데이터 </a:t>
            </a:r>
            <a:r>
              <a:rPr lang="ko-KR" altLang="en-US" b="1" smtClean="0">
                <a:solidFill>
                  <a:schemeClr val="tx1"/>
                </a:solidFill>
              </a:rPr>
              <a:t>입력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13" y="675526"/>
            <a:ext cx="974698" cy="40169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31" y="682005"/>
            <a:ext cx="711771" cy="388736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72103" y="1252294"/>
            <a:ext cx="7473705" cy="4418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2. </a:t>
            </a:r>
            <a:r>
              <a:rPr lang="ko-KR" altLang="en-US" b="1" dirty="0">
                <a:solidFill>
                  <a:schemeClr val="tx1"/>
                </a:solidFill>
              </a:rPr>
              <a:t>정성적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811797" y="1242631"/>
            <a:ext cx="4316062" cy="4381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3. </a:t>
            </a:r>
            <a:r>
              <a:rPr lang="ko-KR" altLang="en-US" b="1" dirty="0">
                <a:solidFill>
                  <a:schemeClr val="tx1"/>
                </a:solidFill>
              </a:rPr>
              <a:t>정량적 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42" y="1784631"/>
            <a:ext cx="237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2-1. </a:t>
            </a:r>
            <a:r>
              <a:rPr lang="ko-KR" altLang="en-US" sz="1400" b="1"/>
              <a:t>검증된 </a:t>
            </a:r>
            <a:r>
              <a:rPr lang="ko-KR" altLang="en-US" sz="1400" b="1" smtClean="0"/>
              <a:t>기준 활용 평가</a:t>
            </a:r>
            <a:endParaRPr lang="ko-KR" altLang="en-US" sz="1400" b="1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31" y="2299688"/>
            <a:ext cx="1887581" cy="16628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6752" y="4032841"/>
            <a:ext cx="169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Kendall plot </a:t>
            </a:r>
            <a:r>
              <a:rPr lang="ko-KR" altLang="en-US" sz="1200" b="1" dirty="0"/>
              <a:t>등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325" y="1781259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2-2. </a:t>
            </a:r>
            <a:r>
              <a:rPr lang="ko-KR" altLang="en-US" sz="1400" b="1" dirty="0"/>
              <a:t>문헌지식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6916" y="2136177"/>
            <a:ext cx="35846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</a:t>
            </a:r>
            <a:r>
              <a:rPr lang="ko-KR" altLang="en-US" sz="1200" b="1" dirty="0" err="1"/>
              <a:t>전처리</a:t>
            </a:r>
            <a:r>
              <a:rPr lang="ko-KR" altLang="en-US" sz="1200" b="1" dirty="0"/>
              <a:t> 후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연구지점 군집화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(PAM, DIANA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8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경쟁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982274" y="3053101"/>
            <a:ext cx="36159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국내외 연구문헌 지식 기반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군집 및 개별지점 기준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오염원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결정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(Gemini NLP/LLM </a:t>
            </a:r>
            <a:r>
              <a:rPr lang="ko-KR" altLang="en-US" sz="1000" b="1" dirty="0"/>
              <a:t>기반 자료 학습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536614" y="4130377"/>
            <a:ext cx="29835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ML/AI </a:t>
            </a:r>
            <a:r>
              <a:rPr lang="ko-KR" altLang="en-US" sz="1200" b="1" dirty="0"/>
              <a:t>기반 오염원 판별 임계치 보정 및 패턴분석을 통한 최종 오염원 판별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누락 가능성 높은 핵심 오염 지점 상호보정</a:t>
            </a:r>
            <a:r>
              <a:rPr lang="en-US" altLang="ko-KR" sz="1000" b="1" dirty="0"/>
              <a:t>)</a:t>
            </a:r>
          </a:p>
        </p:txBody>
      </p:sp>
      <p:sp>
        <p:nvSpPr>
          <p:cNvPr id="20" name="아래쪽 화살표 19"/>
          <p:cNvSpPr/>
          <p:nvPr/>
        </p:nvSpPr>
        <p:spPr>
          <a:xfrm>
            <a:off x="3713947" y="2807912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166443" y="4798763"/>
            <a:ext cx="3584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2-3. </a:t>
            </a:r>
            <a:r>
              <a:rPr lang="ko-KR" altLang="en-US" sz="1400" b="1" dirty="0"/>
              <a:t>실측자료 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판별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03" y="5981148"/>
            <a:ext cx="25787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및 학습용 </a:t>
            </a:r>
            <a:r>
              <a:rPr lang="ko-KR" altLang="en-US" sz="1200" b="1"/>
              <a:t>실측자료 </a:t>
            </a:r>
            <a:r>
              <a:rPr lang="ko-KR" altLang="en-US" sz="1200" b="1" smtClean="0"/>
              <a:t>전처리</a:t>
            </a:r>
            <a:r>
              <a:rPr lang="en-US" altLang="ko-KR" sz="1200" b="1" smtClean="0"/>
              <a:t>, </a:t>
            </a:r>
            <a:r>
              <a:rPr lang="en-US" altLang="ko-KR" sz="1200" b="1" smtClean="0"/>
              <a:t>Domain </a:t>
            </a:r>
            <a:r>
              <a:rPr lang="ko-KR" altLang="en-US" sz="1200" b="1" dirty="0"/>
              <a:t>규칙 및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추론 기반 오염원 범주 </a:t>
            </a:r>
            <a:r>
              <a:rPr lang="ko-KR" altLang="en-US" sz="1200" b="1" dirty="0" err="1"/>
              <a:t>라벨링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(Gemma/Gemini API LLM)</a:t>
            </a:r>
            <a:endParaRPr lang="ko-KR" altLang="en-US" sz="1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216290" y="6030236"/>
            <a:ext cx="23038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Hybrid Ensemble Model </a:t>
            </a:r>
            <a:r>
              <a:rPr lang="ko-KR" altLang="en-US" sz="1200" b="1" dirty="0"/>
              <a:t>기반 </a:t>
            </a:r>
            <a:r>
              <a:rPr lang="en-US" altLang="ko-KR" sz="1200" b="1" dirty="0"/>
              <a:t>Soft voting </a:t>
            </a:r>
            <a:r>
              <a:rPr lang="ko-KR" altLang="en-US" sz="1200" b="1" dirty="0"/>
              <a:t>앙상블 학습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en-US" altLang="ko-KR" sz="1000" b="1" dirty="0" err="1"/>
              <a:t>XGBoost</a:t>
            </a:r>
            <a:r>
              <a:rPr lang="en-US" altLang="ko-KR" sz="1000" b="1" dirty="0"/>
              <a:t>, MLP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22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결합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078895" y="6107179"/>
            <a:ext cx="152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연구지점 대상 최종 오염원 판별</a:t>
            </a:r>
            <a:endParaRPr lang="en-US" altLang="ko-KR" sz="1200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161" y="3053101"/>
            <a:ext cx="593680" cy="248266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44" y="5617189"/>
            <a:ext cx="933350" cy="273465"/>
          </a:xfrm>
          <a:prstGeom prst="rect">
            <a:avLst/>
          </a:prstGeom>
        </p:spPr>
      </p:pic>
      <p:sp>
        <p:nvSpPr>
          <p:cNvPr id="32" name="오른쪽 화살표 31"/>
          <p:cNvSpPr/>
          <p:nvPr/>
        </p:nvSpPr>
        <p:spPr>
          <a:xfrm>
            <a:off x="2731539" y="6247293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오른쪽 화살표 32"/>
          <p:cNvSpPr/>
          <p:nvPr/>
        </p:nvSpPr>
        <p:spPr>
          <a:xfrm>
            <a:off x="5711283" y="6246186"/>
            <a:ext cx="356737" cy="13345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455" y="5245554"/>
            <a:ext cx="1562707" cy="681606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44" y="5009967"/>
            <a:ext cx="778919" cy="554485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872" y="5229029"/>
            <a:ext cx="899304" cy="809373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200" y="5172418"/>
            <a:ext cx="837215" cy="60829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555" y="5229029"/>
            <a:ext cx="1014997" cy="723874"/>
          </a:xfrm>
          <a:prstGeom prst="rect">
            <a:avLst/>
          </a:prstGeom>
        </p:spPr>
      </p:pic>
      <p:sp>
        <p:nvSpPr>
          <p:cNvPr id="40" name="모서리가 둥근 직사각형 39"/>
          <p:cNvSpPr/>
          <p:nvPr/>
        </p:nvSpPr>
        <p:spPr>
          <a:xfrm>
            <a:off x="3262965" y="1806928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18649" y="1806928"/>
            <a:ext cx="2264374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2146962" y="4831609"/>
            <a:ext cx="358463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101938" y="1800405"/>
            <a:ext cx="3643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3-1. </a:t>
            </a:r>
            <a:r>
              <a:rPr lang="ko-KR" altLang="en-US" sz="1400" b="1" dirty="0"/>
              <a:t>모델 간 교차 검증을 통한 신뢰성 확보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8185089" y="1818971"/>
            <a:ext cx="3477643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8053080" y="3384763"/>
            <a:ext cx="389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Excel </a:t>
            </a:r>
            <a:r>
              <a:rPr lang="ko-KR" altLang="en-US" sz="1200" b="1" dirty="0"/>
              <a:t>기반의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현장 모델 </a:t>
            </a:r>
            <a:r>
              <a:rPr lang="en-US" altLang="ko-KR" sz="1200" b="1" dirty="0"/>
              <a:t>EMMTE </a:t>
            </a:r>
            <a:r>
              <a:rPr lang="ko-KR" altLang="en-US" sz="1200" b="1" dirty="0"/>
              <a:t>및 </a:t>
            </a:r>
            <a:r>
              <a:rPr lang="en-US" altLang="ko-KR" sz="1200" b="1" dirty="0"/>
              <a:t>R language </a:t>
            </a:r>
            <a:r>
              <a:rPr lang="ko-KR" altLang="en-US" sz="1200" b="1" dirty="0"/>
              <a:t>기반 범용 모델 </a:t>
            </a:r>
            <a:r>
              <a:rPr lang="en-US" altLang="ko-KR" sz="1200" b="1" dirty="0" err="1"/>
              <a:t>MixSIAR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간 교차 검증을 통한 질소 오염원 기여율 산정의 신뢰성 확보</a:t>
            </a:r>
            <a:endParaRPr lang="en-US" altLang="ko-KR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8777578" y="4078682"/>
            <a:ext cx="2316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3-2. </a:t>
            </a:r>
            <a:r>
              <a:rPr lang="ko-KR" altLang="en-US" sz="1400" b="1" dirty="0"/>
              <a:t>오염원별 기여율 산정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837218" y="4110237"/>
            <a:ext cx="217338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29" y="4561344"/>
            <a:ext cx="1764420" cy="175778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118569" y="4456212"/>
            <a:ext cx="1791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err="1"/>
              <a:t>축산계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생활계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농업계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산림계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강우계 등 각 오염원별 기여율 산정 및 평가</a:t>
            </a:r>
            <a:endParaRPr lang="en-US" altLang="ko-KR" sz="1200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727F9B-6A3C-C17E-917D-6F2B35593DCC}"/>
              </a:ext>
            </a:extLst>
          </p:cNvPr>
          <p:cNvSpPr/>
          <p:nvPr/>
        </p:nvSpPr>
        <p:spPr>
          <a:xfrm>
            <a:off x="7318070" y="659327"/>
            <a:ext cx="4809788" cy="4411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4. </a:t>
            </a:r>
            <a:r>
              <a:rPr lang="ko-KR" altLang="en-US" b="1" dirty="0">
                <a:solidFill>
                  <a:schemeClr val="tx1"/>
                </a:solidFill>
              </a:rPr>
              <a:t>연구결과 종합 및 오염평가 체계 고도화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734722-863F-7091-FC1A-6CF1F3E9DA6F}"/>
              </a:ext>
            </a:extLst>
          </p:cNvPr>
          <p:cNvSpPr/>
          <p:nvPr/>
        </p:nvSpPr>
        <p:spPr>
          <a:xfrm>
            <a:off x="72103" y="1759905"/>
            <a:ext cx="2357467" cy="297858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D3A2C5-C434-05A2-4EBB-70530FC6824D}"/>
              </a:ext>
            </a:extLst>
          </p:cNvPr>
          <p:cNvSpPr/>
          <p:nvPr/>
        </p:nvSpPr>
        <p:spPr>
          <a:xfrm>
            <a:off x="2482177" y="1759904"/>
            <a:ext cx="5063631" cy="297858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50A53-28A9-EAF8-6149-40D79B376622}"/>
              </a:ext>
            </a:extLst>
          </p:cNvPr>
          <p:cNvSpPr/>
          <p:nvPr/>
        </p:nvSpPr>
        <p:spPr>
          <a:xfrm>
            <a:off x="72104" y="4769526"/>
            <a:ext cx="7475708" cy="202397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2B04BBE-FDBF-A261-52DA-0F62A6DF06C1}"/>
              </a:ext>
            </a:extLst>
          </p:cNvPr>
          <p:cNvSpPr/>
          <p:nvPr/>
        </p:nvSpPr>
        <p:spPr>
          <a:xfrm>
            <a:off x="7811796" y="1759905"/>
            <a:ext cx="4316062" cy="22711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F880D74-74D0-E8A7-59F8-A6CAF5CC3A08}"/>
              </a:ext>
            </a:extLst>
          </p:cNvPr>
          <p:cNvSpPr/>
          <p:nvPr/>
        </p:nvSpPr>
        <p:spPr>
          <a:xfrm>
            <a:off x="7811796" y="4066548"/>
            <a:ext cx="4316062" cy="272695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799FDC7-BAB7-9701-93D8-A079C44674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752" y="3053101"/>
            <a:ext cx="1413922" cy="498086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E3C1F84C-4B35-1585-FB81-E0AC5C7636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731" y="2239682"/>
            <a:ext cx="784531" cy="464907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F268058-9A64-76AE-1222-E06728BAF3B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483" y="4124764"/>
            <a:ext cx="1007400" cy="55446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3D8FB746-EA16-7D16-B4E0-F076424372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064" y="2217785"/>
            <a:ext cx="1299752" cy="53470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0802F4B-160E-B355-30DE-775E795AE9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67" y="1300835"/>
            <a:ext cx="328792" cy="34892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4A62318B-6183-9A7C-D7F6-86B95F74BB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666" y="2290154"/>
            <a:ext cx="1253849" cy="77563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6B591A04-5680-9D52-D76F-D6D2E71A7B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257" y="2302367"/>
            <a:ext cx="1379112" cy="823636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5542475-3F3C-F639-45F1-91D8BBACC2DB}"/>
              </a:ext>
            </a:extLst>
          </p:cNvPr>
          <p:cNvSpPr txBox="1"/>
          <p:nvPr/>
        </p:nvSpPr>
        <p:spPr>
          <a:xfrm>
            <a:off x="7937412" y="3121959"/>
            <a:ext cx="1380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EMMTE(Excel)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34AC18-29FA-BDEE-34A0-08ABB24907C9}"/>
              </a:ext>
            </a:extLst>
          </p:cNvPr>
          <p:cNvSpPr txBox="1"/>
          <p:nvPr/>
        </p:nvSpPr>
        <p:spPr>
          <a:xfrm>
            <a:off x="10382905" y="3117374"/>
            <a:ext cx="1786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MixSIAR</a:t>
            </a:r>
            <a:r>
              <a:rPr lang="en-US" altLang="ko-KR" sz="1200" b="1" dirty="0"/>
              <a:t>(R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with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JAGS)</a:t>
            </a: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3F9C2EA2-3B05-0941-2CFE-C81F4365BD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243" y="5322662"/>
            <a:ext cx="917651" cy="1328409"/>
          </a:xfrm>
          <a:prstGeom prst="rect">
            <a:avLst/>
          </a:prstGeom>
        </p:spPr>
      </p:pic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1B16CEBB-00EF-DA4A-A20C-ACDAB1A19BA4}"/>
              </a:ext>
            </a:extLst>
          </p:cNvPr>
          <p:cNvSpPr/>
          <p:nvPr/>
        </p:nvSpPr>
        <p:spPr>
          <a:xfrm rot="5400000">
            <a:off x="3268330" y="1112338"/>
            <a:ext cx="310410" cy="1321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B35B0AF8-158F-A215-E8C9-1852BA22D809}"/>
              </a:ext>
            </a:extLst>
          </p:cNvPr>
          <p:cNvSpPr/>
          <p:nvPr/>
        </p:nvSpPr>
        <p:spPr>
          <a:xfrm>
            <a:off x="7507945" y="1400881"/>
            <a:ext cx="341716" cy="1623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ACB529EE-9B1A-2762-B7C1-C0D3EB8A48C3}"/>
              </a:ext>
            </a:extLst>
          </p:cNvPr>
          <p:cNvSpPr/>
          <p:nvPr/>
        </p:nvSpPr>
        <p:spPr>
          <a:xfrm rot="16200000">
            <a:off x="9696756" y="1115208"/>
            <a:ext cx="322878" cy="113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아래쪽 화살표 63"/>
          <p:cNvSpPr/>
          <p:nvPr/>
        </p:nvSpPr>
        <p:spPr>
          <a:xfrm>
            <a:off x="3713947" y="3900332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화살표: 왼쪽/오른쪽 57">
            <a:extLst>
              <a:ext uri="{FF2B5EF4-FFF2-40B4-BE49-F238E27FC236}">
                <a16:creationId xmlns:a16="http://schemas.microsoft.com/office/drawing/2014/main" id="{19CE8251-37B2-556C-BEB8-347A72E853D9}"/>
              </a:ext>
            </a:extLst>
          </p:cNvPr>
          <p:cNvSpPr/>
          <p:nvPr/>
        </p:nvSpPr>
        <p:spPr>
          <a:xfrm>
            <a:off x="9290602" y="2469508"/>
            <a:ext cx="1167168" cy="47250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교차 검증</a:t>
            </a:r>
          </a:p>
        </p:txBody>
      </p:sp>
    </p:spTree>
    <p:extLst>
      <p:ext uri="{BB962C8B-B14F-4D97-AF65-F5344CB8AC3E}">
        <p14:creationId xmlns:p14="http://schemas.microsoft.com/office/powerpoint/2010/main" val="385162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620</Words>
  <Application>Microsoft Office PowerPoint</Application>
  <PresentationFormat>와이드스크린</PresentationFormat>
  <Paragraphs>102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고양덕양 B</vt:lpstr>
      <vt:lpstr>나눔바른고딕</vt:lpstr>
      <vt:lpstr>맑은 고딕</vt:lpstr>
      <vt:lpstr>Arial</vt:lpstr>
      <vt:lpstr>Gill Sans MT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Nier</dc:creator>
  <cp:lastModifiedBy>Nier</cp:lastModifiedBy>
  <cp:revision>124</cp:revision>
  <dcterms:created xsi:type="dcterms:W3CDTF">2026-07-28T04:37:35Z</dcterms:created>
  <dcterms:modified xsi:type="dcterms:W3CDTF">2026-08-04T06:22:12Z</dcterms:modified>
</cp:coreProperties>
</file>