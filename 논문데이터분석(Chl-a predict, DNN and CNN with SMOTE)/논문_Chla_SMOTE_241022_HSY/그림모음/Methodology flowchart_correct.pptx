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20030-27BF-F1E0-662C-63D0EE2B2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F6C3FC-3D91-F73C-921E-ADDA1041E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8AADC7-2B27-4CD9-BD51-14BB8D4F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3BCBD8-C599-C539-B084-7DF55EDF3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6C03F-0BCA-5F71-D42F-0F7BAB51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40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896686-97EC-6257-4010-CE724DE6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FFF162-5FA8-FE39-A49B-D7CE30C37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932C3C-EC41-3453-F6E9-0A52A98E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B407B2-70BA-25F5-1967-AF80D4AD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8BF164-9749-B839-F2BE-D5157C42A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158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4B1B42-0E5D-CFA5-43EC-2D01AD7EC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3868D-932F-B578-8459-796F20777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F4E10-B998-E9AD-D2E7-F6036BED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1D4EC-B8E3-28AA-CE86-8C8751FD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499B53-9691-D92B-0E1B-A0920733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45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0CE410-31EC-E2E1-28DC-5D222A9A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CA8BF0-E017-D7A6-F927-9005B5013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2303AB-9629-8714-E8E1-CF2BCF74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F9A429-B52B-8D3D-CD24-8845CE2B8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2091A3-D1D9-FE29-CFB7-C62F7F746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304B4-55F0-DAD2-FB7D-DE97B055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748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6EB2-555A-5B72-4AC6-6B55F09A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421425-DA07-3120-AF89-C8C6761FE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B32B9B-2237-BD50-3D59-B8C05461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CE9677-9EE9-8E22-8714-F44695426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920A8D-40C3-59D2-CDFB-C3AF3E436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4399A3-BFB0-2B3F-7D26-121455D1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73FC07-F2CE-EB0B-6424-7A4DA4D9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08FF3C-C09D-F0B4-91E9-26E96918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90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5A2DF-4985-3A59-B4B6-885C69371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2E64A6-D262-F83B-CCF0-20D98B6A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3A3A9E-8247-CE90-6D1F-61D327E7C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3273BB-EBF9-1423-DF3F-915258F1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82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3B469C-7A30-84E6-73B3-A0309071F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1B2D40-30FA-7099-1527-A029E253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AB7172-D3AF-2DFA-EE3E-39FABF51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61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DD162-C4A1-2469-FAEC-23828A0D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3B1646-AEB9-6E66-9045-0FFBA988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5E4AD5-941C-CFDF-BD64-59D64677D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C1254C-E83D-0AC9-B86D-FA510E2E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09F81E-0506-ECDD-0380-38E19D85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768131-D16D-79E1-8A98-B0C64B3E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22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DECBB-A002-B8B2-B422-BB259A6D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24A96E-7BC3-7AA5-EC1A-3EDAA84EB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AD19F7-C956-DD43-A286-8F4C23FC5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5B4B50-3B3F-F037-1F7C-1C8F61857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93B073-CD9A-B932-8B2B-B09E6EAB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B3B3DC-6912-7FEE-8D91-AEAE45935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50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9C0A9-C3D0-D32B-6A8A-599CE7DD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075289-32EE-038E-4C04-4FFA22FE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2849B-DD1B-56D3-B936-381548D6F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6CFD78-EBE9-C2E3-57EC-346B11E6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CCD6EE-29CC-3503-D026-07FE3F60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89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F71212-187D-F244-27E2-C1F9D96E8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FB943D-5754-55CB-5B6C-BA10FED65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0928D-D39D-7A99-DA2E-3D8BC07C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7DEC2F-FFDD-D151-ECC0-CA460EA85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F1C535-E1B1-F6AB-BD45-74400D24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30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415A3B-D2C2-EB4B-4047-C4ED455B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9ACA33-DEBD-4FE2-EED9-F1D2302CC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9B3A26-F112-05E1-2FF3-8ACB5FF32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C6A6E-08AE-4C99-8B7C-FA4751955FB5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E4C33-3E75-A445-64E9-73270F7B7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CB970-E9E9-A7BB-70B0-0AB7863B7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83E61-4880-428D-8938-2BE1694D3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90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0B170B-F841-168D-1334-A477E18FC9BF}"/>
              </a:ext>
            </a:extLst>
          </p:cNvPr>
          <p:cNvSpPr/>
          <p:nvPr/>
        </p:nvSpPr>
        <p:spPr>
          <a:xfrm>
            <a:off x="1060845" y="376959"/>
            <a:ext cx="3796938" cy="748937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Data Acquisition</a:t>
            </a:r>
            <a:endParaRPr lang="ko-KR" altLang="en-US" sz="2800" b="1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08334C0-31B2-D5B2-3FF6-87D1E3EFEF90}"/>
              </a:ext>
            </a:extLst>
          </p:cNvPr>
          <p:cNvSpPr/>
          <p:nvPr/>
        </p:nvSpPr>
        <p:spPr>
          <a:xfrm rot="5400000">
            <a:off x="2632742" y="1239864"/>
            <a:ext cx="653143" cy="5182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262029-E6F2-04F0-FDF4-1BAE30E11821}"/>
              </a:ext>
            </a:extLst>
          </p:cNvPr>
          <p:cNvSpPr/>
          <p:nvPr/>
        </p:nvSpPr>
        <p:spPr>
          <a:xfrm>
            <a:off x="1060845" y="3606373"/>
            <a:ext cx="3796938" cy="88827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Model Development</a:t>
            </a:r>
            <a:endParaRPr lang="ko-KR" altLang="en-US" sz="2800" b="1" dirty="0"/>
          </a:p>
        </p:txBody>
      </p:sp>
      <p:sp>
        <p:nvSpPr>
          <p:cNvPr id="30" name="화살표: 아래쪽 29">
            <a:extLst>
              <a:ext uri="{FF2B5EF4-FFF2-40B4-BE49-F238E27FC236}">
                <a16:creationId xmlns:a16="http://schemas.microsoft.com/office/drawing/2014/main" id="{ABAA4E2E-C17B-D99C-3201-4A15C4E05EF8}"/>
              </a:ext>
            </a:extLst>
          </p:cNvPr>
          <p:cNvSpPr/>
          <p:nvPr/>
        </p:nvSpPr>
        <p:spPr>
          <a:xfrm>
            <a:off x="2700189" y="2869595"/>
            <a:ext cx="518247" cy="6539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A4E8D40-3B33-2FE8-B1B9-F482DDCC797B}"/>
              </a:ext>
            </a:extLst>
          </p:cNvPr>
          <p:cNvSpPr/>
          <p:nvPr/>
        </p:nvSpPr>
        <p:spPr>
          <a:xfrm>
            <a:off x="1060845" y="5311535"/>
            <a:ext cx="3796938" cy="74809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Model Evaluation</a:t>
            </a:r>
            <a:endParaRPr lang="ko-KR" altLang="en-US" sz="2800" b="1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2F9CEC3-ECAC-668E-9483-963AEC9C4C49}"/>
              </a:ext>
            </a:extLst>
          </p:cNvPr>
          <p:cNvSpPr/>
          <p:nvPr/>
        </p:nvSpPr>
        <p:spPr>
          <a:xfrm>
            <a:off x="1060845" y="1868109"/>
            <a:ext cx="3796938" cy="88827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/>
              <a:t>Data Analysis &amp; Preprocessing</a:t>
            </a:r>
            <a:endParaRPr lang="ko-KR" altLang="en-US" sz="2800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FF25D6-2CD3-3C28-9395-526953A7BD26}"/>
              </a:ext>
            </a:extLst>
          </p:cNvPr>
          <p:cNvSpPr/>
          <p:nvPr/>
        </p:nvSpPr>
        <p:spPr>
          <a:xfrm>
            <a:off x="96680" y="475161"/>
            <a:ext cx="879566" cy="51908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A8B56F-A472-2984-CCD2-FF2A7491838B}"/>
              </a:ext>
            </a:extLst>
          </p:cNvPr>
          <p:cNvSpPr/>
          <p:nvPr/>
        </p:nvSpPr>
        <p:spPr>
          <a:xfrm>
            <a:off x="96680" y="2052705"/>
            <a:ext cx="879566" cy="51908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FAA2F8-AC22-9492-32A6-5957DFA37D68}"/>
              </a:ext>
            </a:extLst>
          </p:cNvPr>
          <p:cNvSpPr/>
          <p:nvPr/>
        </p:nvSpPr>
        <p:spPr>
          <a:xfrm>
            <a:off x="96679" y="3790969"/>
            <a:ext cx="879566" cy="51908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D4A970-2FBF-B844-0B49-723FC6CD4B0D}"/>
              </a:ext>
            </a:extLst>
          </p:cNvPr>
          <p:cNvSpPr/>
          <p:nvPr/>
        </p:nvSpPr>
        <p:spPr>
          <a:xfrm>
            <a:off x="96679" y="5426733"/>
            <a:ext cx="879566" cy="51908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Step</a:t>
            </a:r>
            <a:r>
              <a:rPr lang="ko-KR" altLang="en-US" b="1" dirty="0">
                <a:solidFill>
                  <a:schemeClr val="tx1"/>
                </a:solidFill>
              </a:rPr>
              <a:t> </a:t>
            </a:r>
            <a:r>
              <a:rPr lang="en-US" altLang="ko-KR" b="1" dirty="0">
                <a:solidFill>
                  <a:schemeClr val="tx1"/>
                </a:solidFill>
              </a:rPr>
              <a:t>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BD8D16F3-3F26-3B31-16D9-6C0F23C12A74}"/>
              </a:ext>
            </a:extLst>
          </p:cNvPr>
          <p:cNvSpPr/>
          <p:nvPr/>
        </p:nvSpPr>
        <p:spPr>
          <a:xfrm>
            <a:off x="2700188" y="4576446"/>
            <a:ext cx="518247" cy="653981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0F9A00-67AE-2ABD-2911-2D0C1ED29DA6}"/>
              </a:ext>
            </a:extLst>
          </p:cNvPr>
          <p:cNvSpPr/>
          <p:nvPr/>
        </p:nvSpPr>
        <p:spPr>
          <a:xfrm>
            <a:off x="4942382" y="194078"/>
            <a:ext cx="7062650" cy="11146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Yeongsan River (SC &amp; JS)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Water Quality &amp; Hydrological Data (2012~2025)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1DC2B1F-8871-B197-4149-ED3A03A592F3}"/>
              </a:ext>
            </a:extLst>
          </p:cNvPr>
          <p:cNvSpPr/>
          <p:nvPr/>
        </p:nvSpPr>
        <p:spPr>
          <a:xfrm>
            <a:off x="4942382" y="1754898"/>
            <a:ext cx="7062651" cy="11146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EDA (Descriptive Statistics, Correlation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Standardization</a:t>
            </a:r>
            <a:r>
              <a:rPr lang="en-US" altLang="ko-KR" dirty="0">
                <a:solidFill>
                  <a:schemeClr val="tx1"/>
                </a:solidFill>
              </a:rPr>
              <a:t> (for DNN, CNN) vs </a:t>
            </a:r>
            <a:r>
              <a:rPr lang="en-US" altLang="ko-KR" b="1" dirty="0">
                <a:solidFill>
                  <a:schemeClr val="tx1"/>
                </a:solidFill>
              </a:rPr>
              <a:t>Raw Data </a:t>
            </a:r>
            <a:r>
              <a:rPr lang="en-US" altLang="ko-KR" dirty="0">
                <a:solidFill>
                  <a:schemeClr val="tx1"/>
                </a:solidFill>
              </a:rPr>
              <a:t>(for RNN, LSTM)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6D50356-8B27-A73E-B8FD-DCE127380248}"/>
              </a:ext>
            </a:extLst>
          </p:cNvPr>
          <p:cNvSpPr/>
          <p:nvPr/>
        </p:nvSpPr>
        <p:spPr>
          <a:xfrm>
            <a:off x="4942382" y="3493161"/>
            <a:ext cx="7062650" cy="11146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Branch A</a:t>
            </a:r>
            <a:r>
              <a:rPr lang="en-US" altLang="ko-KR" dirty="0">
                <a:solidFill>
                  <a:schemeClr val="tx1"/>
                </a:solidFill>
              </a:rPr>
              <a:t> : Original DNN &amp; 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Branch B </a:t>
            </a:r>
            <a:r>
              <a:rPr lang="en-US" altLang="ko-KR" dirty="0">
                <a:solidFill>
                  <a:schemeClr val="tx1"/>
                </a:solidFill>
              </a:rPr>
              <a:t>: DNN &amp; CNN + Sampling Techniques (SMOTE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tx1"/>
                </a:solidFill>
              </a:rPr>
              <a:t>Branch C</a:t>
            </a:r>
            <a:r>
              <a:rPr lang="en-US" altLang="ko-KR" dirty="0">
                <a:solidFill>
                  <a:schemeClr val="tx1"/>
                </a:solidFill>
              </a:rPr>
              <a:t> : RNN &amp; LSTM (Time-series)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1BE9762-754E-A678-6AF4-7564167533F2}"/>
              </a:ext>
            </a:extLst>
          </p:cNvPr>
          <p:cNvSpPr/>
          <p:nvPr/>
        </p:nvSpPr>
        <p:spPr>
          <a:xfrm>
            <a:off x="4942382" y="5128235"/>
            <a:ext cx="7062650" cy="11146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Performance Comparison (RMSE, MAE, MAPE, NMB, IOA)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Optimal Model Selection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60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102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</cp:revision>
  <dcterms:created xsi:type="dcterms:W3CDTF">2024-02-17T11:28:56Z</dcterms:created>
  <dcterms:modified xsi:type="dcterms:W3CDTF">2026-04-22T12:12:03Z</dcterms:modified>
</cp:coreProperties>
</file>